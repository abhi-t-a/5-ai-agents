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</p:sldIdLst>
  <p:sldSz cx="10693400" cy="7562850"/>
  <p:notesSz cx="10693400" cy="75628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272" y="5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005" y="1237717"/>
            <a:ext cx="9089390" cy="2632992"/>
          </a:xfrm>
        </p:spPr>
        <p:txBody>
          <a:bodyPr anchor="b"/>
          <a:lstStyle>
            <a:lvl1pPr algn="ctr">
              <a:defRPr sz="66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675" y="3972247"/>
            <a:ext cx="8020050" cy="1825938"/>
          </a:xfrm>
        </p:spPr>
        <p:txBody>
          <a:bodyPr/>
          <a:lstStyle>
            <a:lvl1pPr marL="0" indent="0" algn="ctr">
              <a:buNone/>
              <a:defRPr sz="2647"/>
            </a:lvl1pPr>
            <a:lvl2pPr marL="504200" indent="0" algn="ctr">
              <a:buNone/>
              <a:defRPr sz="2206"/>
            </a:lvl2pPr>
            <a:lvl3pPr marL="1008400" indent="0" algn="ctr">
              <a:buNone/>
              <a:defRPr sz="1985"/>
            </a:lvl3pPr>
            <a:lvl4pPr marL="1512600" indent="0" algn="ctr">
              <a:buNone/>
              <a:defRPr sz="1764"/>
            </a:lvl4pPr>
            <a:lvl5pPr marL="2016801" indent="0" algn="ctr">
              <a:buNone/>
              <a:defRPr sz="1764"/>
            </a:lvl5pPr>
            <a:lvl6pPr marL="2521001" indent="0" algn="ctr">
              <a:buNone/>
              <a:defRPr sz="1764"/>
            </a:lvl6pPr>
            <a:lvl7pPr marL="3025201" indent="0" algn="ctr">
              <a:buNone/>
              <a:defRPr sz="1764"/>
            </a:lvl7pPr>
            <a:lvl8pPr marL="3529401" indent="0" algn="ctr">
              <a:buNone/>
              <a:defRPr sz="1764"/>
            </a:lvl8pPr>
            <a:lvl9pPr marL="4033601" indent="0" algn="ctr">
              <a:buNone/>
              <a:defRPr sz="176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308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469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602" y="1885463"/>
            <a:ext cx="9223058" cy="3145935"/>
          </a:xfrm>
        </p:spPr>
        <p:txBody>
          <a:bodyPr anchor="b"/>
          <a:lstStyle>
            <a:lvl1pPr>
              <a:defRPr sz="66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602" y="5061159"/>
            <a:ext cx="9223058" cy="1654373"/>
          </a:xfrm>
        </p:spPr>
        <p:txBody>
          <a:bodyPr/>
          <a:lstStyle>
            <a:lvl1pPr marL="0" indent="0">
              <a:buNone/>
              <a:defRPr sz="2647">
                <a:solidFill>
                  <a:schemeClr val="tx1"/>
                </a:solidFill>
              </a:defRPr>
            </a:lvl1pPr>
            <a:lvl2pPr marL="504200" indent="0">
              <a:buNone/>
              <a:defRPr sz="2206">
                <a:solidFill>
                  <a:schemeClr val="tx1">
                    <a:tint val="75000"/>
                  </a:schemeClr>
                </a:solidFill>
              </a:defRPr>
            </a:lvl2pPr>
            <a:lvl3pPr marL="100840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3pPr>
            <a:lvl4pPr marL="1512600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6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210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52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94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36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9634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171" y="2013259"/>
            <a:ext cx="4544695" cy="4798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3534" y="2013259"/>
            <a:ext cx="4544695" cy="4798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998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564" y="402654"/>
            <a:ext cx="9223058" cy="14618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565" y="1853949"/>
            <a:ext cx="4523809" cy="908592"/>
          </a:xfrm>
        </p:spPr>
        <p:txBody>
          <a:bodyPr anchor="b"/>
          <a:lstStyle>
            <a:lvl1pPr marL="0" indent="0">
              <a:buNone/>
              <a:defRPr sz="2647" b="1"/>
            </a:lvl1pPr>
            <a:lvl2pPr marL="504200" indent="0">
              <a:buNone/>
              <a:defRPr sz="2206" b="1"/>
            </a:lvl2pPr>
            <a:lvl3pPr marL="1008400" indent="0">
              <a:buNone/>
              <a:defRPr sz="1985" b="1"/>
            </a:lvl3pPr>
            <a:lvl4pPr marL="1512600" indent="0">
              <a:buNone/>
              <a:defRPr sz="1764" b="1"/>
            </a:lvl4pPr>
            <a:lvl5pPr marL="2016801" indent="0">
              <a:buNone/>
              <a:defRPr sz="1764" b="1"/>
            </a:lvl5pPr>
            <a:lvl6pPr marL="2521001" indent="0">
              <a:buNone/>
              <a:defRPr sz="1764" b="1"/>
            </a:lvl6pPr>
            <a:lvl7pPr marL="3025201" indent="0">
              <a:buNone/>
              <a:defRPr sz="1764" b="1"/>
            </a:lvl7pPr>
            <a:lvl8pPr marL="3529401" indent="0">
              <a:buNone/>
              <a:defRPr sz="1764" b="1"/>
            </a:lvl8pPr>
            <a:lvl9pPr marL="4033601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565" y="2762541"/>
            <a:ext cx="4523809" cy="4063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3534" y="1853949"/>
            <a:ext cx="4546088" cy="908592"/>
          </a:xfrm>
        </p:spPr>
        <p:txBody>
          <a:bodyPr anchor="b"/>
          <a:lstStyle>
            <a:lvl1pPr marL="0" indent="0">
              <a:buNone/>
              <a:defRPr sz="2647" b="1"/>
            </a:lvl1pPr>
            <a:lvl2pPr marL="504200" indent="0">
              <a:buNone/>
              <a:defRPr sz="2206" b="1"/>
            </a:lvl2pPr>
            <a:lvl3pPr marL="1008400" indent="0">
              <a:buNone/>
              <a:defRPr sz="1985" b="1"/>
            </a:lvl3pPr>
            <a:lvl4pPr marL="1512600" indent="0">
              <a:buNone/>
              <a:defRPr sz="1764" b="1"/>
            </a:lvl4pPr>
            <a:lvl5pPr marL="2016801" indent="0">
              <a:buNone/>
              <a:defRPr sz="1764" b="1"/>
            </a:lvl5pPr>
            <a:lvl6pPr marL="2521001" indent="0">
              <a:buNone/>
              <a:defRPr sz="1764" b="1"/>
            </a:lvl6pPr>
            <a:lvl7pPr marL="3025201" indent="0">
              <a:buNone/>
              <a:defRPr sz="1764" b="1"/>
            </a:lvl7pPr>
            <a:lvl8pPr marL="3529401" indent="0">
              <a:buNone/>
              <a:defRPr sz="1764" b="1"/>
            </a:lvl8pPr>
            <a:lvl9pPr marL="4033601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3534" y="2762541"/>
            <a:ext cx="4546088" cy="4063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957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25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182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564" y="504190"/>
            <a:ext cx="3448900" cy="1764665"/>
          </a:xfrm>
        </p:spPr>
        <p:txBody>
          <a:bodyPr anchor="b"/>
          <a:lstStyle>
            <a:lvl1pPr>
              <a:defRPr sz="35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6088" y="1088912"/>
            <a:ext cx="5413534" cy="5374525"/>
          </a:xfrm>
        </p:spPr>
        <p:txBody>
          <a:bodyPr/>
          <a:lstStyle>
            <a:lvl1pPr>
              <a:defRPr sz="3529"/>
            </a:lvl1pPr>
            <a:lvl2pPr>
              <a:defRPr sz="3088"/>
            </a:lvl2pPr>
            <a:lvl3pPr>
              <a:defRPr sz="2647"/>
            </a:lvl3pPr>
            <a:lvl4pPr>
              <a:defRPr sz="2206"/>
            </a:lvl4pPr>
            <a:lvl5pPr>
              <a:defRPr sz="2206"/>
            </a:lvl5pPr>
            <a:lvl6pPr>
              <a:defRPr sz="2206"/>
            </a:lvl6pPr>
            <a:lvl7pPr>
              <a:defRPr sz="2206"/>
            </a:lvl7pPr>
            <a:lvl8pPr>
              <a:defRPr sz="2206"/>
            </a:lvl8pPr>
            <a:lvl9pPr>
              <a:defRPr sz="22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564" y="2268855"/>
            <a:ext cx="3448900" cy="4203335"/>
          </a:xfrm>
        </p:spPr>
        <p:txBody>
          <a:bodyPr/>
          <a:lstStyle>
            <a:lvl1pPr marL="0" indent="0">
              <a:buNone/>
              <a:defRPr sz="1764"/>
            </a:lvl1pPr>
            <a:lvl2pPr marL="504200" indent="0">
              <a:buNone/>
              <a:defRPr sz="1544"/>
            </a:lvl2pPr>
            <a:lvl3pPr marL="1008400" indent="0">
              <a:buNone/>
              <a:defRPr sz="1323"/>
            </a:lvl3pPr>
            <a:lvl4pPr marL="1512600" indent="0">
              <a:buNone/>
              <a:defRPr sz="1103"/>
            </a:lvl4pPr>
            <a:lvl5pPr marL="2016801" indent="0">
              <a:buNone/>
              <a:defRPr sz="1103"/>
            </a:lvl5pPr>
            <a:lvl6pPr marL="2521001" indent="0">
              <a:buNone/>
              <a:defRPr sz="1103"/>
            </a:lvl6pPr>
            <a:lvl7pPr marL="3025201" indent="0">
              <a:buNone/>
              <a:defRPr sz="1103"/>
            </a:lvl7pPr>
            <a:lvl8pPr marL="3529401" indent="0">
              <a:buNone/>
              <a:defRPr sz="1103"/>
            </a:lvl8pPr>
            <a:lvl9pPr marL="4033601" indent="0">
              <a:buNone/>
              <a:defRPr sz="11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9549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564" y="504190"/>
            <a:ext cx="3448900" cy="1764665"/>
          </a:xfrm>
        </p:spPr>
        <p:txBody>
          <a:bodyPr anchor="b"/>
          <a:lstStyle>
            <a:lvl1pPr>
              <a:defRPr sz="35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6088" y="1088912"/>
            <a:ext cx="5413534" cy="5374525"/>
          </a:xfrm>
        </p:spPr>
        <p:txBody>
          <a:bodyPr anchor="t"/>
          <a:lstStyle>
            <a:lvl1pPr marL="0" indent="0">
              <a:buNone/>
              <a:defRPr sz="3529"/>
            </a:lvl1pPr>
            <a:lvl2pPr marL="504200" indent="0">
              <a:buNone/>
              <a:defRPr sz="3088"/>
            </a:lvl2pPr>
            <a:lvl3pPr marL="1008400" indent="0">
              <a:buNone/>
              <a:defRPr sz="2647"/>
            </a:lvl3pPr>
            <a:lvl4pPr marL="1512600" indent="0">
              <a:buNone/>
              <a:defRPr sz="2206"/>
            </a:lvl4pPr>
            <a:lvl5pPr marL="2016801" indent="0">
              <a:buNone/>
              <a:defRPr sz="2206"/>
            </a:lvl5pPr>
            <a:lvl6pPr marL="2521001" indent="0">
              <a:buNone/>
              <a:defRPr sz="2206"/>
            </a:lvl6pPr>
            <a:lvl7pPr marL="3025201" indent="0">
              <a:buNone/>
              <a:defRPr sz="2206"/>
            </a:lvl7pPr>
            <a:lvl8pPr marL="3529401" indent="0">
              <a:buNone/>
              <a:defRPr sz="2206"/>
            </a:lvl8pPr>
            <a:lvl9pPr marL="4033601" indent="0">
              <a:buNone/>
              <a:defRPr sz="220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564" y="2268855"/>
            <a:ext cx="3448900" cy="4203335"/>
          </a:xfrm>
        </p:spPr>
        <p:txBody>
          <a:bodyPr/>
          <a:lstStyle>
            <a:lvl1pPr marL="0" indent="0">
              <a:buNone/>
              <a:defRPr sz="1764"/>
            </a:lvl1pPr>
            <a:lvl2pPr marL="504200" indent="0">
              <a:buNone/>
              <a:defRPr sz="1544"/>
            </a:lvl2pPr>
            <a:lvl3pPr marL="1008400" indent="0">
              <a:buNone/>
              <a:defRPr sz="1323"/>
            </a:lvl3pPr>
            <a:lvl4pPr marL="1512600" indent="0">
              <a:buNone/>
              <a:defRPr sz="1103"/>
            </a:lvl4pPr>
            <a:lvl5pPr marL="2016801" indent="0">
              <a:buNone/>
              <a:defRPr sz="1103"/>
            </a:lvl5pPr>
            <a:lvl6pPr marL="2521001" indent="0">
              <a:buNone/>
              <a:defRPr sz="1103"/>
            </a:lvl6pPr>
            <a:lvl7pPr marL="3025201" indent="0">
              <a:buNone/>
              <a:defRPr sz="1103"/>
            </a:lvl7pPr>
            <a:lvl8pPr marL="3529401" indent="0">
              <a:buNone/>
              <a:defRPr sz="1103"/>
            </a:lvl8pPr>
            <a:lvl9pPr marL="4033601" indent="0">
              <a:buNone/>
              <a:defRPr sz="11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6520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018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2465" y="402652"/>
            <a:ext cx="2305764" cy="64091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172" y="402652"/>
            <a:ext cx="6783626" cy="64091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623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171" y="402654"/>
            <a:ext cx="9223058" cy="146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171" y="2013259"/>
            <a:ext cx="9223058" cy="4798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171" y="7009643"/>
            <a:ext cx="2406015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2189" y="7009643"/>
            <a:ext cx="3609023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2214" y="7009643"/>
            <a:ext cx="2406015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644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1008400" rtl="0" eaLnBrk="1" latinLnBrk="0" hangingPunct="1">
        <a:lnSpc>
          <a:spcPct val="90000"/>
        </a:lnSpc>
        <a:spcBef>
          <a:spcPct val="0"/>
        </a:spcBef>
        <a:buNone/>
        <a:defRPr sz="48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100" indent="-252100" algn="l" defTabSz="1008400" rtl="0" eaLnBrk="1" latinLnBrk="0" hangingPunct="1">
        <a:lnSpc>
          <a:spcPct val="90000"/>
        </a:lnSpc>
        <a:spcBef>
          <a:spcPts val="1103"/>
        </a:spcBef>
        <a:buFont typeface="Arial" panose="020B0604020202020204" pitchFamily="34" charset="0"/>
        <a:buChar char="•"/>
        <a:defRPr sz="3088" kern="1200">
          <a:solidFill>
            <a:schemeClr val="tx1"/>
          </a:solidFill>
          <a:latin typeface="+mn-lt"/>
          <a:ea typeface="+mn-ea"/>
          <a:cs typeface="+mn-cs"/>
        </a:defRPr>
      </a:lvl1pPr>
      <a:lvl2pPr marL="756300" indent="-252100" algn="l" defTabSz="100840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7" kern="1200">
          <a:solidFill>
            <a:schemeClr val="tx1"/>
          </a:solidFill>
          <a:latin typeface="+mn-lt"/>
          <a:ea typeface="+mn-ea"/>
          <a:cs typeface="+mn-cs"/>
        </a:defRPr>
      </a:lvl2pPr>
      <a:lvl3pPr marL="1260500" indent="-252100" algn="l" defTabSz="100840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6" kern="1200">
          <a:solidFill>
            <a:schemeClr val="tx1"/>
          </a:solidFill>
          <a:latin typeface="+mn-lt"/>
          <a:ea typeface="+mn-ea"/>
          <a:cs typeface="+mn-cs"/>
        </a:defRPr>
      </a:lvl3pPr>
      <a:lvl4pPr marL="1764701" indent="-252100" algn="l" defTabSz="100840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268901" indent="-252100" algn="l" defTabSz="100840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773101" indent="-252100" algn="l" defTabSz="100840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277301" indent="-252100" algn="l" defTabSz="100840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781501" indent="-252100" algn="l" defTabSz="100840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285701" indent="-252100" algn="l" defTabSz="100840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504200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1008400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512600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016801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521001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025201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529401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033601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0900" y="892810"/>
            <a:ext cx="5306060" cy="5268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libri"/>
                <a:cs typeface="Calibri"/>
              </a:rPr>
              <a:t>AI</a:t>
            </a:r>
            <a:r>
              <a:rPr sz="1600" b="1" spc="-6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Agents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Project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Report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10"/>
              </a:spcBef>
            </a:pPr>
            <a:endParaRPr sz="1600">
              <a:latin typeface="Calibri"/>
              <a:cs typeface="Calibri"/>
            </a:endParaRPr>
          </a:p>
          <a:p>
            <a:pPr marL="63500" marR="908685">
              <a:lnSpc>
                <a:spcPct val="109300"/>
              </a:lnSpc>
            </a:pPr>
            <a:r>
              <a:rPr sz="1400" b="1" dirty="0">
                <a:latin typeface="Calibri"/>
                <a:cs typeface="Calibri"/>
              </a:rPr>
              <a:t>Course: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Computer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Science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and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Engineering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(CSE)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—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3A-</a:t>
            </a:r>
            <a:r>
              <a:rPr sz="1400" b="1" spc="-25" dirty="0">
                <a:latin typeface="Calibri"/>
                <a:cs typeface="Calibri"/>
              </a:rPr>
              <a:t>CSE </a:t>
            </a:r>
            <a:r>
              <a:rPr sz="1400" b="1" dirty="0">
                <a:latin typeface="Calibri"/>
                <a:cs typeface="Calibri"/>
              </a:rPr>
              <a:t>College: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SDM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Institute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of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Technology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Ujire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(DK)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574240 </a:t>
            </a:r>
            <a:r>
              <a:rPr sz="1400" b="1" dirty="0">
                <a:latin typeface="Calibri"/>
                <a:cs typeface="Calibri"/>
              </a:rPr>
              <a:t>Academic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Year: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2025-</a:t>
            </a:r>
            <a:r>
              <a:rPr sz="1400" b="1" spc="-20" dirty="0">
                <a:latin typeface="Calibri"/>
                <a:cs typeface="Calibri"/>
              </a:rPr>
              <a:t>2026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Calibri"/>
              <a:cs typeface="Calibri"/>
            </a:endParaRPr>
          </a:p>
          <a:p>
            <a:pPr marL="63500" marR="30480">
              <a:lnSpc>
                <a:spcPct val="109400"/>
              </a:lnSpc>
            </a:pPr>
            <a:r>
              <a:rPr sz="1600" b="1" dirty="0">
                <a:latin typeface="Calibri"/>
                <a:cs typeface="Calibri"/>
              </a:rPr>
              <a:t>Project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Title: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AI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Agents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—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Five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Agent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Models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and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Applications Submitted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25" dirty="0">
                <a:latin typeface="Calibri"/>
                <a:cs typeface="Calibri"/>
              </a:rPr>
              <a:t>By:</a:t>
            </a:r>
            <a:endParaRPr sz="1600">
              <a:latin typeface="Calibri"/>
              <a:cs typeface="Calibri"/>
            </a:endParaRPr>
          </a:p>
          <a:p>
            <a:pPr marL="520700" indent="-228600">
              <a:lnSpc>
                <a:spcPct val="100000"/>
              </a:lnSpc>
              <a:spcBef>
                <a:spcPts val="994"/>
              </a:spcBef>
              <a:buSzPct val="62500"/>
              <a:buFont typeface="Symbol"/>
              <a:buChar char=""/>
              <a:tabLst>
                <a:tab pos="520700" algn="l"/>
              </a:tabLst>
            </a:pPr>
            <a:r>
              <a:rPr sz="1600" b="1" dirty="0">
                <a:latin typeface="Calibri"/>
                <a:cs typeface="Calibri"/>
              </a:rPr>
              <a:t>Niveditha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P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L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|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USN: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4SU24CS058</a:t>
            </a:r>
            <a:endParaRPr sz="1600">
              <a:latin typeface="Calibri"/>
              <a:cs typeface="Calibri"/>
            </a:endParaRPr>
          </a:p>
          <a:p>
            <a:pPr marL="520700" indent="-228600">
              <a:lnSpc>
                <a:spcPct val="100000"/>
              </a:lnSpc>
              <a:spcBef>
                <a:spcPts val="985"/>
              </a:spcBef>
              <a:buSzPct val="62500"/>
              <a:buFont typeface="Symbol"/>
              <a:buChar char=""/>
              <a:tabLst>
                <a:tab pos="520700" algn="l"/>
              </a:tabLst>
            </a:pPr>
            <a:r>
              <a:rPr sz="1600" b="1" dirty="0">
                <a:latin typeface="Calibri"/>
                <a:cs typeface="Calibri"/>
              </a:rPr>
              <a:t>Apeksha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Jain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|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USN: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4SU24CS022</a:t>
            </a:r>
            <a:endParaRPr sz="1600">
              <a:latin typeface="Calibri"/>
              <a:cs typeface="Calibri"/>
            </a:endParaRPr>
          </a:p>
          <a:p>
            <a:pPr marL="520700" indent="-228600">
              <a:lnSpc>
                <a:spcPct val="100000"/>
              </a:lnSpc>
              <a:spcBef>
                <a:spcPts val="985"/>
              </a:spcBef>
              <a:buSzPct val="62500"/>
              <a:buFont typeface="Symbol"/>
              <a:buChar char=""/>
              <a:tabLst>
                <a:tab pos="520700" algn="l"/>
              </a:tabLst>
            </a:pPr>
            <a:r>
              <a:rPr sz="1600" b="1" dirty="0">
                <a:latin typeface="Calibri"/>
                <a:cs typeface="Calibri"/>
              </a:rPr>
              <a:t>Abhishek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M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K</a:t>
            </a:r>
            <a:r>
              <a:rPr sz="1600" b="1" spc="-1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|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USN: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4SU24CS004</a:t>
            </a:r>
            <a:endParaRPr sz="1600">
              <a:latin typeface="Calibri"/>
              <a:cs typeface="Calibri"/>
            </a:endParaRPr>
          </a:p>
          <a:p>
            <a:pPr marL="520700" indent="-228600">
              <a:lnSpc>
                <a:spcPct val="100000"/>
              </a:lnSpc>
              <a:spcBef>
                <a:spcPts val="994"/>
              </a:spcBef>
              <a:buSzPct val="62500"/>
              <a:buFont typeface="Symbol"/>
              <a:buChar char=""/>
              <a:tabLst>
                <a:tab pos="520700" algn="l"/>
              </a:tabLst>
            </a:pPr>
            <a:r>
              <a:rPr sz="1600" b="1" dirty="0">
                <a:latin typeface="Calibri"/>
                <a:cs typeface="Calibri"/>
              </a:rPr>
              <a:t>Abhi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</a:t>
            </a:r>
            <a:r>
              <a:rPr sz="1600" b="1" spc="-1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|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USN:</a:t>
            </a:r>
            <a:r>
              <a:rPr sz="1600" b="1" spc="-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4SU24CS001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5"/>
              </a:spcBef>
            </a:pPr>
            <a:endParaRPr sz="1600">
              <a:latin typeface="Calibri"/>
              <a:cs typeface="Calibri"/>
            </a:endParaRPr>
          </a:p>
          <a:p>
            <a:pPr marL="63500">
              <a:lnSpc>
                <a:spcPct val="100000"/>
              </a:lnSpc>
            </a:pPr>
            <a:r>
              <a:rPr sz="1600" b="1" spc="-20" dirty="0">
                <a:latin typeface="Calibri"/>
                <a:cs typeface="Calibri"/>
              </a:rPr>
              <a:t>Year/Class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/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Semester:</a:t>
            </a:r>
            <a:r>
              <a:rPr sz="1600" b="1" spc="-20" dirty="0">
                <a:latin typeface="Calibri"/>
                <a:cs typeface="Calibri"/>
              </a:rPr>
              <a:t> 2</a:t>
            </a:r>
            <a:r>
              <a:rPr sz="1575" b="1" spc="-30" baseline="26455" dirty="0">
                <a:latin typeface="Calibri"/>
                <a:cs typeface="Calibri"/>
              </a:rPr>
              <a:t>nd</a:t>
            </a:r>
            <a:r>
              <a:rPr sz="1600" b="1" spc="-20" dirty="0">
                <a:latin typeface="Calibri"/>
                <a:cs typeface="Calibri"/>
              </a:rPr>
              <a:t>/A-CSE/3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600">
              <a:latin typeface="Calibri"/>
              <a:cs typeface="Calibri"/>
            </a:endParaRPr>
          </a:p>
          <a:p>
            <a:pPr marL="63500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Submitted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spc="-35" dirty="0">
                <a:latin typeface="Calibri"/>
                <a:cs typeface="Calibri"/>
              </a:rPr>
              <a:t>To: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HOD: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Dr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Thyagaraju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G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50" dirty="0">
                <a:latin typeface="Calibri"/>
                <a:cs typeface="Calibri"/>
              </a:rPr>
              <a:t>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60119" y="1876833"/>
            <a:ext cx="4044950" cy="0"/>
          </a:xfrm>
          <a:custGeom>
            <a:avLst/>
            <a:gdLst/>
            <a:ahLst/>
            <a:cxnLst/>
            <a:rect l="l" t="t" r="r" b="b"/>
            <a:pathLst>
              <a:path w="4044950">
                <a:moveTo>
                  <a:pt x="0" y="0"/>
                </a:moveTo>
                <a:lnTo>
                  <a:pt x="4044525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14400" y="4323488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01700" y="767232"/>
            <a:ext cx="8823325" cy="575818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1600" b="1" dirty="0">
                <a:latin typeface="Calibri"/>
                <a:cs typeface="Calibri"/>
              </a:rPr>
              <a:t>Model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1: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Simple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Reflex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Agent</a:t>
            </a:r>
            <a:endParaRPr sz="16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600" b="1" dirty="0">
                <a:latin typeface="Calibri"/>
                <a:cs typeface="Calibri"/>
              </a:rPr>
              <a:t>Application: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Automatic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Door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Opening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System</a:t>
            </a:r>
            <a:endParaRPr sz="1600" b="1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50"/>
              </a:spcBef>
            </a:pPr>
            <a:endParaRPr sz="1600" dirty="0">
              <a:latin typeface="Calibri"/>
              <a:cs typeface="Calibri"/>
            </a:endParaRPr>
          </a:p>
          <a:p>
            <a:pPr marL="211454" indent="-198755">
              <a:lnSpc>
                <a:spcPct val="100000"/>
              </a:lnSpc>
              <a:buAutoNum type="arabicPeriod" startAt="2"/>
              <a:tabLst>
                <a:tab pos="211454" algn="l"/>
              </a:tabLst>
            </a:pPr>
            <a:r>
              <a:rPr sz="1600" b="1" spc="-10" dirty="0">
                <a:latin typeface="Calibri"/>
                <a:cs typeface="Calibri"/>
              </a:rPr>
              <a:t>Abstract</a:t>
            </a:r>
            <a:endParaRPr sz="16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alibri"/>
                <a:cs typeface="Calibri"/>
              </a:rPr>
              <a:t>In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project,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implemented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Simple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Reflex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automatic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control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system.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</a:t>
            </a:r>
            <a:endParaRPr sz="1600" dirty="0">
              <a:latin typeface="Calibri"/>
              <a:cs typeface="Calibri"/>
            </a:endParaRPr>
          </a:p>
          <a:p>
            <a:pPr marL="12700" marR="116839">
              <a:lnSpc>
                <a:spcPct val="109700"/>
              </a:lnSpc>
              <a:spcBef>
                <a:spcPts val="5"/>
              </a:spcBef>
            </a:pPr>
            <a:r>
              <a:rPr sz="1600" dirty="0">
                <a:latin typeface="Calibri"/>
                <a:cs typeface="Calibri"/>
              </a:rPr>
              <a:t>door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opens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when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person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detected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closes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when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person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detected.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takes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sensor </a:t>
            </a:r>
            <a:r>
              <a:rPr sz="1600" dirty="0">
                <a:latin typeface="Calibri"/>
                <a:cs typeface="Calibri"/>
              </a:rPr>
              <a:t>input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(Person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NoPerson)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directly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maps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actions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(Open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Close)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without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memory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or </a:t>
            </a:r>
            <a:r>
              <a:rPr sz="1600" dirty="0">
                <a:latin typeface="Calibri"/>
                <a:cs typeface="Calibri"/>
              </a:rPr>
              <a:t>learning.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makes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clear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example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Simple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Reflex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Agent.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implemented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Python</a:t>
            </a:r>
            <a:endParaRPr sz="1600" dirty="0">
              <a:latin typeface="Calibri"/>
              <a:cs typeface="Calibri"/>
            </a:endParaRPr>
          </a:p>
          <a:p>
            <a:pPr marL="12700" marR="587375">
              <a:lnSpc>
                <a:spcPct val="109400"/>
              </a:lnSpc>
              <a:spcBef>
                <a:spcPts val="15"/>
              </a:spcBef>
            </a:pP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Jupyter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Notebook,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simple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visual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simulation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created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Matplotlib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show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door </a:t>
            </a:r>
            <a:r>
              <a:rPr sz="1600" dirty="0">
                <a:latin typeface="Calibri"/>
                <a:cs typeface="Calibri"/>
              </a:rPr>
              <a:t>opening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closing.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45"/>
              </a:spcBef>
            </a:pPr>
            <a:endParaRPr sz="1600" dirty="0">
              <a:latin typeface="Calibri"/>
              <a:cs typeface="Calibri"/>
            </a:endParaRPr>
          </a:p>
          <a:p>
            <a:pPr marL="211454" indent="-198755">
              <a:lnSpc>
                <a:spcPct val="100000"/>
              </a:lnSpc>
              <a:buAutoNum type="arabicPeriod" startAt="3"/>
              <a:tabLst>
                <a:tab pos="211454" algn="l"/>
              </a:tabLst>
            </a:pPr>
            <a:r>
              <a:rPr sz="1600" b="1" spc="-10" dirty="0">
                <a:latin typeface="Calibri"/>
                <a:cs typeface="Calibri"/>
              </a:rPr>
              <a:t>Introduction</a:t>
            </a:r>
            <a:endParaRPr sz="16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alibri"/>
                <a:cs typeface="Calibri"/>
              </a:rPr>
              <a:t>An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entity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perceives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environment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through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sensors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upon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environment</a:t>
            </a:r>
            <a:endParaRPr sz="1600" dirty="0">
              <a:latin typeface="Calibri"/>
              <a:cs typeface="Calibri"/>
            </a:endParaRPr>
          </a:p>
          <a:p>
            <a:pPr marL="12700" marR="125095">
              <a:lnSpc>
                <a:spcPts val="2110"/>
              </a:lnSpc>
              <a:spcBef>
                <a:spcPts val="105"/>
              </a:spcBef>
            </a:pP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actuators.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many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real-</a:t>
            </a:r>
            <a:r>
              <a:rPr sz="1600" dirty="0">
                <a:latin typeface="Calibri"/>
                <a:cs typeface="Calibri"/>
              </a:rPr>
              <a:t>world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systems,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follow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simple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rules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current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sensor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readings. </a:t>
            </a:r>
            <a:r>
              <a:rPr sz="1600" dirty="0">
                <a:latin typeface="Calibri"/>
                <a:cs typeface="Calibri"/>
              </a:rPr>
              <a:t>One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common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example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automatic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shopping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mall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office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building.</a:t>
            </a:r>
            <a:endParaRPr sz="1600" dirty="0">
              <a:latin typeface="Calibri"/>
              <a:cs typeface="Calibri"/>
            </a:endParaRPr>
          </a:p>
          <a:p>
            <a:pPr marL="12700" marR="5080">
              <a:lnSpc>
                <a:spcPct val="109700"/>
              </a:lnSpc>
              <a:spcBef>
                <a:spcPts val="700"/>
              </a:spcBef>
            </a:pPr>
            <a:r>
              <a:rPr sz="1600" dirty="0">
                <a:latin typeface="Calibri"/>
                <a:cs typeface="Calibri"/>
              </a:rPr>
              <a:t>In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project,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design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simulate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automatic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door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Simple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Reflex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from </a:t>
            </a:r>
            <a:r>
              <a:rPr sz="1600" dirty="0">
                <a:latin typeface="Calibri"/>
                <a:cs typeface="Calibri"/>
              </a:rPr>
              <a:t>Artificial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Intelligence.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receives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input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sensor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detects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whether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person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present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30" dirty="0">
                <a:latin typeface="Calibri"/>
                <a:cs typeface="Calibri"/>
              </a:rPr>
              <a:t>door.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single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percept,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decides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open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close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door.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1774725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14400" y="3991256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01700" y="867816"/>
            <a:ext cx="8817610" cy="5363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project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demonstrates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how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Simple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Reflex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works,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how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interacts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basic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environment,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and </a:t>
            </a:r>
            <a:r>
              <a:rPr sz="1600" dirty="0">
                <a:latin typeface="Calibri"/>
                <a:cs typeface="Calibri"/>
              </a:rPr>
              <a:t>how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such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behavior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simulated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visually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Python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Jupyter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Notebook.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5"/>
              </a:spcBef>
            </a:pPr>
            <a:endParaRPr sz="1600" dirty="0">
              <a:latin typeface="Calibri"/>
              <a:cs typeface="Calibri"/>
            </a:endParaRPr>
          </a:p>
          <a:p>
            <a:pPr marL="211454" indent="-198755">
              <a:lnSpc>
                <a:spcPct val="100000"/>
              </a:lnSpc>
              <a:buAutoNum type="arabicPeriod" startAt="4"/>
              <a:tabLst>
                <a:tab pos="211454" algn="l"/>
              </a:tabLst>
            </a:pPr>
            <a:r>
              <a:rPr sz="1600" b="1" dirty="0">
                <a:latin typeface="Calibri"/>
                <a:cs typeface="Calibri"/>
              </a:rPr>
              <a:t>Problem</a:t>
            </a:r>
            <a:r>
              <a:rPr sz="1600" b="1" spc="-8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Statement</a:t>
            </a:r>
            <a:endParaRPr sz="16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600" spc="-75" dirty="0">
                <a:latin typeface="Calibri"/>
                <a:cs typeface="Calibri"/>
              </a:rPr>
              <a:t>To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design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implement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automatic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control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Simple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Reflex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that:</a:t>
            </a:r>
            <a:endParaRPr sz="1600" dirty="0">
              <a:latin typeface="Calibri"/>
              <a:cs typeface="Calibri"/>
            </a:endParaRPr>
          </a:p>
          <a:p>
            <a:pPr marL="469900" lvl="1" indent="-457200">
              <a:lnSpc>
                <a:spcPct val="100000"/>
              </a:lnSpc>
              <a:spcBef>
                <a:spcPts val="980"/>
              </a:spcBef>
              <a:buChar char="•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Opens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when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person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detected.</a:t>
            </a:r>
            <a:endParaRPr sz="1600" dirty="0">
              <a:latin typeface="Calibri"/>
              <a:cs typeface="Calibri"/>
            </a:endParaRPr>
          </a:p>
          <a:p>
            <a:pPr marL="469900" lvl="1" indent="-457200">
              <a:lnSpc>
                <a:spcPct val="100000"/>
              </a:lnSpc>
              <a:spcBef>
                <a:spcPts val="985"/>
              </a:spcBef>
              <a:buChar char="•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Closes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when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person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detected.</a:t>
            </a:r>
            <a:endParaRPr sz="1600" dirty="0">
              <a:latin typeface="Calibri"/>
              <a:cs typeface="Calibri"/>
            </a:endParaRPr>
          </a:p>
          <a:p>
            <a:pPr marL="469900" lvl="1" indent="-457200">
              <a:lnSpc>
                <a:spcPct val="100000"/>
              </a:lnSpc>
              <a:spcBef>
                <a:spcPts val="994"/>
              </a:spcBef>
              <a:buChar char="•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Uses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only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current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sensor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input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(no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memory,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learning).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9"/>
              </a:spcBef>
            </a:pPr>
            <a:endParaRPr sz="1600" dirty="0">
              <a:latin typeface="Calibri"/>
              <a:cs typeface="Calibri"/>
            </a:endParaRPr>
          </a:p>
          <a:p>
            <a:pPr marL="211454" indent="-198755">
              <a:lnSpc>
                <a:spcPct val="100000"/>
              </a:lnSpc>
              <a:buAutoNum type="arabicPeriod" startAt="5"/>
              <a:tabLst>
                <a:tab pos="211454" algn="l"/>
              </a:tabLst>
            </a:pPr>
            <a:r>
              <a:rPr sz="1600" b="1" spc="-10" dirty="0">
                <a:latin typeface="Calibri"/>
                <a:cs typeface="Calibri"/>
              </a:rPr>
              <a:t>Objectives</a:t>
            </a:r>
            <a:endParaRPr sz="1600" b="1" dirty="0">
              <a:latin typeface="Calibri"/>
              <a:cs typeface="Calibri"/>
            </a:endParaRPr>
          </a:p>
          <a:p>
            <a:pPr marL="469900" lvl="1" indent="-457200">
              <a:lnSpc>
                <a:spcPct val="100000"/>
              </a:lnSpc>
              <a:spcBef>
                <a:spcPts val="985"/>
              </a:spcBef>
              <a:buChar char="•"/>
              <a:tabLst>
                <a:tab pos="469900" algn="l"/>
              </a:tabLst>
            </a:pPr>
            <a:r>
              <a:rPr sz="1600" spc="-75" dirty="0">
                <a:latin typeface="Calibri"/>
                <a:cs typeface="Calibri"/>
              </a:rPr>
              <a:t>To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understand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concept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Simple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Reflex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5" dirty="0">
                <a:latin typeface="Calibri"/>
                <a:cs typeface="Calibri"/>
              </a:rPr>
              <a:t> AI.</a:t>
            </a:r>
            <a:endParaRPr sz="1600" dirty="0">
              <a:latin typeface="Calibri"/>
              <a:cs typeface="Calibri"/>
            </a:endParaRPr>
          </a:p>
          <a:p>
            <a:pPr marL="469900" lvl="1" indent="-457200">
              <a:lnSpc>
                <a:spcPct val="100000"/>
              </a:lnSpc>
              <a:spcBef>
                <a:spcPts val="994"/>
              </a:spcBef>
              <a:buChar char="•"/>
              <a:tabLst>
                <a:tab pos="469900" algn="l"/>
              </a:tabLst>
            </a:pPr>
            <a:r>
              <a:rPr sz="1600" spc="-75" dirty="0">
                <a:latin typeface="Calibri"/>
                <a:cs typeface="Calibri"/>
              </a:rPr>
              <a:t>To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model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automatic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intelligent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agent.</a:t>
            </a:r>
            <a:endParaRPr sz="1600" dirty="0">
              <a:latin typeface="Calibri"/>
              <a:cs typeface="Calibri"/>
            </a:endParaRPr>
          </a:p>
          <a:p>
            <a:pPr marL="469900" lvl="1" indent="-457200">
              <a:lnSpc>
                <a:spcPct val="100000"/>
              </a:lnSpc>
              <a:spcBef>
                <a:spcPts val="985"/>
              </a:spcBef>
              <a:buChar char="•"/>
              <a:tabLst>
                <a:tab pos="469900" algn="l"/>
              </a:tabLst>
            </a:pPr>
            <a:r>
              <a:rPr sz="1600" spc="-75" dirty="0">
                <a:latin typeface="Calibri"/>
                <a:cs typeface="Calibri"/>
              </a:rPr>
              <a:t>To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implement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Python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simple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IF–THEN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rules.</a:t>
            </a:r>
            <a:endParaRPr sz="1600" dirty="0">
              <a:latin typeface="Calibri"/>
              <a:cs typeface="Calibri"/>
            </a:endParaRPr>
          </a:p>
          <a:p>
            <a:pPr marL="469900" lvl="1" indent="-457200">
              <a:lnSpc>
                <a:spcPct val="100000"/>
              </a:lnSpc>
              <a:spcBef>
                <a:spcPts val="985"/>
              </a:spcBef>
              <a:buChar char="•"/>
              <a:tabLst>
                <a:tab pos="469900" algn="l"/>
              </a:tabLst>
            </a:pPr>
            <a:r>
              <a:rPr sz="1600" spc="-75" dirty="0">
                <a:latin typeface="Calibri"/>
                <a:cs typeface="Calibri"/>
              </a:rPr>
              <a:t>To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simulate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visualize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opening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closing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Jupyter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Notebook.</a:t>
            </a:r>
            <a:endParaRPr sz="1600" dirty="0">
              <a:latin typeface="Calibri"/>
              <a:cs typeface="Calibri"/>
            </a:endParaRPr>
          </a:p>
          <a:p>
            <a:pPr marL="469900" lvl="1" indent="-457200">
              <a:lnSpc>
                <a:spcPct val="100000"/>
              </a:lnSpc>
              <a:spcBef>
                <a:spcPts val="994"/>
              </a:spcBef>
              <a:buChar char="•"/>
              <a:tabLst>
                <a:tab pos="469900" algn="l"/>
              </a:tabLst>
            </a:pPr>
            <a:r>
              <a:rPr sz="1600" spc="-75" dirty="0">
                <a:latin typeface="Calibri"/>
                <a:cs typeface="Calibri"/>
              </a:rPr>
              <a:t>To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prepare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further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advanced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models.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6576290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767232"/>
            <a:ext cx="8747125" cy="579628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211454" indent="-198755">
              <a:lnSpc>
                <a:spcPct val="100000"/>
              </a:lnSpc>
              <a:spcBef>
                <a:spcPts val="1085"/>
              </a:spcBef>
              <a:buAutoNum type="arabicPeriod" startAt="6"/>
              <a:tabLst>
                <a:tab pos="211454" algn="l"/>
              </a:tabLst>
            </a:pPr>
            <a:r>
              <a:rPr sz="1600" spc="-10" dirty="0">
                <a:latin typeface="Calibri"/>
                <a:cs typeface="Calibri"/>
              </a:rPr>
              <a:t>Literature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/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Theory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Background</a:t>
            </a:r>
            <a:endParaRPr sz="1600" dirty="0">
              <a:latin typeface="Calibri"/>
              <a:cs typeface="Calibri"/>
            </a:endParaRPr>
          </a:p>
          <a:p>
            <a:pPr marL="313055" lvl="1" indent="-300355">
              <a:lnSpc>
                <a:spcPct val="100000"/>
              </a:lnSpc>
              <a:spcBef>
                <a:spcPts val="980"/>
              </a:spcBef>
              <a:buAutoNum type="arabicPeriod"/>
              <a:tabLst>
                <a:tab pos="313055" algn="l"/>
              </a:tabLst>
            </a:pPr>
            <a:r>
              <a:rPr sz="1600" b="1" spc="-10" dirty="0">
                <a:latin typeface="Calibri"/>
                <a:cs typeface="Calibri"/>
              </a:rPr>
              <a:t>Intelligent</a:t>
            </a:r>
            <a:r>
              <a:rPr sz="1600" b="1" spc="15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Agent</a:t>
            </a:r>
            <a:endParaRPr sz="1600" b="1" dirty="0">
              <a:latin typeface="Calibri"/>
              <a:cs typeface="Calibri"/>
            </a:endParaRPr>
          </a:p>
          <a:p>
            <a:pPr marL="12700" marR="462915">
              <a:lnSpc>
                <a:spcPct val="109800"/>
              </a:lnSpc>
              <a:spcBef>
                <a:spcPts val="810"/>
              </a:spcBef>
            </a:pPr>
            <a:r>
              <a:rPr sz="1600" dirty="0">
                <a:latin typeface="Calibri"/>
                <a:cs typeface="Calibri"/>
              </a:rPr>
              <a:t>An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intelligent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entity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perceives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environment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through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sensors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upon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that </a:t>
            </a:r>
            <a:r>
              <a:rPr sz="1600" spc="-10" dirty="0">
                <a:latin typeface="Calibri"/>
                <a:cs typeface="Calibri"/>
              </a:rPr>
              <a:t>environment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through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actuators.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behavior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defined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function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maps </a:t>
            </a:r>
            <a:r>
              <a:rPr sz="1600" spc="-10" dirty="0">
                <a:latin typeface="Calibri"/>
                <a:cs typeface="Calibri"/>
              </a:rPr>
              <a:t>percepts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actions.</a:t>
            </a:r>
            <a:endParaRPr sz="1600" dirty="0">
              <a:latin typeface="Calibri"/>
              <a:cs typeface="Calibri"/>
            </a:endParaRPr>
          </a:p>
          <a:p>
            <a:pPr marL="313055" lvl="1" indent="-300355">
              <a:lnSpc>
                <a:spcPct val="100000"/>
              </a:lnSpc>
              <a:spcBef>
                <a:spcPts val="985"/>
              </a:spcBef>
              <a:buAutoNum type="arabicPeriod" startAt="2"/>
              <a:tabLst>
                <a:tab pos="313055" algn="l"/>
              </a:tabLst>
            </a:pPr>
            <a:r>
              <a:rPr sz="1600" b="1" dirty="0">
                <a:latin typeface="Calibri"/>
                <a:cs typeface="Calibri"/>
              </a:rPr>
              <a:t>Simple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Reflex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Agent</a:t>
            </a:r>
            <a:endParaRPr sz="1600" b="1" dirty="0">
              <a:latin typeface="Calibri"/>
              <a:cs typeface="Calibri"/>
            </a:endParaRPr>
          </a:p>
          <a:p>
            <a:pPr marL="12700" marR="5080">
              <a:lnSpc>
                <a:spcPct val="109400"/>
              </a:lnSpc>
              <a:spcBef>
                <a:spcPts val="815"/>
              </a:spcBef>
            </a:pPr>
            <a:r>
              <a:rPr sz="1600" dirty="0">
                <a:latin typeface="Calibri"/>
                <a:cs typeface="Calibri"/>
              </a:rPr>
              <a:t>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Simple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Reflex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selects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actions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only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current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percept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(current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sensor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input).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does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not </a:t>
            </a:r>
            <a:r>
              <a:rPr sz="1600" spc="-10" dirty="0">
                <a:latin typeface="Calibri"/>
                <a:cs typeface="Calibri"/>
              </a:rPr>
              <a:t>store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history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internal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state.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behavior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represented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condition–action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rules:</a:t>
            </a:r>
            <a:endParaRPr sz="1600" dirty="0">
              <a:latin typeface="Calibri"/>
              <a:cs typeface="Calibri"/>
            </a:endParaRPr>
          </a:p>
          <a:p>
            <a:pPr marL="12700" marR="6296025">
              <a:lnSpc>
                <a:spcPts val="2920"/>
              </a:lnSpc>
              <a:spcBef>
                <a:spcPts val="250"/>
              </a:spcBef>
            </a:pPr>
            <a:r>
              <a:rPr sz="1600" dirty="0">
                <a:latin typeface="Calibri"/>
                <a:cs typeface="Calibri"/>
              </a:rPr>
              <a:t>IF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&lt;condition&gt;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&lt;action&gt; </a:t>
            </a:r>
            <a:r>
              <a:rPr sz="1600" b="1" spc="-10" dirty="0">
                <a:latin typeface="Calibri"/>
                <a:cs typeface="Calibri"/>
              </a:rPr>
              <a:t>Characteristics:</a:t>
            </a:r>
            <a:endParaRPr sz="1600" b="1" dirty="0">
              <a:latin typeface="Calibri"/>
              <a:cs typeface="Calibri"/>
            </a:endParaRPr>
          </a:p>
          <a:p>
            <a:pPr marL="469900" lvl="2" indent="-457200">
              <a:lnSpc>
                <a:spcPct val="100000"/>
              </a:lnSpc>
              <a:spcBef>
                <a:spcPts val="715"/>
              </a:spcBef>
              <a:buChar char="•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No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memory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past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percepts.</a:t>
            </a:r>
            <a:endParaRPr sz="1600" dirty="0">
              <a:latin typeface="Calibri"/>
              <a:cs typeface="Calibri"/>
            </a:endParaRPr>
          </a:p>
          <a:p>
            <a:pPr marL="469900" lvl="2" indent="-457200">
              <a:lnSpc>
                <a:spcPct val="100000"/>
              </a:lnSpc>
              <a:spcBef>
                <a:spcPts val="985"/>
              </a:spcBef>
              <a:buChar char="•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No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internal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model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world.</a:t>
            </a:r>
            <a:endParaRPr sz="1600" dirty="0">
              <a:latin typeface="Calibri"/>
              <a:cs typeface="Calibri"/>
            </a:endParaRPr>
          </a:p>
          <a:p>
            <a:pPr marL="469900" lvl="2" indent="-457200">
              <a:lnSpc>
                <a:spcPct val="100000"/>
              </a:lnSpc>
              <a:spcBef>
                <a:spcPts val="994"/>
              </a:spcBef>
              <a:buChar char="•"/>
              <a:tabLst>
                <a:tab pos="469900" algn="l"/>
              </a:tabLst>
            </a:pPr>
            <a:r>
              <a:rPr sz="1600" spc="-20" dirty="0">
                <a:latin typeface="Calibri"/>
                <a:cs typeface="Calibri"/>
              </a:rPr>
              <a:t>Works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well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only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simple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fully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observable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environments.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1600" b="1" dirty="0">
                <a:latin typeface="Calibri"/>
                <a:cs typeface="Calibri"/>
              </a:rPr>
              <a:t>6.3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Real-</a:t>
            </a:r>
            <a:r>
              <a:rPr sz="1600" b="1" spc="-10" dirty="0">
                <a:latin typeface="Calibri"/>
                <a:cs typeface="Calibri"/>
              </a:rPr>
              <a:t>World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Example</a:t>
            </a:r>
            <a:r>
              <a:rPr sz="1600" dirty="0">
                <a:latin typeface="Calibri"/>
                <a:cs typeface="Calibri"/>
              </a:rPr>
              <a:t>: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Automatic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Door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600" spc="-10" dirty="0">
                <a:latin typeface="Calibri"/>
                <a:cs typeface="Calibri"/>
              </a:rPr>
              <a:t>Automatic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doors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commonly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motion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proximity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sensors.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someone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detected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near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door,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it</a:t>
            </a:r>
            <a:endParaRPr sz="1600" dirty="0">
              <a:latin typeface="Calibri"/>
              <a:cs typeface="Calibri"/>
            </a:endParaRPr>
          </a:p>
          <a:p>
            <a:pPr marL="12700" marR="250190">
              <a:lnSpc>
                <a:spcPct val="110000"/>
              </a:lnSpc>
            </a:pPr>
            <a:r>
              <a:rPr sz="1600" dirty="0">
                <a:latin typeface="Calibri"/>
                <a:cs typeface="Calibri"/>
              </a:rPr>
              <a:t>opens;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otherwise,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remains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closed.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behavior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depends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only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current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sensor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reading,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be </a:t>
            </a:r>
            <a:r>
              <a:rPr sz="1600" dirty="0">
                <a:latin typeface="Calibri"/>
                <a:cs typeface="Calibri"/>
              </a:rPr>
              <a:t>modeled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Simple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Reflex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Agent.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1137693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1700" y="1134516"/>
            <a:ext cx="5694680" cy="5249258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211454" indent="-198755">
              <a:lnSpc>
                <a:spcPct val="100000"/>
              </a:lnSpc>
              <a:spcBef>
                <a:spcPts val="1095"/>
              </a:spcBef>
              <a:buAutoNum type="arabicPeriod" startAt="7"/>
              <a:tabLst>
                <a:tab pos="211454" algn="l"/>
              </a:tabLst>
            </a:pPr>
            <a:r>
              <a:rPr sz="1600" b="1" spc="-10" dirty="0">
                <a:latin typeface="Calibri"/>
                <a:cs typeface="Calibri"/>
              </a:rPr>
              <a:t>System</a:t>
            </a:r>
            <a:r>
              <a:rPr sz="1600" b="1" spc="-7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Design</a:t>
            </a:r>
            <a:endParaRPr sz="1600" b="1" dirty="0">
              <a:latin typeface="Calibri"/>
              <a:cs typeface="Calibri"/>
            </a:endParaRPr>
          </a:p>
          <a:p>
            <a:pPr marL="313055" lvl="1" indent="-300355">
              <a:lnSpc>
                <a:spcPct val="100000"/>
              </a:lnSpc>
              <a:spcBef>
                <a:spcPts val="994"/>
              </a:spcBef>
              <a:buAutoNum type="arabicPeriod"/>
              <a:tabLst>
                <a:tab pos="313055" algn="l"/>
              </a:tabLst>
            </a:pPr>
            <a:r>
              <a:rPr sz="1600" spc="-10" dirty="0">
                <a:latin typeface="Calibri"/>
                <a:cs typeface="Calibri"/>
              </a:rPr>
              <a:t>Environment</a:t>
            </a:r>
            <a:endParaRPr sz="1600" dirty="0">
              <a:latin typeface="Calibri"/>
              <a:cs typeface="Calibri"/>
            </a:endParaRPr>
          </a:p>
          <a:p>
            <a:pPr marL="469900" lvl="2" indent="-457200">
              <a:lnSpc>
                <a:spcPct val="100000"/>
              </a:lnSpc>
              <a:spcBef>
                <a:spcPts val="985"/>
              </a:spcBef>
              <a:buChar char="•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environment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near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door.</a:t>
            </a:r>
            <a:endParaRPr sz="1600" dirty="0">
              <a:latin typeface="Calibri"/>
              <a:cs typeface="Calibri"/>
            </a:endParaRPr>
          </a:p>
          <a:p>
            <a:pPr marL="469900" lvl="2" indent="-457200">
              <a:lnSpc>
                <a:spcPct val="100000"/>
              </a:lnSpc>
              <a:spcBef>
                <a:spcPts val="985"/>
              </a:spcBef>
              <a:buChar char="•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environment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state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described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by:</a:t>
            </a:r>
            <a:endParaRPr sz="16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1000"/>
              </a:spcBef>
              <a:buChar char="o"/>
              <a:tabLst>
                <a:tab pos="469900" algn="l"/>
              </a:tabLst>
            </a:pPr>
            <a:r>
              <a:rPr sz="1600" spc="-10" dirty="0">
                <a:latin typeface="Calibri"/>
                <a:cs typeface="Calibri"/>
              </a:rPr>
              <a:t>sensor_input: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"Person"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 </a:t>
            </a:r>
            <a:r>
              <a:rPr sz="1600" spc="-10" dirty="0">
                <a:latin typeface="Calibri"/>
                <a:cs typeface="Calibri"/>
              </a:rPr>
              <a:t>"NoPerson".</a:t>
            </a:r>
            <a:endParaRPr sz="16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980"/>
              </a:spcBef>
              <a:buChar char="o"/>
              <a:tabLst>
                <a:tab pos="469900" algn="l"/>
              </a:tabLst>
            </a:pPr>
            <a:r>
              <a:rPr sz="1600" spc="-10" dirty="0">
                <a:latin typeface="Calibri"/>
                <a:cs typeface="Calibri"/>
              </a:rPr>
              <a:t>door_state: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"Open"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"Closed".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00" b="1" dirty="0">
                <a:latin typeface="Calibri"/>
                <a:cs typeface="Calibri"/>
              </a:rPr>
              <a:t>7.2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Agent</a:t>
            </a:r>
            <a:endParaRPr sz="1600" b="1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985"/>
              </a:spcBef>
              <a:buChar char="•"/>
              <a:tabLst>
                <a:tab pos="469900" algn="l"/>
              </a:tabLst>
            </a:pPr>
            <a:r>
              <a:rPr sz="1600" spc="-10" dirty="0">
                <a:latin typeface="Calibri"/>
                <a:cs typeface="Calibri"/>
              </a:rPr>
              <a:t>Percept: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sensor_input</a:t>
            </a:r>
            <a:endParaRPr sz="16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1000"/>
              </a:spcBef>
              <a:buChar char="•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Actions: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"Open"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"Close"</a:t>
            </a:r>
            <a:endParaRPr sz="16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980"/>
              </a:spcBef>
              <a:buChar char="•"/>
              <a:tabLst>
                <a:tab pos="469900" algn="l"/>
              </a:tabLst>
            </a:pPr>
            <a:r>
              <a:rPr sz="1600" spc="-10" dirty="0">
                <a:latin typeface="Calibri"/>
                <a:cs typeface="Calibri"/>
              </a:rPr>
              <a:t>Actuator: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opening/closing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mechanism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(simulated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code)</a:t>
            </a:r>
            <a:endParaRPr sz="16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985"/>
              </a:spcBef>
              <a:buChar char="•"/>
              <a:tabLst>
                <a:tab pos="469900" algn="l"/>
              </a:tabLst>
            </a:pPr>
            <a:r>
              <a:rPr sz="1600" b="1" dirty="0">
                <a:latin typeface="Calibri"/>
                <a:cs typeface="Calibri"/>
              </a:rPr>
              <a:t>Agent</a:t>
            </a:r>
            <a:r>
              <a:rPr sz="1600" b="1" spc="-8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rule</a:t>
            </a:r>
            <a:r>
              <a:rPr sz="1600" spc="-10" dirty="0">
                <a:latin typeface="Calibri"/>
                <a:cs typeface="Calibri"/>
              </a:rPr>
              <a:t>:</a:t>
            </a:r>
            <a:endParaRPr sz="1600" dirty="0">
              <a:latin typeface="Calibri"/>
              <a:cs typeface="Calibri"/>
            </a:endParaRPr>
          </a:p>
          <a:p>
            <a:pPr marL="12700" marR="1520190">
              <a:lnSpc>
                <a:spcPct val="151400"/>
              </a:lnSpc>
              <a:spcBef>
                <a:spcPts val="10"/>
              </a:spcBef>
            </a:pPr>
            <a:r>
              <a:rPr sz="1600" dirty="0">
                <a:latin typeface="Calibri"/>
                <a:cs typeface="Calibri"/>
              </a:rPr>
              <a:t>IF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sensor_input </a:t>
            </a:r>
            <a:r>
              <a:rPr sz="1600" dirty="0">
                <a:latin typeface="Calibri"/>
                <a:cs typeface="Calibri"/>
              </a:rPr>
              <a:t>==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"Person" </a:t>
            </a:r>
            <a:r>
              <a:rPr sz="1600" dirty="0">
                <a:latin typeface="Calibri"/>
                <a:cs typeface="Calibri"/>
              </a:rPr>
              <a:t>THEN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action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10" dirty="0">
                <a:latin typeface="Calibri"/>
                <a:cs typeface="Calibri"/>
              </a:rPr>
              <a:t> "Open" </a:t>
            </a:r>
            <a:r>
              <a:rPr sz="1600" dirty="0">
                <a:latin typeface="Calibri"/>
                <a:cs typeface="Calibri"/>
              </a:rPr>
              <a:t>ELSE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"Close"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1700" y="767232"/>
            <a:ext cx="6037580" cy="336823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5"/>
              </a:spcBef>
            </a:pPr>
            <a:endParaRPr sz="1600" dirty="0">
              <a:latin typeface="Calibri"/>
              <a:cs typeface="Calibri"/>
            </a:endParaRPr>
          </a:p>
          <a:p>
            <a:pPr marL="211454" indent="-198755">
              <a:lnSpc>
                <a:spcPct val="100000"/>
              </a:lnSpc>
              <a:buAutoNum type="arabicPeriod" startAt="8"/>
              <a:tabLst>
                <a:tab pos="211454" algn="l"/>
              </a:tabLst>
            </a:pPr>
            <a:r>
              <a:rPr sz="1600" b="1" spc="-10" dirty="0">
                <a:latin typeface="Calibri"/>
                <a:cs typeface="Calibri"/>
              </a:rPr>
              <a:t>Implementation</a:t>
            </a:r>
            <a:endParaRPr sz="1600" b="1" dirty="0">
              <a:latin typeface="Calibri"/>
              <a:cs typeface="Calibri"/>
            </a:endParaRPr>
          </a:p>
          <a:p>
            <a:pPr marL="313055" lvl="1" indent="-300355">
              <a:lnSpc>
                <a:spcPct val="100000"/>
              </a:lnSpc>
              <a:spcBef>
                <a:spcPts val="994"/>
              </a:spcBef>
              <a:buAutoNum type="arabicPeriod"/>
              <a:tabLst>
                <a:tab pos="313055" algn="l"/>
              </a:tabLst>
            </a:pPr>
            <a:r>
              <a:rPr sz="1600" spc="-25" dirty="0">
                <a:latin typeface="Calibri"/>
                <a:cs typeface="Calibri"/>
              </a:rPr>
              <a:t>Tools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Technologies</a:t>
            </a:r>
            <a:endParaRPr sz="1600" dirty="0">
              <a:latin typeface="Calibri"/>
              <a:cs typeface="Calibri"/>
            </a:endParaRPr>
          </a:p>
          <a:p>
            <a:pPr marL="469900" lvl="2" indent="-457200">
              <a:lnSpc>
                <a:spcPct val="100000"/>
              </a:lnSpc>
              <a:spcBef>
                <a:spcPts val="985"/>
              </a:spcBef>
              <a:buChar char="•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Language: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Python</a:t>
            </a:r>
            <a:endParaRPr sz="1600" dirty="0">
              <a:latin typeface="Calibri"/>
              <a:cs typeface="Calibri"/>
            </a:endParaRPr>
          </a:p>
          <a:p>
            <a:pPr marL="469900" lvl="2" indent="-457200">
              <a:lnSpc>
                <a:spcPct val="100000"/>
              </a:lnSpc>
              <a:spcBef>
                <a:spcPts val="985"/>
              </a:spcBef>
              <a:buChar char="•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IDE: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Jupyter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Notebook</a:t>
            </a:r>
            <a:endParaRPr sz="1600" dirty="0">
              <a:latin typeface="Calibri"/>
              <a:cs typeface="Calibri"/>
            </a:endParaRPr>
          </a:p>
          <a:p>
            <a:pPr marL="469900" lvl="2" indent="-457200">
              <a:lnSpc>
                <a:spcPct val="100000"/>
              </a:lnSpc>
              <a:spcBef>
                <a:spcPts val="994"/>
              </a:spcBef>
              <a:buChar char="•"/>
              <a:tabLst>
                <a:tab pos="469900" algn="l"/>
              </a:tabLst>
            </a:pPr>
            <a:r>
              <a:rPr sz="1600" spc="-10" dirty="0">
                <a:latin typeface="Calibri"/>
                <a:cs typeface="Calibri"/>
              </a:rPr>
              <a:t>Libraries:</a:t>
            </a:r>
            <a:endParaRPr sz="16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990"/>
              </a:spcBef>
              <a:buChar char="o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matplotlib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–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visualization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door</a:t>
            </a:r>
            <a:endParaRPr sz="16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980"/>
              </a:spcBef>
              <a:buChar char="o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time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–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animation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delay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767232"/>
            <a:ext cx="3606800" cy="56161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25145">
              <a:lnSpc>
                <a:spcPct val="151300"/>
              </a:lnSpc>
              <a:spcBef>
                <a:spcPts val="100"/>
              </a:spcBef>
            </a:pPr>
            <a:r>
              <a:rPr sz="1600" b="1" dirty="0">
                <a:latin typeface="Calibri"/>
                <a:cs typeface="Calibri"/>
              </a:rPr>
              <a:t>8.2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Simple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Reflex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Door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Agent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(Code)</a:t>
            </a:r>
            <a:endParaRPr lang="en-IN" sz="1600" b="1" spc="-10" dirty="0">
              <a:latin typeface="Calibri"/>
              <a:cs typeface="Calibri"/>
            </a:endParaRPr>
          </a:p>
          <a:p>
            <a:pPr marL="12700" marR="525145">
              <a:lnSpc>
                <a:spcPct val="151300"/>
              </a:lnSpc>
              <a:spcBef>
                <a:spcPts val="100"/>
              </a:spcBef>
            </a:pPr>
            <a:r>
              <a:rPr sz="1600" b="1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class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SimpleReflexDoorAgent:</a:t>
            </a:r>
            <a:endParaRPr sz="1600" dirty="0">
              <a:latin typeface="Calibri"/>
              <a:cs typeface="Calibri"/>
            </a:endParaRPr>
          </a:p>
          <a:p>
            <a:pPr marL="379730" marR="833755" indent="-184785">
              <a:lnSpc>
                <a:spcPct val="151200"/>
              </a:lnSpc>
              <a:spcBef>
                <a:spcPts val="10"/>
              </a:spcBef>
            </a:pPr>
            <a:r>
              <a:rPr sz="1600" dirty="0">
                <a:latin typeface="Calibri"/>
                <a:cs typeface="Calibri"/>
              </a:rPr>
              <a:t>def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decide(self,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sensor_input): </a:t>
            </a:r>
            <a:r>
              <a:rPr sz="1600" spc="-25" dirty="0">
                <a:latin typeface="Calibri"/>
                <a:cs typeface="Calibri"/>
              </a:rPr>
              <a:t>"""</a:t>
            </a:r>
            <a:endParaRPr sz="1600" dirty="0">
              <a:latin typeface="Calibri"/>
              <a:cs typeface="Calibri"/>
            </a:endParaRPr>
          </a:p>
          <a:p>
            <a:pPr marL="378460" marR="5080">
              <a:lnSpc>
                <a:spcPts val="2920"/>
              </a:lnSpc>
              <a:spcBef>
                <a:spcPts val="250"/>
              </a:spcBef>
            </a:pPr>
            <a:r>
              <a:rPr sz="1600" dirty="0">
                <a:latin typeface="Calibri"/>
                <a:cs typeface="Calibri"/>
              </a:rPr>
              <a:t>sensor_input: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"Person"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"NoPerson" </a:t>
            </a:r>
            <a:r>
              <a:rPr sz="1600" dirty="0">
                <a:latin typeface="Calibri"/>
                <a:cs typeface="Calibri"/>
              </a:rPr>
              <a:t>returns: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"Open"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"Close"</a:t>
            </a:r>
            <a:endParaRPr sz="1600" dirty="0">
              <a:latin typeface="Calibri"/>
              <a:cs typeface="Calibri"/>
            </a:endParaRPr>
          </a:p>
          <a:p>
            <a:pPr marL="379730">
              <a:lnSpc>
                <a:spcPct val="100000"/>
              </a:lnSpc>
              <a:spcBef>
                <a:spcPts val="720"/>
              </a:spcBef>
            </a:pPr>
            <a:r>
              <a:rPr sz="1600" spc="-25" dirty="0">
                <a:latin typeface="Calibri"/>
                <a:cs typeface="Calibri"/>
              </a:rPr>
              <a:t>"""</a:t>
            </a:r>
            <a:endParaRPr sz="1600" dirty="0">
              <a:latin typeface="Calibri"/>
              <a:cs typeface="Calibri"/>
            </a:endParaRPr>
          </a:p>
          <a:p>
            <a:pPr marL="562610" marR="835660" indent="-184785">
              <a:lnSpc>
                <a:spcPts val="2910"/>
              </a:lnSpc>
              <a:spcBef>
                <a:spcPts val="254"/>
              </a:spcBef>
            </a:pPr>
            <a:r>
              <a:rPr sz="1600" dirty="0">
                <a:latin typeface="Calibri"/>
                <a:cs typeface="Calibri"/>
              </a:rPr>
              <a:t>if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sensor_input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==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"Person": </a:t>
            </a:r>
            <a:r>
              <a:rPr sz="1600" dirty="0">
                <a:latin typeface="Calibri"/>
                <a:cs typeface="Calibri"/>
              </a:rPr>
              <a:t>return</a:t>
            </a:r>
            <a:r>
              <a:rPr sz="1600" spc="-9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"Open"</a:t>
            </a:r>
            <a:endParaRPr sz="1600" dirty="0">
              <a:latin typeface="Calibri"/>
              <a:cs typeface="Calibri"/>
            </a:endParaRPr>
          </a:p>
          <a:p>
            <a:pPr marL="379730">
              <a:lnSpc>
                <a:spcPct val="100000"/>
              </a:lnSpc>
              <a:spcBef>
                <a:spcPts val="730"/>
              </a:spcBef>
            </a:pPr>
            <a:r>
              <a:rPr sz="1600" spc="-10" dirty="0">
                <a:latin typeface="Calibri"/>
                <a:cs typeface="Calibri"/>
              </a:rPr>
              <a:t>else:</a:t>
            </a:r>
            <a:endParaRPr sz="1600" dirty="0">
              <a:latin typeface="Calibri"/>
              <a:cs typeface="Calibri"/>
            </a:endParaRPr>
          </a:p>
          <a:p>
            <a:pPr marL="12700" marR="1788160" indent="549910">
              <a:lnSpc>
                <a:spcPct val="151200"/>
              </a:lnSpc>
            </a:pPr>
            <a:r>
              <a:rPr sz="1600" dirty="0">
                <a:latin typeface="Calibri"/>
                <a:cs typeface="Calibri"/>
              </a:rPr>
              <a:t>return</a:t>
            </a:r>
            <a:r>
              <a:rPr sz="1600" spc="-9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"Close" Explanation:</a:t>
            </a:r>
            <a:endParaRPr sz="16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994"/>
              </a:spcBef>
              <a:buChar char="•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method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decide.</a:t>
            </a:r>
            <a:endParaRPr sz="16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990"/>
              </a:spcBef>
              <a:buChar char="•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It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checks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sensor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input: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  <a:tabLst>
                <a:tab pos="469900" algn="l"/>
              </a:tabLst>
            </a:pPr>
            <a:r>
              <a:rPr sz="1600" spc="-50" dirty="0">
                <a:latin typeface="Calibri"/>
                <a:cs typeface="Calibri"/>
              </a:rPr>
              <a:t>o</a:t>
            </a:r>
            <a:r>
              <a:rPr sz="1600" dirty="0">
                <a:latin typeface="Calibri"/>
                <a:cs typeface="Calibri"/>
              </a:rPr>
              <a:t>	If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"Person"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→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returns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"Open".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92810"/>
            <a:ext cx="29159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900" algn="l"/>
              </a:tabLst>
            </a:pPr>
            <a:r>
              <a:rPr sz="1600" spc="-50" dirty="0">
                <a:latin typeface="Calibri"/>
                <a:cs typeface="Calibri"/>
              </a:rPr>
              <a:t>o</a:t>
            </a:r>
            <a:r>
              <a:rPr sz="1600" dirty="0">
                <a:latin typeface="Calibri"/>
                <a:cs typeface="Calibri"/>
              </a:rPr>
              <a:t>	Otherwise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→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returns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"Close".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134516"/>
            <a:ext cx="2915920" cy="18664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2075">
              <a:lnSpc>
                <a:spcPct val="151900"/>
              </a:lnSpc>
              <a:spcBef>
                <a:spcPts val="100"/>
              </a:spcBef>
            </a:pPr>
            <a:r>
              <a:rPr sz="1600" b="1" dirty="0">
                <a:latin typeface="Calibri"/>
                <a:cs typeface="Calibri"/>
              </a:rPr>
              <a:t>8.3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Door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Environment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(Code) </a:t>
            </a:r>
            <a:endParaRPr lang="en-IN" sz="1600" b="1" spc="-10" dirty="0">
              <a:latin typeface="Calibri"/>
              <a:cs typeface="Calibri"/>
            </a:endParaRPr>
          </a:p>
          <a:p>
            <a:pPr marL="12700" marR="92075">
              <a:lnSpc>
                <a:spcPct val="1519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class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DoorEnvironment:</a:t>
            </a:r>
            <a:endParaRPr sz="1600" dirty="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  <a:spcBef>
                <a:spcPts val="985"/>
              </a:spcBef>
              <a:tabLst>
                <a:tab pos="710565" algn="l"/>
                <a:tab pos="1182370" algn="l"/>
              </a:tabLst>
            </a:pPr>
            <a:r>
              <a:rPr sz="1600" dirty="0">
                <a:latin typeface="Calibri"/>
                <a:cs typeface="Calibri"/>
              </a:rPr>
              <a:t>def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600" spc="-20" dirty="0">
                <a:latin typeface="Calibri"/>
                <a:cs typeface="Calibri"/>
              </a:rPr>
              <a:t>init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600" spc="-10" dirty="0">
                <a:latin typeface="Calibri"/>
                <a:cs typeface="Calibri"/>
              </a:rPr>
              <a:t>(self):</a:t>
            </a:r>
            <a:endParaRPr sz="1600" dirty="0">
              <a:latin typeface="Calibri"/>
              <a:cs typeface="Calibri"/>
            </a:endParaRPr>
          </a:p>
          <a:p>
            <a:pPr marL="378460" marR="5080">
              <a:lnSpc>
                <a:spcPts val="2920"/>
              </a:lnSpc>
              <a:spcBef>
                <a:spcPts val="80"/>
              </a:spcBef>
            </a:pPr>
            <a:r>
              <a:rPr sz="1600" spc="-20" dirty="0">
                <a:latin typeface="Calibri"/>
                <a:cs typeface="Calibri"/>
              </a:rPr>
              <a:t>self.door_state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"Closed" self.sensor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"NoPerson"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25920" y="2242845"/>
            <a:ext cx="2132965" cy="76644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095"/>
              </a:spcBef>
            </a:pPr>
            <a:r>
              <a:rPr sz="1600" dirty="0">
                <a:latin typeface="Calibri"/>
                <a:cs typeface="Calibri"/>
              </a:rPr>
              <a:t>#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"Open"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"Closed"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600" dirty="0">
                <a:latin typeface="Calibri"/>
                <a:cs typeface="Calibri"/>
              </a:rPr>
              <a:t>#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"Person"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"NoPerson"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3352063"/>
            <a:ext cx="5986145" cy="2980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marR="3825240" indent="-182880">
              <a:lnSpc>
                <a:spcPct val="1514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def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update(self,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action): </a:t>
            </a:r>
            <a:r>
              <a:rPr sz="1600" dirty="0">
                <a:latin typeface="Calibri"/>
                <a:cs typeface="Calibri"/>
              </a:rPr>
              <a:t>if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action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==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"Open":</a:t>
            </a:r>
            <a:endParaRPr sz="1600" dirty="0">
              <a:latin typeface="Calibri"/>
              <a:cs typeface="Calibri"/>
            </a:endParaRPr>
          </a:p>
          <a:p>
            <a:pPr marL="379730" marR="3384550" indent="182880">
              <a:lnSpc>
                <a:spcPct val="151200"/>
              </a:lnSpc>
              <a:spcBef>
                <a:spcPts val="10"/>
              </a:spcBef>
            </a:pPr>
            <a:r>
              <a:rPr sz="1600" spc="-20" dirty="0">
                <a:latin typeface="Calibri"/>
                <a:cs typeface="Calibri"/>
              </a:rPr>
              <a:t>self.door_state</a:t>
            </a:r>
            <a:r>
              <a:rPr sz="1600" dirty="0">
                <a:latin typeface="Calibri"/>
                <a:cs typeface="Calibri"/>
              </a:rPr>
              <a:t> =</a:t>
            </a:r>
            <a:r>
              <a:rPr sz="1600" spc="-10" dirty="0">
                <a:latin typeface="Calibri"/>
                <a:cs typeface="Calibri"/>
              </a:rPr>
              <a:t> "Open" else:</a:t>
            </a:r>
            <a:endParaRPr sz="1600" dirty="0">
              <a:latin typeface="Calibri"/>
              <a:cs typeface="Calibri"/>
            </a:endParaRPr>
          </a:p>
          <a:p>
            <a:pPr marL="12700" marR="3285490" indent="549910">
              <a:lnSpc>
                <a:spcPts val="2920"/>
              </a:lnSpc>
              <a:spcBef>
                <a:spcPts val="250"/>
              </a:spcBef>
            </a:pPr>
            <a:r>
              <a:rPr sz="1600" spc="-20" dirty="0">
                <a:latin typeface="Calibri"/>
                <a:cs typeface="Calibri"/>
              </a:rPr>
              <a:t>self.door_state</a:t>
            </a:r>
            <a:r>
              <a:rPr sz="1600" dirty="0">
                <a:latin typeface="Calibri"/>
                <a:cs typeface="Calibri"/>
              </a:rPr>
              <a:t> =</a:t>
            </a:r>
            <a:r>
              <a:rPr sz="1600" spc="-10" dirty="0">
                <a:latin typeface="Calibri"/>
                <a:cs typeface="Calibri"/>
              </a:rPr>
              <a:t> "Closed" </a:t>
            </a:r>
            <a:r>
              <a:rPr sz="1600" b="1" spc="-10" dirty="0">
                <a:latin typeface="Calibri"/>
                <a:cs typeface="Calibri"/>
              </a:rPr>
              <a:t>Explanation:</a:t>
            </a:r>
            <a:endParaRPr sz="1600" b="1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720"/>
              </a:spcBef>
              <a:buChar char="•"/>
              <a:tabLst>
                <a:tab pos="469900" algn="l"/>
              </a:tabLst>
            </a:pPr>
            <a:r>
              <a:rPr sz="1600" spc="-10" dirty="0">
                <a:latin typeface="Calibri"/>
                <a:cs typeface="Calibri"/>
              </a:rPr>
              <a:t>door_state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represents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current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state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door.</a:t>
            </a:r>
            <a:endParaRPr sz="16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980"/>
              </a:spcBef>
              <a:buChar char="•"/>
              <a:tabLst>
                <a:tab pos="469900" algn="l"/>
              </a:tabLst>
            </a:pPr>
            <a:r>
              <a:rPr sz="1600" spc="-10" dirty="0">
                <a:latin typeface="Calibri"/>
                <a:cs typeface="Calibri"/>
              </a:rPr>
              <a:t>update(action)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changes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state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agent’s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action.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767232"/>
            <a:ext cx="6609080" cy="556514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1600" dirty="0">
                <a:latin typeface="Calibri"/>
                <a:cs typeface="Calibri"/>
              </a:rPr>
              <a:t>8.4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55" dirty="0">
                <a:latin typeface="Calibri"/>
                <a:cs typeface="Calibri"/>
              </a:rPr>
              <a:t>Text-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Simulation</a:t>
            </a:r>
            <a:endParaRPr sz="1600">
              <a:latin typeface="Calibri"/>
              <a:cs typeface="Calibri"/>
            </a:endParaRPr>
          </a:p>
          <a:p>
            <a:pPr marL="12700" marR="3856354">
              <a:lnSpc>
                <a:spcPts val="2920"/>
              </a:lnSpc>
              <a:spcBef>
                <a:spcPts val="245"/>
              </a:spcBef>
            </a:pP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SimpleReflexDoorAgent() </a:t>
            </a:r>
            <a:r>
              <a:rPr sz="1600" dirty="0">
                <a:latin typeface="Calibri"/>
                <a:cs typeface="Calibri"/>
              </a:rPr>
              <a:t>env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DoorEnvironment()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70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inputs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["NoPerson",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"Person",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"Person",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"NoPerson",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"NoPerson"]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1600">
              <a:latin typeface="Calibri"/>
              <a:cs typeface="Calibri"/>
            </a:endParaRPr>
          </a:p>
          <a:p>
            <a:pPr marL="195580" marR="2792730" indent="-183515">
              <a:lnSpc>
                <a:spcPct val="151300"/>
              </a:lnSpc>
              <a:spcBef>
                <a:spcPts val="5"/>
              </a:spcBef>
            </a:pPr>
            <a:r>
              <a:rPr sz="1600" dirty="0">
                <a:latin typeface="Calibri"/>
                <a:cs typeface="Calibri"/>
              </a:rPr>
              <a:t>for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step,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sensor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enumerate(inputs,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start=1): </a:t>
            </a:r>
            <a:r>
              <a:rPr sz="1600" dirty="0">
                <a:latin typeface="Calibri"/>
                <a:cs typeface="Calibri"/>
              </a:rPr>
              <a:t>action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agent.decide(sensor) env.update(action)</a:t>
            </a:r>
            <a:endParaRPr sz="1600">
              <a:latin typeface="Calibri"/>
              <a:cs typeface="Calibri"/>
            </a:endParaRPr>
          </a:p>
          <a:p>
            <a:pPr marL="12700" marR="5080" indent="182880">
              <a:lnSpc>
                <a:spcPct val="151200"/>
              </a:lnSpc>
              <a:spcBef>
                <a:spcPts val="10"/>
              </a:spcBef>
            </a:pPr>
            <a:r>
              <a:rPr sz="1600" spc="-10" dirty="0">
                <a:latin typeface="Calibri"/>
                <a:cs typeface="Calibri"/>
              </a:rPr>
              <a:t>print(f"Step</a:t>
            </a:r>
            <a:r>
              <a:rPr sz="1600" dirty="0">
                <a:latin typeface="Calibri"/>
                <a:cs typeface="Calibri"/>
              </a:rPr>
              <a:t> {step}: </a:t>
            </a:r>
            <a:r>
              <a:rPr sz="1600" spc="-10" dirty="0">
                <a:latin typeface="Calibri"/>
                <a:cs typeface="Calibri"/>
              </a:rPr>
              <a:t>Sensor={sensor},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Action={action},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Door={env.door_state}") </a:t>
            </a:r>
            <a:r>
              <a:rPr sz="1600" dirty="0">
                <a:latin typeface="Calibri"/>
                <a:cs typeface="Calibri"/>
              </a:rPr>
              <a:t>Sample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output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(you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paste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screenshot):</a:t>
            </a:r>
            <a:endParaRPr sz="1600">
              <a:latin typeface="Calibri"/>
              <a:cs typeface="Calibri"/>
            </a:endParaRPr>
          </a:p>
          <a:p>
            <a:pPr marL="12700" marR="2185670">
              <a:lnSpc>
                <a:spcPts val="2920"/>
              </a:lnSpc>
              <a:spcBef>
                <a:spcPts val="250"/>
              </a:spcBef>
            </a:pPr>
            <a:r>
              <a:rPr sz="1600" dirty="0">
                <a:latin typeface="Calibri"/>
                <a:cs typeface="Calibri"/>
              </a:rPr>
              <a:t>Step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1: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Sensor=NoPerson,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Action=Close,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Door=Closed </a:t>
            </a:r>
            <a:r>
              <a:rPr sz="1600" dirty="0">
                <a:latin typeface="Calibri"/>
                <a:cs typeface="Calibri"/>
              </a:rPr>
              <a:t>Step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2: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Sensor=Person,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Action=Open,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Door=Open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600" dirty="0">
                <a:latin typeface="Calibri"/>
                <a:cs typeface="Calibri"/>
              </a:rPr>
              <a:t>Step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3: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Sensor=Person,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Action=Open,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Door=Open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600" dirty="0">
                <a:latin typeface="Calibri"/>
                <a:cs typeface="Calibri"/>
              </a:rPr>
              <a:t>Step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4: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Sensor=NoPerson,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Action=Close,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Door=Closed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767232"/>
            <a:ext cx="5167630" cy="556514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1600" dirty="0">
                <a:latin typeface="Calibri"/>
                <a:cs typeface="Calibri"/>
              </a:rPr>
              <a:t>Step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5: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Sensor=NoPerson,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Action=Close,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Door=Closed</a:t>
            </a:r>
            <a:endParaRPr sz="1600">
              <a:latin typeface="Calibri"/>
              <a:cs typeface="Calibri"/>
            </a:endParaRPr>
          </a:p>
          <a:p>
            <a:pPr marL="12700" marR="1946910">
              <a:lnSpc>
                <a:spcPts val="2920"/>
              </a:lnSpc>
              <a:spcBef>
                <a:spcPts val="245"/>
              </a:spcBef>
            </a:pPr>
            <a:r>
              <a:rPr sz="1600" dirty="0">
                <a:latin typeface="Calibri"/>
                <a:cs typeface="Calibri"/>
              </a:rPr>
              <a:t>8.5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Visual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Simulation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(Door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Animation) Imports: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1600" dirty="0">
                <a:latin typeface="Calibri"/>
                <a:cs typeface="Calibri"/>
              </a:rPr>
              <a:t>import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matplotlib.pyplot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plt</a:t>
            </a:r>
            <a:endParaRPr sz="1600">
              <a:latin typeface="Calibri"/>
              <a:cs typeface="Calibri"/>
            </a:endParaRPr>
          </a:p>
          <a:p>
            <a:pPr marL="12700" marR="1720850">
              <a:lnSpc>
                <a:spcPts val="2920"/>
              </a:lnSpc>
              <a:spcBef>
                <a:spcPts val="254"/>
              </a:spcBef>
            </a:pPr>
            <a:r>
              <a:rPr sz="1600" dirty="0">
                <a:latin typeface="Calibri"/>
                <a:cs typeface="Calibri"/>
              </a:rPr>
              <a:t>from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IPython.display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import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clear_output </a:t>
            </a:r>
            <a:r>
              <a:rPr sz="1600" dirty="0">
                <a:latin typeface="Calibri"/>
                <a:cs typeface="Calibri"/>
              </a:rPr>
              <a:t>import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time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1600" spc="-10" dirty="0">
                <a:latin typeface="Calibri"/>
                <a:cs typeface="Calibri"/>
              </a:rPr>
              <a:t>Drawing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function:</a:t>
            </a:r>
            <a:endParaRPr sz="1600">
              <a:latin typeface="Calibri"/>
              <a:cs typeface="Calibri"/>
            </a:endParaRPr>
          </a:p>
          <a:p>
            <a:pPr marL="195580" marR="5080" indent="-183515">
              <a:lnSpc>
                <a:spcPts val="2910"/>
              </a:lnSpc>
              <a:spcBef>
                <a:spcPts val="254"/>
              </a:spcBef>
            </a:pPr>
            <a:r>
              <a:rPr sz="1600" dirty="0">
                <a:latin typeface="Calibri"/>
                <a:cs typeface="Calibri"/>
              </a:rPr>
              <a:t>def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draw_door(state,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step=None,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sensor=None,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action=None): clear_output(wait=True)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80"/>
              </a:spcBef>
            </a:pPr>
            <a:endParaRPr sz="160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plt.figure(figsize=(4,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6))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45"/>
              </a:spcBef>
            </a:pPr>
            <a:endParaRPr sz="160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Calibri"/>
                <a:cs typeface="Calibri"/>
              </a:rPr>
              <a:t>#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frame</a:t>
            </a:r>
            <a:endParaRPr sz="160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  <a:spcBef>
                <a:spcPts val="985"/>
              </a:spcBef>
              <a:tabLst>
                <a:tab pos="2008505" algn="l"/>
              </a:tabLst>
            </a:pPr>
            <a:r>
              <a:rPr sz="1600" dirty="0">
                <a:latin typeface="Calibri"/>
                <a:cs typeface="Calibri"/>
              </a:rPr>
              <a:t>plt.plot([0,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1],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[0,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0])</a:t>
            </a:r>
            <a:r>
              <a:rPr sz="1600" dirty="0">
                <a:latin typeface="Calibri"/>
                <a:cs typeface="Calibri"/>
              </a:rPr>
              <a:t>	#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bottom</a:t>
            </a:r>
            <a:endParaRPr sz="160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  <a:spcBef>
                <a:spcPts val="985"/>
              </a:spcBef>
              <a:tabLst>
                <a:tab pos="2008505" algn="l"/>
              </a:tabLst>
            </a:pPr>
            <a:r>
              <a:rPr sz="1600" dirty="0">
                <a:latin typeface="Calibri"/>
                <a:cs typeface="Calibri"/>
              </a:rPr>
              <a:t>plt.plot([0,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1],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[5,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5])</a:t>
            </a:r>
            <a:r>
              <a:rPr sz="1600" dirty="0">
                <a:latin typeface="Calibri"/>
                <a:cs typeface="Calibri"/>
              </a:rPr>
              <a:t>	#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top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884" y="767232"/>
            <a:ext cx="4029075" cy="5196205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  <a:tabLst>
                <a:tab pos="1824989" algn="l"/>
              </a:tabLst>
            </a:pPr>
            <a:r>
              <a:rPr sz="1600" dirty="0">
                <a:latin typeface="Calibri"/>
                <a:cs typeface="Calibri"/>
              </a:rPr>
              <a:t>plt.plot([0,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0],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[0,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5])</a:t>
            </a:r>
            <a:r>
              <a:rPr sz="1600" dirty="0">
                <a:latin typeface="Calibri"/>
                <a:cs typeface="Calibri"/>
              </a:rPr>
              <a:t>	#</a:t>
            </a:r>
            <a:r>
              <a:rPr sz="1600" spc="-20" dirty="0">
                <a:latin typeface="Calibri"/>
                <a:cs typeface="Calibri"/>
              </a:rPr>
              <a:t> left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  <a:tabLst>
                <a:tab pos="1824989" algn="l"/>
              </a:tabLst>
            </a:pPr>
            <a:r>
              <a:rPr sz="1600" dirty="0">
                <a:latin typeface="Calibri"/>
                <a:cs typeface="Calibri"/>
              </a:rPr>
              <a:t>plt.plot([1,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1],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[0,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5])</a:t>
            </a:r>
            <a:r>
              <a:rPr sz="1600" dirty="0">
                <a:latin typeface="Calibri"/>
                <a:cs typeface="Calibri"/>
              </a:rPr>
              <a:t>	#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right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50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if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state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==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"Closed":</a:t>
            </a:r>
            <a:endParaRPr sz="1600">
              <a:latin typeface="Calibri"/>
              <a:cs typeface="Calibri"/>
            </a:endParaRPr>
          </a:p>
          <a:p>
            <a:pPr marL="194945" marR="667385">
              <a:lnSpc>
                <a:spcPts val="2920"/>
              </a:lnSpc>
              <a:spcBef>
                <a:spcPts val="250"/>
              </a:spcBef>
            </a:pPr>
            <a:r>
              <a:rPr sz="1600" spc="-10" dirty="0">
                <a:latin typeface="Calibri"/>
                <a:cs typeface="Calibri"/>
              </a:rPr>
              <a:t>plt.fill_between([0,</a:t>
            </a:r>
            <a:r>
              <a:rPr sz="1600" dirty="0">
                <a:latin typeface="Calibri"/>
                <a:cs typeface="Calibri"/>
              </a:rPr>
              <a:t> 1],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0,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5,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alpha=0.5) </a:t>
            </a:r>
            <a:r>
              <a:rPr sz="1600" dirty="0">
                <a:latin typeface="Calibri"/>
                <a:cs typeface="Calibri"/>
              </a:rPr>
              <a:t>title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"Door: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CLOSED"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1600" spc="-10" dirty="0">
                <a:latin typeface="Calibri"/>
                <a:cs typeface="Calibri"/>
              </a:rPr>
              <a:t>else:</a:t>
            </a:r>
            <a:endParaRPr sz="1600">
              <a:latin typeface="Calibri"/>
              <a:cs typeface="Calibri"/>
            </a:endParaRPr>
          </a:p>
          <a:p>
            <a:pPr marL="194945" marR="513080">
              <a:lnSpc>
                <a:spcPts val="2910"/>
              </a:lnSpc>
              <a:spcBef>
                <a:spcPts val="254"/>
              </a:spcBef>
            </a:pPr>
            <a:r>
              <a:rPr sz="1600" spc="-10" dirty="0">
                <a:latin typeface="Calibri"/>
                <a:cs typeface="Calibri"/>
              </a:rPr>
              <a:t>plt.fill_between([0.7,</a:t>
            </a:r>
            <a:r>
              <a:rPr sz="1600" dirty="0">
                <a:latin typeface="Calibri"/>
                <a:cs typeface="Calibri"/>
              </a:rPr>
              <a:t> 1],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0,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5,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alpha=0.5) </a:t>
            </a:r>
            <a:r>
              <a:rPr sz="1600" dirty="0">
                <a:latin typeface="Calibri"/>
                <a:cs typeface="Calibri"/>
              </a:rPr>
              <a:t>title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"Door: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OPEN"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80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Calibri"/>
                <a:cs typeface="Calibri"/>
              </a:rPr>
              <a:t>if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step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None:</a:t>
            </a:r>
            <a:endParaRPr sz="160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  <a:spcBef>
                <a:spcPts val="980"/>
              </a:spcBef>
            </a:pPr>
            <a:r>
              <a:rPr sz="1600" dirty="0">
                <a:latin typeface="Calibri"/>
                <a:cs typeface="Calibri"/>
              </a:rPr>
              <a:t>title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f"Step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{step}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|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{title}"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600" dirty="0">
                <a:latin typeface="Calibri"/>
                <a:cs typeface="Calibri"/>
              </a:rPr>
              <a:t>if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sensor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None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action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None:</a:t>
            </a:r>
            <a:endParaRPr sz="160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alibri"/>
                <a:cs typeface="Calibri"/>
              </a:rPr>
              <a:t>title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+=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f"\nSensor: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{sensor}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|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Action: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{action}"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767232"/>
            <a:ext cx="7653655" cy="556514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95580">
              <a:lnSpc>
                <a:spcPct val="100000"/>
              </a:lnSpc>
              <a:spcBef>
                <a:spcPts val="1085"/>
              </a:spcBef>
            </a:pPr>
            <a:r>
              <a:rPr sz="1600" spc="-10" dirty="0">
                <a:latin typeface="Calibri"/>
                <a:cs typeface="Calibri"/>
              </a:rPr>
              <a:t>plt.title(title)</a:t>
            </a:r>
            <a:endParaRPr sz="160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  <a:spcBef>
                <a:spcPts val="980"/>
              </a:spcBef>
            </a:pPr>
            <a:r>
              <a:rPr sz="1600" spc="-10" dirty="0">
                <a:latin typeface="Calibri"/>
                <a:cs typeface="Calibri"/>
              </a:rPr>
              <a:t>plt.xlim(-</a:t>
            </a:r>
            <a:r>
              <a:rPr sz="1600" dirty="0">
                <a:latin typeface="Calibri"/>
                <a:cs typeface="Calibri"/>
              </a:rPr>
              <a:t>0.5,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1.5)</a:t>
            </a:r>
            <a:endParaRPr sz="160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  <a:spcBef>
                <a:spcPts val="1000"/>
              </a:spcBef>
            </a:pPr>
            <a:r>
              <a:rPr sz="1600" spc="-10" dirty="0">
                <a:latin typeface="Calibri"/>
                <a:cs typeface="Calibri"/>
              </a:rPr>
              <a:t>plt.ylim(-</a:t>
            </a:r>
            <a:r>
              <a:rPr sz="1600" dirty="0">
                <a:latin typeface="Calibri"/>
                <a:cs typeface="Calibri"/>
              </a:rPr>
              <a:t>0.5,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5.5)</a:t>
            </a:r>
            <a:endParaRPr sz="1600">
              <a:latin typeface="Calibri"/>
              <a:cs typeface="Calibri"/>
            </a:endParaRPr>
          </a:p>
          <a:p>
            <a:pPr marL="195580" marR="6428740">
              <a:lnSpc>
                <a:spcPts val="2910"/>
              </a:lnSpc>
              <a:spcBef>
                <a:spcPts val="254"/>
              </a:spcBef>
            </a:pPr>
            <a:r>
              <a:rPr sz="1600" spc="-10" dirty="0">
                <a:latin typeface="Calibri"/>
                <a:cs typeface="Calibri"/>
              </a:rPr>
              <a:t>plt.axis('off') plt.show()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600" dirty="0">
                <a:latin typeface="Calibri"/>
                <a:cs typeface="Calibri"/>
              </a:rPr>
              <a:t>Simulation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animation:</a:t>
            </a:r>
            <a:endParaRPr sz="1600">
              <a:latin typeface="Calibri"/>
              <a:cs typeface="Calibri"/>
            </a:endParaRPr>
          </a:p>
          <a:p>
            <a:pPr marL="195580" marR="4716780" indent="-183515">
              <a:lnSpc>
                <a:spcPct val="151300"/>
              </a:lnSpc>
            </a:pPr>
            <a:r>
              <a:rPr sz="1600" dirty="0">
                <a:latin typeface="Calibri"/>
                <a:cs typeface="Calibri"/>
              </a:rPr>
              <a:t>def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run_visual_door_simulation():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SimpleReflexDoorAgent() </a:t>
            </a:r>
            <a:r>
              <a:rPr sz="1600" dirty="0">
                <a:latin typeface="Calibri"/>
                <a:cs typeface="Calibri"/>
              </a:rPr>
              <a:t>env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DoorEnvironment()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45"/>
              </a:spcBef>
            </a:pPr>
            <a:endParaRPr sz="160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inputs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["NoPerson",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"Person",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"Person",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"NoPerson",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"NoPerson",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"Person",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"NoPerson"]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1600">
              <a:latin typeface="Calibri"/>
              <a:cs typeface="Calibri"/>
            </a:endParaRPr>
          </a:p>
          <a:p>
            <a:pPr marL="379730" marR="3653154" indent="-184785">
              <a:lnSpc>
                <a:spcPct val="151400"/>
              </a:lnSpc>
            </a:pPr>
            <a:r>
              <a:rPr sz="1600" dirty="0">
                <a:latin typeface="Calibri"/>
                <a:cs typeface="Calibri"/>
              </a:rPr>
              <a:t>for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step,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sensor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enumerate(inputs,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start=1): </a:t>
            </a:r>
            <a:r>
              <a:rPr sz="1600" spc="-25" dirty="0">
                <a:latin typeface="Calibri"/>
                <a:cs typeface="Calibri"/>
              </a:rPr>
              <a:t>env.sensor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sensor</a:t>
            </a:r>
            <a:endParaRPr sz="1600">
              <a:latin typeface="Calibri"/>
              <a:cs typeface="Calibri"/>
            </a:endParaRPr>
          </a:p>
          <a:p>
            <a:pPr marL="37846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alibri"/>
                <a:cs typeface="Calibri"/>
              </a:rPr>
              <a:t>action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agent.decide(env.sensor)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4728872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1700" y="892810"/>
            <a:ext cx="8662035" cy="48827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973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env.update(action)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1600" dirty="0">
              <a:latin typeface="Calibri"/>
              <a:cs typeface="Calibri"/>
            </a:endParaRPr>
          </a:p>
          <a:p>
            <a:pPr marL="378460" marR="2627630">
              <a:lnSpc>
                <a:spcPct val="151200"/>
              </a:lnSpc>
              <a:spcBef>
                <a:spcPts val="5"/>
              </a:spcBef>
            </a:pPr>
            <a:r>
              <a:rPr sz="1600" spc="-20" dirty="0">
                <a:latin typeface="Calibri"/>
                <a:cs typeface="Calibri"/>
              </a:rPr>
              <a:t>draw_door(env.door_state,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step=step,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sensor=sensor,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action=action) time.sleep(0.8)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1600" dirty="0">
              <a:latin typeface="Calibri"/>
              <a:cs typeface="Calibri"/>
            </a:endParaRPr>
          </a:p>
          <a:p>
            <a:pPr marL="12700" marR="6146165" indent="182880">
              <a:lnSpc>
                <a:spcPct val="151300"/>
              </a:lnSpc>
              <a:spcBef>
                <a:spcPts val="5"/>
              </a:spcBef>
            </a:pPr>
            <a:r>
              <a:rPr sz="1600" spc="-10" dirty="0">
                <a:latin typeface="Calibri"/>
                <a:cs typeface="Calibri"/>
              </a:rPr>
              <a:t>print("Simulation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finished.") </a:t>
            </a:r>
            <a:r>
              <a:rPr sz="1600" b="1" dirty="0">
                <a:latin typeface="Calibri"/>
                <a:cs typeface="Calibri"/>
              </a:rPr>
              <a:t>Run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spc="-25" dirty="0">
                <a:latin typeface="Calibri"/>
                <a:cs typeface="Calibri"/>
              </a:rPr>
              <a:t>it:</a:t>
            </a:r>
            <a:endParaRPr sz="16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600" spc="-10" dirty="0" err="1">
                <a:latin typeface="Calibri"/>
                <a:cs typeface="Calibri"/>
              </a:rPr>
              <a:t>run_visual_door_simulation</a:t>
            </a:r>
            <a:r>
              <a:rPr sz="1600" spc="-10" dirty="0">
                <a:latin typeface="Calibri"/>
                <a:cs typeface="Calibri"/>
              </a:rPr>
              <a:t>()</a:t>
            </a:r>
            <a:endParaRPr lang="en-IN" sz="1600" spc="-1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endParaRPr sz="1600" dirty="0">
              <a:latin typeface="Calibri"/>
              <a:cs typeface="Calibri"/>
            </a:endParaRPr>
          </a:p>
          <a:p>
            <a:pPr marL="211454" indent="-198755">
              <a:lnSpc>
                <a:spcPct val="100000"/>
              </a:lnSpc>
              <a:spcBef>
                <a:spcPts val="5"/>
              </a:spcBef>
              <a:buAutoNum type="arabicPeriod" startAt="9"/>
              <a:tabLst>
                <a:tab pos="211454" algn="l"/>
              </a:tabLst>
            </a:pPr>
            <a:r>
              <a:rPr sz="1600" b="1" dirty="0">
                <a:latin typeface="Calibri"/>
                <a:cs typeface="Calibri"/>
              </a:rPr>
              <a:t>Results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and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Discussion</a:t>
            </a:r>
            <a:endParaRPr sz="1600" b="1" dirty="0">
              <a:latin typeface="Calibri"/>
              <a:cs typeface="Calibri"/>
            </a:endParaRPr>
          </a:p>
          <a:p>
            <a:pPr marL="12700" marR="333375">
              <a:lnSpc>
                <a:spcPct val="110200"/>
              </a:lnSpc>
              <a:spcBef>
                <a:spcPts val="785"/>
              </a:spcBef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simulation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results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show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Simple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Reflex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correctly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controls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sensor inputs:</a:t>
            </a:r>
            <a:endParaRPr sz="1600" dirty="0">
              <a:latin typeface="Calibri"/>
              <a:cs typeface="Calibri"/>
            </a:endParaRPr>
          </a:p>
          <a:p>
            <a:pPr marL="469900" lvl="1" indent="-457200">
              <a:lnSpc>
                <a:spcPct val="100000"/>
              </a:lnSpc>
              <a:spcBef>
                <a:spcPts val="985"/>
              </a:spcBef>
              <a:buChar char="•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When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input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"Person",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door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opens.</a:t>
            </a:r>
            <a:endParaRPr sz="1600" dirty="0">
              <a:latin typeface="Calibri"/>
              <a:cs typeface="Calibri"/>
            </a:endParaRPr>
          </a:p>
          <a:p>
            <a:pPr marL="469900" lvl="1" indent="-457200">
              <a:lnSpc>
                <a:spcPct val="100000"/>
              </a:lnSpc>
              <a:spcBef>
                <a:spcPts val="985"/>
              </a:spcBef>
              <a:buChar char="•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When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input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"NoPerson",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door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closes.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67816"/>
            <a:ext cx="8863330" cy="1937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9700"/>
              </a:lnSpc>
              <a:spcBef>
                <a:spcPts val="105"/>
              </a:spcBef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visual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simulation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clearly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demonstrates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changing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between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open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closed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states.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</a:t>
            </a:r>
            <a:r>
              <a:rPr sz="1600" spc="5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behavior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completely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current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sensor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input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without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memory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internal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state,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which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matches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definition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Simple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Reflex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Agent.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600" spc="-25" dirty="0">
                <a:latin typeface="Calibri"/>
                <a:cs typeface="Calibri"/>
              </a:rPr>
              <a:t>You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small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table: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  <a:tabLst>
                <a:tab pos="1384300" algn="l"/>
                <a:tab pos="2298700" algn="l"/>
              </a:tabLst>
            </a:pPr>
            <a:r>
              <a:rPr sz="1600" dirty="0">
                <a:latin typeface="Calibri"/>
                <a:cs typeface="Calibri"/>
              </a:rPr>
              <a:t>Step</a:t>
            </a:r>
            <a:r>
              <a:rPr sz="1600" spc="3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Sensor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10" dirty="0">
                <a:latin typeface="Calibri"/>
                <a:cs typeface="Calibri"/>
              </a:rPr>
              <a:t>Action</a:t>
            </a:r>
            <a:r>
              <a:rPr sz="1600" dirty="0">
                <a:latin typeface="Calibri"/>
                <a:cs typeface="Calibri"/>
              </a:rPr>
              <a:t>	Door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State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  <a:tabLst>
                <a:tab pos="469900" algn="l"/>
              </a:tabLst>
            </a:pPr>
            <a:r>
              <a:rPr sz="1600" spc="-50" dirty="0">
                <a:latin typeface="Calibri"/>
                <a:cs typeface="Calibri"/>
              </a:rPr>
              <a:t>1</a:t>
            </a:r>
            <a:r>
              <a:rPr sz="1600" dirty="0">
                <a:latin typeface="Calibri"/>
                <a:cs typeface="Calibri"/>
              </a:rPr>
              <a:t>	NoPerson</a:t>
            </a:r>
            <a:r>
              <a:rPr sz="1600" spc="4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CloseClosed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73554" y="2780817"/>
            <a:ext cx="930910" cy="76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1300"/>
              </a:lnSpc>
              <a:spcBef>
                <a:spcPts val="100"/>
              </a:spcBef>
            </a:pPr>
            <a:r>
              <a:rPr sz="1600" spc="-10" dirty="0">
                <a:latin typeface="Calibri"/>
                <a:cs typeface="Calibri"/>
              </a:rPr>
              <a:t>OpenOpen OpenOpen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2780817"/>
            <a:ext cx="2403475" cy="150114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85"/>
              </a:spcBef>
              <a:buAutoNum type="arabicPlain" startAt="2"/>
              <a:tabLst>
                <a:tab pos="469900" algn="l"/>
              </a:tabLst>
            </a:pPr>
            <a:r>
              <a:rPr sz="1600" spc="-10" dirty="0">
                <a:latin typeface="Calibri"/>
                <a:cs typeface="Calibri"/>
              </a:rPr>
              <a:t>Person</a:t>
            </a:r>
            <a:endParaRPr sz="16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980"/>
              </a:spcBef>
              <a:buAutoNum type="arabicPlain" startAt="2"/>
              <a:tabLst>
                <a:tab pos="469900" algn="l"/>
              </a:tabLst>
            </a:pPr>
            <a:r>
              <a:rPr sz="1600" spc="-10" dirty="0">
                <a:latin typeface="Calibri"/>
                <a:cs typeface="Calibri"/>
              </a:rPr>
              <a:t>Person</a:t>
            </a:r>
            <a:endParaRPr sz="16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985"/>
              </a:spcBef>
              <a:buAutoNum type="arabicPlain" startAt="2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NoPerson</a:t>
            </a:r>
            <a:r>
              <a:rPr sz="1600" spc="4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CloseClosed</a:t>
            </a:r>
            <a:endParaRPr sz="16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985"/>
              </a:spcBef>
              <a:buAutoNum type="arabicPlain" startAt="2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NoPerson</a:t>
            </a:r>
            <a:r>
              <a:rPr sz="1600" spc="4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CloseClosed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4628288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01700" y="4626635"/>
            <a:ext cx="8848090" cy="1566545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1600" b="1" dirty="0">
                <a:latin typeface="Calibri"/>
                <a:cs typeface="Calibri"/>
              </a:rPr>
              <a:t>10.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Conclusion</a:t>
            </a:r>
            <a:endParaRPr sz="1600" b="1" dirty="0">
              <a:latin typeface="Calibri"/>
              <a:cs typeface="Calibri"/>
            </a:endParaRPr>
          </a:p>
          <a:p>
            <a:pPr marL="12700" marR="5080">
              <a:lnSpc>
                <a:spcPct val="110100"/>
              </a:lnSpc>
              <a:spcBef>
                <a:spcPts val="790"/>
              </a:spcBef>
            </a:pPr>
            <a:r>
              <a:rPr sz="1600" dirty="0">
                <a:latin typeface="Calibri"/>
                <a:cs typeface="Calibri"/>
              </a:rPr>
              <a:t>In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project,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successfully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implemented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automatic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Simple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Reflex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Python.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simple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condition–action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rule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current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sensor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input.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project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helped</a:t>
            </a:r>
            <a:r>
              <a:rPr sz="1600" spc="-25" dirty="0">
                <a:latin typeface="Calibri"/>
                <a:cs typeface="Calibri"/>
              </a:rPr>
              <a:t> me </a:t>
            </a:r>
            <a:r>
              <a:rPr sz="1600" spc="-10" dirty="0">
                <a:latin typeface="Calibri"/>
                <a:cs typeface="Calibri"/>
              </a:rPr>
              <a:t>understand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basic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concepts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agents,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percepts,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actions,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Simple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Reflex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architecture.</a:t>
            </a:r>
            <a:r>
              <a:rPr sz="1600" spc="-25" dirty="0">
                <a:latin typeface="Calibri"/>
                <a:cs typeface="Calibri"/>
              </a:rPr>
              <a:t> The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600" dirty="0">
                <a:latin typeface="Calibri"/>
                <a:cs typeface="Calibri"/>
              </a:rPr>
              <a:t>visual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simulation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made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easy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understand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demonstrate.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4400" y="6539714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767232"/>
            <a:ext cx="6094095" cy="3075842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313690" indent="-300990">
              <a:lnSpc>
                <a:spcPct val="100000"/>
              </a:lnSpc>
              <a:spcBef>
                <a:spcPts val="1085"/>
              </a:spcBef>
              <a:buAutoNum type="arabicPeriod" startAt="11"/>
              <a:tabLst>
                <a:tab pos="313690" algn="l"/>
              </a:tabLst>
            </a:pPr>
            <a:r>
              <a:rPr sz="1600" b="1" dirty="0">
                <a:latin typeface="Calibri"/>
                <a:cs typeface="Calibri"/>
              </a:rPr>
              <a:t>Future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Scope</a:t>
            </a:r>
            <a:endParaRPr sz="1600" b="1" dirty="0">
              <a:latin typeface="Calibri"/>
              <a:cs typeface="Calibri"/>
            </a:endParaRPr>
          </a:p>
          <a:p>
            <a:pPr marL="469900" lvl="1" indent="-457200">
              <a:lnSpc>
                <a:spcPct val="100000"/>
              </a:lnSpc>
              <a:spcBef>
                <a:spcPts val="980"/>
              </a:spcBef>
              <a:buChar char="•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Add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multiple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sensors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(e.g.,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inside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10" dirty="0">
                <a:latin typeface="Calibri"/>
                <a:cs typeface="Calibri"/>
              </a:rPr>
              <a:t> outside).</a:t>
            </a:r>
            <a:endParaRPr sz="1600" dirty="0">
              <a:latin typeface="Calibri"/>
              <a:cs typeface="Calibri"/>
            </a:endParaRPr>
          </a:p>
          <a:p>
            <a:pPr marL="469900" lvl="1" indent="-457200">
              <a:lnSpc>
                <a:spcPct val="100000"/>
              </a:lnSpc>
              <a:spcBef>
                <a:spcPts val="1000"/>
              </a:spcBef>
              <a:buChar char="•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Add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(door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closes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after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delay).</a:t>
            </a:r>
            <a:endParaRPr sz="1600" dirty="0">
              <a:latin typeface="Calibri"/>
              <a:cs typeface="Calibri"/>
            </a:endParaRPr>
          </a:p>
          <a:p>
            <a:pPr marL="469900" lvl="1" indent="-457200">
              <a:lnSpc>
                <a:spcPct val="100000"/>
              </a:lnSpc>
              <a:spcBef>
                <a:spcPts val="980"/>
              </a:spcBef>
              <a:buChar char="•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Upgrade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Model-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memory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people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count.</a:t>
            </a:r>
            <a:endParaRPr sz="1600" dirty="0">
              <a:latin typeface="Calibri"/>
              <a:cs typeface="Calibri"/>
            </a:endParaRPr>
          </a:p>
          <a:p>
            <a:pPr marL="12700" marR="5080" lvl="1" indent="457200">
              <a:lnSpc>
                <a:spcPts val="2920"/>
              </a:lnSpc>
              <a:spcBef>
                <a:spcPts val="254"/>
              </a:spcBef>
              <a:buChar char="•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Add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safety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conditions,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like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stopping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object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between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door. </a:t>
            </a:r>
            <a:endParaRPr lang="en-IN" sz="1600" spc="-10" dirty="0">
              <a:latin typeface="Calibri"/>
              <a:cs typeface="Calibri"/>
            </a:endParaRPr>
          </a:p>
          <a:p>
            <a:pPr marL="12700" marR="5080" lvl="1">
              <a:lnSpc>
                <a:spcPts val="2920"/>
              </a:lnSpc>
              <a:spcBef>
                <a:spcPts val="254"/>
              </a:spcBef>
              <a:tabLst>
                <a:tab pos="469900" algn="l"/>
              </a:tabLst>
            </a:pPr>
            <a:endParaRPr lang="en-IN" sz="1600" dirty="0">
              <a:latin typeface="Calibri"/>
              <a:cs typeface="Calibri"/>
            </a:endParaRPr>
          </a:p>
          <a:p>
            <a:pPr marL="12700" marR="5080" lvl="1">
              <a:lnSpc>
                <a:spcPts val="2920"/>
              </a:lnSpc>
              <a:spcBef>
                <a:spcPts val="254"/>
              </a:spcBef>
              <a:tabLst>
                <a:tab pos="469900" algn="l"/>
              </a:tabLst>
            </a:pPr>
            <a:r>
              <a:rPr sz="1600" b="1" dirty="0">
                <a:latin typeface="Calibri"/>
                <a:cs typeface="Calibri"/>
              </a:rPr>
              <a:t>Model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2: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Model-</a:t>
            </a:r>
            <a:r>
              <a:rPr sz="1600" b="1" dirty="0">
                <a:latin typeface="Calibri"/>
                <a:cs typeface="Calibri"/>
              </a:rPr>
              <a:t>Based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Reflex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Agent</a:t>
            </a:r>
            <a:endParaRPr sz="16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1600" b="1" dirty="0">
                <a:latin typeface="Calibri"/>
                <a:cs typeface="Calibri"/>
              </a:rPr>
              <a:t>Application: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Smart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Home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Lighting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System</a:t>
            </a:r>
            <a:endParaRPr sz="1600" b="1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01700" y="2943225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01700" y="4264852"/>
            <a:ext cx="8842375" cy="210185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1600" b="1" dirty="0">
                <a:latin typeface="Calibri"/>
                <a:cs typeface="Calibri"/>
              </a:rPr>
              <a:t>2.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Abstract</a:t>
            </a:r>
            <a:endParaRPr sz="1600" b="1" dirty="0">
              <a:latin typeface="Calibri"/>
              <a:cs typeface="Calibri"/>
            </a:endParaRPr>
          </a:p>
          <a:p>
            <a:pPr marL="12700" marR="5080">
              <a:lnSpc>
                <a:spcPct val="109800"/>
              </a:lnSpc>
              <a:spcBef>
                <a:spcPts val="795"/>
              </a:spcBef>
            </a:pPr>
            <a:r>
              <a:rPr sz="1600" dirty="0">
                <a:latin typeface="Calibri"/>
                <a:cs typeface="Calibri"/>
              </a:rPr>
              <a:t>In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project,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implemented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Model-Based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Reflex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control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smart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home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lighting.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Each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room </a:t>
            </a:r>
            <a:r>
              <a:rPr sz="1600" dirty="0">
                <a:latin typeface="Calibri"/>
                <a:cs typeface="Calibri"/>
              </a:rPr>
              <a:t>contains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motion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sensor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light.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When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motion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detected,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turns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ON.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When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motion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stops,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internal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memory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keep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specified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duration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(hold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time)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before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switching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it </a:t>
            </a:r>
            <a:r>
              <a:rPr sz="1600" spc="-40" dirty="0">
                <a:latin typeface="Calibri"/>
                <a:cs typeface="Calibri"/>
              </a:rPr>
              <a:t>OFF.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prevents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switching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OFF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immediately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improves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comfort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energy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efficiency.</a:t>
            </a:r>
            <a:endParaRPr sz="1600" dirty="0">
              <a:latin typeface="Calibri"/>
              <a:cs typeface="Calibri"/>
            </a:endParaRPr>
          </a:p>
          <a:p>
            <a:pPr marL="12700" marR="368935">
              <a:lnSpc>
                <a:spcPct val="109400"/>
              </a:lnSpc>
              <a:spcBef>
                <a:spcPts val="10"/>
              </a:spcBef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implemented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Python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Jupyter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Notebook,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visual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simulation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Matplotlib </a:t>
            </a:r>
            <a:r>
              <a:rPr sz="1600" dirty="0">
                <a:latin typeface="Calibri"/>
                <a:cs typeface="Calibri"/>
              </a:rPr>
              <a:t>displays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state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occupancy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each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room.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4400" y="6539714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3952902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1700" y="767232"/>
            <a:ext cx="8753475" cy="5426075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211454" indent="-198755">
              <a:lnSpc>
                <a:spcPct val="100000"/>
              </a:lnSpc>
              <a:spcBef>
                <a:spcPts val="1085"/>
              </a:spcBef>
              <a:buAutoNum type="arabicPeriod" startAt="3"/>
              <a:tabLst>
                <a:tab pos="211454" algn="l"/>
              </a:tabLst>
            </a:pPr>
            <a:r>
              <a:rPr sz="1600" b="1" spc="-10" dirty="0">
                <a:latin typeface="Calibri"/>
                <a:cs typeface="Calibri"/>
              </a:rPr>
              <a:t>Introduction</a:t>
            </a:r>
            <a:endParaRPr sz="1600" b="1" dirty="0">
              <a:latin typeface="Calibri"/>
              <a:cs typeface="Calibri"/>
            </a:endParaRPr>
          </a:p>
          <a:p>
            <a:pPr marL="12700" marR="109220">
              <a:lnSpc>
                <a:spcPct val="110000"/>
              </a:lnSpc>
              <a:spcBef>
                <a:spcPts val="790"/>
              </a:spcBef>
            </a:pPr>
            <a:r>
              <a:rPr sz="1600" dirty="0">
                <a:latin typeface="Calibri"/>
                <a:cs typeface="Calibri"/>
              </a:rPr>
              <a:t>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Model-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Reflex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intelligent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current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percepts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along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stored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internal </a:t>
            </a:r>
            <a:r>
              <a:rPr sz="1600" dirty="0">
                <a:latin typeface="Calibri"/>
                <a:cs typeface="Calibri"/>
              </a:rPr>
              <a:t>memory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decide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actions.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makes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more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advanced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Simple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Reflex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which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only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reacts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to </a:t>
            </a:r>
            <a:r>
              <a:rPr sz="1600" spc="-10" dirty="0">
                <a:latin typeface="Calibri"/>
                <a:cs typeface="Calibri"/>
              </a:rPr>
              <a:t>current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inputs.</a:t>
            </a:r>
            <a:endParaRPr sz="1600" dirty="0">
              <a:latin typeface="Calibri"/>
              <a:cs typeface="Calibri"/>
            </a:endParaRPr>
          </a:p>
          <a:p>
            <a:pPr marL="12700" marR="5080">
              <a:lnSpc>
                <a:spcPct val="109700"/>
              </a:lnSpc>
              <a:spcBef>
                <a:spcPts val="800"/>
              </a:spcBef>
            </a:pPr>
            <a:r>
              <a:rPr sz="1600" dirty="0">
                <a:latin typeface="Calibri"/>
                <a:cs typeface="Calibri"/>
              </a:rPr>
              <a:t>In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project,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simulate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Smart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Home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Model-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Reflex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Agent.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home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is </a:t>
            </a:r>
            <a:r>
              <a:rPr sz="1600" spc="-10" dirty="0">
                <a:latin typeface="Calibri"/>
                <a:cs typeface="Calibri"/>
              </a:rPr>
              <a:t>represented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grid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rooms.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Each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room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sensor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detects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occupancy.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decides </a:t>
            </a:r>
            <a:r>
              <a:rPr sz="1600" dirty="0">
                <a:latin typeface="Calibri"/>
                <a:cs typeface="Calibri"/>
              </a:rPr>
              <a:t>whether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turn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motion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memory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last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room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occupied.</a:t>
            </a:r>
            <a:endParaRPr sz="1600" dirty="0">
              <a:latin typeface="Calibri"/>
              <a:cs typeface="Calibri"/>
            </a:endParaRPr>
          </a:p>
          <a:p>
            <a:pPr marL="12700" marR="217804">
              <a:lnSpc>
                <a:spcPct val="109400"/>
              </a:lnSpc>
              <a:spcBef>
                <a:spcPts val="815"/>
              </a:spcBef>
            </a:pPr>
            <a:r>
              <a:rPr sz="1600" dirty="0">
                <a:latin typeface="Calibri"/>
                <a:cs typeface="Calibri"/>
              </a:rPr>
              <a:t>This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inspired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real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smart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found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modern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homes,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malls,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offices,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hotels, </a:t>
            </a:r>
            <a:r>
              <a:rPr sz="1600" dirty="0">
                <a:latin typeface="Calibri"/>
                <a:cs typeface="Calibri"/>
              </a:rPr>
              <a:t>where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stay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some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even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after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motion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stops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avoid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discomfort.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50"/>
              </a:spcBef>
            </a:pPr>
            <a:endParaRPr sz="1600" dirty="0">
              <a:latin typeface="Calibri"/>
              <a:cs typeface="Calibri"/>
            </a:endParaRPr>
          </a:p>
          <a:p>
            <a:pPr marL="211454" indent="-198755">
              <a:lnSpc>
                <a:spcPct val="100000"/>
              </a:lnSpc>
              <a:buAutoNum type="arabicPeriod" startAt="4"/>
              <a:tabLst>
                <a:tab pos="211454" algn="l"/>
              </a:tabLst>
            </a:pPr>
            <a:r>
              <a:rPr sz="1600" b="1" dirty="0">
                <a:latin typeface="Calibri"/>
                <a:cs typeface="Calibri"/>
              </a:rPr>
              <a:t>Problem</a:t>
            </a:r>
            <a:r>
              <a:rPr sz="1600" b="1" spc="-8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Statement</a:t>
            </a:r>
            <a:endParaRPr sz="16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00" spc="-75" dirty="0">
                <a:latin typeface="Calibri"/>
                <a:cs typeface="Calibri"/>
              </a:rPr>
              <a:t>To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design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implement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Smart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Home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Control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Model-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Reflex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that: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spc="-20" dirty="0">
                <a:latin typeface="Calibri"/>
                <a:cs typeface="Calibri"/>
              </a:rPr>
              <a:t>Turns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when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motion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detected.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94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Keeps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short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even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after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person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leaves.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spc="-20" dirty="0">
                <a:latin typeface="Calibri"/>
                <a:cs typeface="Calibri"/>
              </a:rPr>
              <a:t>Turns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when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room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been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empty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long.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Uses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internal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memory</a:t>
            </a:r>
            <a:r>
              <a:rPr sz="1600" spc="-20" dirty="0">
                <a:latin typeface="Calibri"/>
                <a:cs typeface="Calibri"/>
              </a:rPr>
              <a:t> (last-</a:t>
            </a:r>
            <a:r>
              <a:rPr sz="1600" dirty="0">
                <a:latin typeface="Calibri"/>
                <a:cs typeface="Calibri"/>
              </a:rPr>
              <a:t>seen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timestamps)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decision-making.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00" y="6539714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3353970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1700" y="767232"/>
            <a:ext cx="8768715" cy="583311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211454" indent="-198755">
              <a:lnSpc>
                <a:spcPct val="100000"/>
              </a:lnSpc>
              <a:spcBef>
                <a:spcPts val="1085"/>
              </a:spcBef>
              <a:buAutoNum type="arabicPeriod" startAt="5"/>
              <a:tabLst>
                <a:tab pos="211454" algn="l"/>
              </a:tabLst>
            </a:pPr>
            <a:r>
              <a:rPr sz="1600" spc="-10" dirty="0">
                <a:latin typeface="Calibri"/>
                <a:cs typeface="Calibri"/>
              </a:rPr>
              <a:t>Objectives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80"/>
              </a:spcBef>
              <a:buChar char="•"/>
              <a:tabLst>
                <a:tab pos="158750" algn="l"/>
              </a:tabLst>
            </a:pPr>
            <a:r>
              <a:rPr sz="1600" spc="-80" dirty="0">
                <a:latin typeface="Calibri"/>
                <a:cs typeface="Calibri"/>
              </a:rPr>
              <a:t>To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understand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implement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Model-Based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Reflex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Agent.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1000"/>
              </a:spcBef>
              <a:buChar char="•"/>
              <a:tabLst>
                <a:tab pos="158750" algn="l"/>
              </a:tabLst>
            </a:pPr>
            <a:r>
              <a:rPr sz="1600" spc="-80" dirty="0">
                <a:latin typeface="Calibri"/>
                <a:cs typeface="Calibri"/>
              </a:rPr>
              <a:t>To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simulate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smart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home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environment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containing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rooms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sensors.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80"/>
              </a:spcBef>
              <a:buChar char="•"/>
              <a:tabLst>
                <a:tab pos="158750" algn="l"/>
              </a:tabLst>
            </a:pPr>
            <a:r>
              <a:rPr sz="1600" spc="-65" dirty="0">
                <a:latin typeface="Calibri"/>
                <a:cs typeface="Calibri"/>
              </a:rPr>
              <a:t>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maintain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internal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room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occupancy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memory.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90"/>
              </a:spcBef>
              <a:buChar char="•"/>
              <a:tabLst>
                <a:tab pos="158750" algn="l"/>
              </a:tabLst>
            </a:pPr>
            <a:r>
              <a:rPr sz="1600" spc="-80" dirty="0">
                <a:latin typeface="Calibri"/>
                <a:cs typeface="Calibri"/>
              </a:rPr>
              <a:t>To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implement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practical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Python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simulation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visualization.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94"/>
              </a:spcBef>
              <a:buChar char="•"/>
              <a:tabLst>
                <a:tab pos="158750" algn="l"/>
              </a:tabLst>
            </a:pPr>
            <a:r>
              <a:rPr sz="1600" spc="-80" dirty="0">
                <a:latin typeface="Calibri"/>
                <a:cs typeface="Calibri"/>
              </a:rPr>
              <a:t>To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demonstrate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advantages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model-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behavior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over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simple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reflex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actions.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5"/>
              </a:spcBef>
            </a:pPr>
            <a:endParaRPr sz="1600" dirty="0">
              <a:latin typeface="Calibri"/>
              <a:cs typeface="Calibri"/>
            </a:endParaRPr>
          </a:p>
          <a:p>
            <a:pPr marL="211454" indent="-198755">
              <a:lnSpc>
                <a:spcPct val="100000"/>
              </a:lnSpc>
              <a:buAutoNum type="arabicPeriod" startAt="6"/>
              <a:tabLst>
                <a:tab pos="211454" algn="l"/>
              </a:tabLst>
            </a:pPr>
            <a:r>
              <a:rPr sz="1600" b="1" spc="-10" dirty="0">
                <a:latin typeface="Calibri"/>
                <a:cs typeface="Calibri"/>
              </a:rPr>
              <a:t>Literature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/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Theory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Background</a:t>
            </a:r>
            <a:endParaRPr sz="1600" b="1" dirty="0">
              <a:latin typeface="Calibri"/>
              <a:cs typeface="Calibri"/>
            </a:endParaRPr>
          </a:p>
          <a:p>
            <a:pPr marL="313055" lvl="1" indent="-300355">
              <a:lnSpc>
                <a:spcPct val="100000"/>
              </a:lnSpc>
              <a:spcBef>
                <a:spcPts val="985"/>
              </a:spcBef>
              <a:buAutoNum type="arabicPeriod"/>
              <a:tabLst>
                <a:tab pos="313055" algn="l"/>
              </a:tabLst>
            </a:pPr>
            <a:r>
              <a:rPr sz="1600" spc="-10" dirty="0">
                <a:latin typeface="Calibri"/>
                <a:cs typeface="Calibri"/>
              </a:rPr>
              <a:t>Intelligent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Agent</a:t>
            </a:r>
            <a:endParaRPr sz="1600" dirty="0">
              <a:latin typeface="Calibri"/>
              <a:cs typeface="Calibri"/>
            </a:endParaRPr>
          </a:p>
          <a:p>
            <a:pPr marL="12700" marR="5080">
              <a:lnSpc>
                <a:spcPct val="109400"/>
              </a:lnSpc>
              <a:spcBef>
                <a:spcPts val="815"/>
              </a:spcBef>
            </a:pPr>
            <a:r>
              <a:rPr sz="1600" dirty="0">
                <a:latin typeface="Calibri"/>
                <a:cs typeface="Calibri"/>
              </a:rPr>
              <a:t>An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intelligent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perceives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environment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through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sensors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upon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actuators.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chooses </a:t>
            </a:r>
            <a:r>
              <a:rPr sz="1600" dirty="0">
                <a:latin typeface="Calibri"/>
                <a:cs typeface="Calibri"/>
              </a:rPr>
              <a:t>actions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maximize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performance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percepts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internal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logic.</a:t>
            </a:r>
            <a:endParaRPr sz="1600" dirty="0">
              <a:latin typeface="Calibri"/>
              <a:cs typeface="Calibri"/>
            </a:endParaRPr>
          </a:p>
          <a:p>
            <a:pPr marL="313055" lvl="1" indent="-300355">
              <a:lnSpc>
                <a:spcPct val="100000"/>
              </a:lnSpc>
              <a:spcBef>
                <a:spcPts val="1000"/>
              </a:spcBef>
              <a:buAutoNum type="arabicPeriod" startAt="2"/>
              <a:tabLst>
                <a:tab pos="313055" algn="l"/>
              </a:tabLst>
            </a:pPr>
            <a:r>
              <a:rPr sz="1600" b="1" spc="-10" dirty="0">
                <a:latin typeface="Calibri"/>
                <a:cs typeface="Calibri"/>
              </a:rPr>
              <a:t>Model-</a:t>
            </a:r>
            <a:r>
              <a:rPr sz="1600" b="1" dirty="0">
                <a:latin typeface="Calibri"/>
                <a:cs typeface="Calibri"/>
              </a:rPr>
              <a:t>Based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Reflex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Agent</a:t>
            </a:r>
            <a:endParaRPr sz="16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600" dirty="0">
                <a:latin typeface="Calibri"/>
                <a:cs typeface="Calibri"/>
              </a:rPr>
              <a:t>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Model-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Reflex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both:</a:t>
            </a:r>
            <a:endParaRPr sz="1600" dirty="0">
              <a:latin typeface="Calibri"/>
              <a:cs typeface="Calibri"/>
            </a:endParaRPr>
          </a:p>
          <a:p>
            <a:pPr marL="158750" lvl="2" indent="-146050">
              <a:lnSpc>
                <a:spcPct val="100000"/>
              </a:lnSpc>
              <a:spcBef>
                <a:spcPts val="990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current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percept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(sensor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reading),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and</a:t>
            </a:r>
            <a:endParaRPr sz="1600" dirty="0">
              <a:latin typeface="Calibri"/>
              <a:cs typeface="Calibri"/>
            </a:endParaRPr>
          </a:p>
          <a:p>
            <a:pPr marL="12700" marR="5149850" lvl="2" indent="146050">
              <a:lnSpc>
                <a:spcPct val="151200"/>
              </a:lnSpc>
              <a:spcBef>
                <a:spcPts val="10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An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internal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model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world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(memory). </a:t>
            </a:r>
            <a:r>
              <a:rPr sz="1600" b="1" spc="-10" dirty="0">
                <a:latin typeface="Calibri"/>
                <a:cs typeface="Calibri"/>
              </a:rPr>
              <a:t>Characteristics:</a:t>
            </a:r>
            <a:endParaRPr sz="16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4830980"/>
            <a:ext cx="4047490" cy="0"/>
          </a:xfrm>
          <a:custGeom>
            <a:avLst/>
            <a:gdLst/>
            <a:ahLst/>
            <a:cxnLst/>
            <a:rect l="l" t="t" r="r" b="b"/>
            <a:pathLst>
              <a:path w="4047490">
                <a:moveTo>
                  <a:pt x="0" y="0"/>
                </a:moveTo>
                <a:lnTo>
                  <a:pt x="404686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1700" y="767232"/>
            <a:ext cx="8102600" cy="560416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58750" indent="-146050">
              <a:lnSpc>
                <a:spcPct val="100000"/>
              </a:lnSpc>
              <a:spcBef>
                <a:spcPts val="1085"/>
              </a:spcBef>
              <a:buChar char="•"/>
              <a:tabLst>
                <a:tab pos="158750" algn="l"/>
              </a:tabLst>
            </a:pPr>
            <a:r>
              <a:rPr sz="1600" spc="-10" dirty="0">
                <a:latin typeface="Calibri"/>
                <a:cs typeface="Calibri"/>
              </a:rPr>
              <a:t>Stores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partial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world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information.</a:t>
            </a:r>
            <a:endParaRPr sz="1600" dirty="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980"/>
              </a:spcBef>
              <a:buChar char="•"/>
              <a:tabLst>
                <a:tab pos="158750" algn="l"/>
              </a:tabLst>
            </a:pPr>
            <a:r>
              <a:rPr sz="1600" spc="-20" dirty="0">
                <a:latin typeface="Calibri"/>
                <a:cs typeface="Calibri"/>
              </a:rPr>
              <a:t>Works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partially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observable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environments.</a:t>
            </a:r>
            <a:endParaRPr sz="1600" dirty="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1000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Updates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internal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state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after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each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percept.</a:t>
            </a:r>
            <a:endParaRPr sz="1600" dirty="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980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Decisions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current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percept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+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memory.</a:t>
            </a:r>
            <a:endParaRPr sz="1600" dirty="0">
              <a:latin typeface="Calibri"/>
              <a:cs typeface="Calibri"/>
            </a:endParaRPr>
          </a:p>
          <a:p>
            <a:pPr marL="12700" marR="4212590">
              <a:lnSpc>
                <a:spcPts val="2920"/>
              </a:lnSpc>
              <a:spcBef>
                <a:spcPts val="254"/>
              </a:spcBef>
            </a:pPr>
            <a:r>
              <a:rPr sz="1600" b="1" dirty="0">
                <a:latin typeface="Calibri"/>
                <a:cs typeface="Calibri"/>
              </a:rPr>
              <a:t>6.3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Real-</a:t>
            </a:r>
            <a:r>
              <a:rPr sz="1600" b="1" spc="-10" dirty="0">
                <a:latin typeface="Calibri"/>
                <a:cs typeface="Calibri"/>
              </a:rPr>
              <a:t>World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Example: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Smart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Home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Lighting </a:t>
            </a:r>
            <a:endParaRPr lang="en-IN" sz="1600" b="1" spc="-10" dirty="0">
              <a:latin typeface="Calibri"/>
              <a:cs typeface="Calibri"/>
            </a:endParaRPr>
          </a:p>
          <a:p>
            <a:pPr marL="12700" marR="4212590">
              <a:lnSpc>
                <a:spcPts val="2920"/>
              </a:lnSpc>
              <a:spcBef>
                <a:spcPts val="254"/>
              </a:spcBef>
            </a:pPr>
            <a:r>
              <a:rPr sz="1600" dirty="0">
                <a:latin typeface="Calibri"/>
                <a:cs typeface="Calibri"/>
              </a:rPr>
              <a:t>Modern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smart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lights:</a:t>
            </a:r>
            <a:endParaRPr sz="1600" dirty="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71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Detect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motion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(Motion/NoMotion)</a:t>
            </a:r>
            <a:endParaRPr sz="1600" dirty="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Keep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delay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even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after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motion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stops</a:t>
            </a:r>
            <a:endParaRPr sz="1600" dirty="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spc="-20" dirty="0">
                <a:latin typeface="Calibri"/>
                <a:cs typeface="Calibri"/>
              </a:rPr>
              <a:t>Turn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automatically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after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inactivity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600" dirty="0">
                <a:latin typeface="Calibri"/>
                <a:cs typeface="Calibri"/>
              </a:rPr>
              <a:t>This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behaviour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exactly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matches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Model-Based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Reflex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since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memory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last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motion.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5"/>
              </a:spcBef>
            </a:pPr>
            <a:endParaRPr sz="1600" b="1" dirty="0">
              <a:latin typeface="Calibri"/>
              <a:cs typeface="Calibri"/>
            </a:endParaRPr>
          </a:p>
          <a:p>
            <a:pPr marL="211454" indent="-198755">
              <a:lnSpc>
                <a:spcPct val="100000"/>
              </a:lnSpc>
              <a:buAutoNum type="arabicPeriod" startAt="7"/>
              <a:tabLst>
                <a:tab pos="211454" algn="l"/>
              </a:tabLst>
            </a:pPr>
            <a:r>
              <a:rPr sz="1600" b="1" spc="-10" dirty="0">
                <a:latin typeface="Calibri"/>
                <a:cs typeface="Calibri"/>
              </a:rPr>
              <a:t>System</a:t>
            </a:r>
            <a:r>
              <a:rPr sz="1600" b="1" spc="-7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Design</a:t>
            </a:r>
            <a:endParaRPr sz="1600" b="1" dirty="0">
              <a:latin typeface="Calibri"/>
              <a:cs typeface="Calibri"/>
            </a:endParaRPr>
          </a:p>
          <a:p>
            <a:pPr marL="313055" lvl="1" indent="-300355">
              <a:lnSpc>
                <a:spcPct val="100000"/>
              </a:lnSpc>
              <a:spcBef>
                <a:spcPts val="994"/>
              </a:spcBef>
              <a:buAutoNum type="arabicPeriod"/>
              <a:tabLst>
                <a:tab pos="313055" algn="l"/>
              </a:tabLst>
            </a:pPr>
            <a:r>
              <a:rPr sz="1600" spc="-10" dirty="0">
                <a:latin typeface="Calibri"/>
                <a:cs typeface="Calibri"/>
              </a:rPr>
              <a:t>Environment</a:t>
            </a:r>
            <a:endParaRPr sz="1600" dirty="0">
              <a:latin typeface="Calibri"/>
              <a:cs typeface="Calibri"/>
            </a:endParaRPr>
          </a:p>
          <a:p>
            <a:pPr marL="12700" marR="5080635">
              <a:lnSpc>
                <a:spcPct val="151200"/>
              </a:lnSpc>
              <a:spcBef>
                <a:spcPts val="5"/>
              </a:spcBef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environment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grid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rooms. </a:t>
            </a:r>
            <a:r>
              <a:rPr sz="1600" dirty="0">
                <a:latin typeface="Calibri"/>
                <a:cs typeface="Calibri"/>
              </a:rPr>
              <a:t>Each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room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contains: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767232"/>
            <a:ext cx="4175125" cy="5622437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58750" indent="-146050">
              <a:lnSpc>
                <a:spcPct val="100000"/>
              </a:lnSpc>
              <a:spcBef>
                <a:spcPts val="108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occupancy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→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True/False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(Motion/NoMotion)</a:t>
            </a:r>
            <a:endParaRPr sz="1600" dirty="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980"/>
              </a:spcBef>
              <a:buChar char="•"/>
              <a:tabLst>
                <a:tab pos="158750" algn="l"/>
              </a:tabLst>
            </a:pPr>
            <a:r>
              <a:rPr sz="1600" spc="-10" dirty="0">
                <a:latin typeface="Calibri"/>
                <a:cs typeface="Calibri"/>
              </a:rPr>
              <a:t>light_state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→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"On"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/</a:t>
            </a:r>
            <a:r>
              <a:rPr sz="1600" spc="-10" dirty="0">
                <a:latin typeface="Calibri"/>
                <a:cs typeface="Calibri"/>
              </a:rPr>
              <a:t> "Off"</a:t>
            </a:r>
            <a:endParaRPr sz="1600" dirty="0">
              <a:latin typeface="Calibri"/>
              <a:cs typeface="Calibri"/>
            </a:endParaRPr>
          </a:p>
          <a:p>
            <a:pPr marL="12700" marR="316865" indent="146050">
              <a:lnSpc>
                <a:spcPct val="151200"/>
              </a:lnSpc>
              <a:spcBef>
                <a:spcPts val="1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last_seen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→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when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motion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last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occurred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moves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steps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(simulation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clock).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00" b="1" dirty="0">
                <a:latin typeface="Calibri"/>
                <a:cs typeface="Calibri"/>
              </a:rPr>
              <a:t>7.2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Agent</a:t>
            </a:r>
            <a:endParaRPr sz="1600" b="1" dirty="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1000"/>
              </a:spcBef>
              <a:buChar char="•"/>
              <a:tabLst>
                <a:tab pos="158750" algn="l"/>
              </a:tabLst>
            </a:pPr>
            <a:r>
              <a:rPr sz="1600" spc="-10" dirty="0">
                <a:latin typeface="Calibri"/>
                <a:cs typeface="Calibri"/>
              </a:rPr>
              <a:t>Percept: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600" dirty="0">
                <a:latin typeface="Calibri"/>
                <a:cs typeface="Calibri"/>
              </a:rPr>
              <a:t>Motion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NoMotion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(from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motion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sensor)</a:t>
            </a:r>
            <a:endParaRPr sz="1600" dirty="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spc="-10" dirty="0">
                <a:latin typeface="Calibri"/>
                <a:cs typeface="Calibri"/>
              </a:rPr>
              <a:t>Actions: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00" spc="-20" dirty="0">
                <a:latin typeface="Calibri"/>
                <a:cs typeface="Calibri"/>
              </a:rPr>
              <a:t>"TurnOn"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20" dirty="0">
                <a:latin typeface="Calibri"/>
                <a:cs typeface="Calibri"/>
              </a:rPr>
              <a:t> "TurnOff" </a:t>
            </a:r>
            <a:r>
              <a:rPr sz="1600" dirty="0">
                <a:latin typeface="Calibri"/>
                <a:cs typeface="Calibri"/>
              </a:rPr>
              <a:t>(light</a:t>
            </a:r>
            <a:r>
              <a:rPr sz="1600" spc="-10" dirty="0">
                <a:latin typeface="Calibri"/>
                <a:cs typeface="Calibri"/>
              </a:rPr>
              <a:t> control)</a:t>
            </a:r>
            <a:endParaRPr sz="1600" dirty="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1000"/>
              </a:spcBef>
              <a:buChar char="•"/>
              <a:tabLst>
                <a:tab pos="158750" algn="l"/>
              </a:tabLst>
            </a:pPr>
            <a:r>
              <a:rPr sz="1600" spc="-10" dirty="0">
                <a:latin typeface="Calibri"/>
                <a:cs typeface="Calibri"/>
              </a:rPr>
              <a:t>Actuator: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600" dirty="0">
                <a:latin typeface="Calibri"/>
                <a:cs typeface="Calibri"/>
              </a:rPr>
              <a:t>Light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switch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(simulated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code)</a:t>
            </a:r>
            <a:endParaRPr sz="1600" dirty="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Internal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Model: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600" dirty="0">
                <a:latin typeface="Calibri"/>
                <a:cs typeface="Calibri"/>
              </a:rPr>
              <a:t>Memory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5" dirty="0">
                <a:latin typeface="Calibri"/>
                <a:cs typeface="Calibri"/>
              </a:rPr>
              <a:t> last-</a:t>
            </a:r>
            <a:r>
              <a:rPr sz="1600" dirty="0">
                <a:latin typeface="Calibri"/>
                <a:cs typeface="Calibri"/>
              </a:rPr>
              <a:t>seen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occupancy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(timestamp).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1600" b="1" dirty="0">
                <a:latin typeface="Calibri"/>
                <a:cs typeface="Calibri"/>
              </a:rPr>
              <a:t>7.3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Agent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Rule</a:t>
            </a:r>
            <a:endParaRPr sz="16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alibri"/>
                <a:cs typeface="Calibri"/>
              </a:rPr>
              <a:t>IF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Motion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detected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THEN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TurnOn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light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5570120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1700" y="767232"/>
            <a:ext cx="4808855" cy="556514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1600" spc="-20" dirty="0">
                <a:latin typeface="Calibri"/>
                <a:cs typeface="Calibri"/>
              </a:rPr>
              <a:t>ELSE</a:t>
            </a:r>
            <a:endParaRPr sz="1600" dirty="0">
              <a:latin typeface="Calibri"/>
              <a:cs typeface="Calibri"/>
            </a:endParaRPr>
          </a:p>
          <a:p>
            <a:pPr marL="195580" marR="5080">
              <a:lnSpc>
                <a:spcPts val="2920"/>
              </a:lnSpc>
              <a:spcBef>
                <a:spcPts val="245"/>
              </a:spcBef>
            </a:pPr>
            <a:r>
              <a:rPr sz="1600" dirty="0">
                <a:latin typeface="Calibri"/>
                <a:cs typeface="Calibri"/>
              </a:rPr>
              <a:t>IF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current_time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-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last_seen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&lt;=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hold_time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keep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ON </a:t>
            </a:r>
            <a:r>
              <a:rPr sz="1600" dirty="0">
                <a:latin typeface="Calibri"/>
                <a:cs typeface="Calibri"/>
              </a:rPr>
              <a:t>ELSE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TurnOff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light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1600" dirty="0">
                <a:latin typeface="Calibri"/>
                <a:cs typeface="Calibri"/>
              </a:rPr>
              <a:t>7.4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Block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Diagram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1600" spc="-25" dirty="0">
                <a:latin typeface="Calibri"/>
                <a:cs typeface="Calibri"/>
              </a:rPr>
              <a:t>(You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draw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manually.)</a:t>
            </a:r>
            <a:endParaRPr sz="1600" dirty="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994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Box: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Environment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(Rooms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+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Sensors)</a:t>
            </a:r>
            <a:endParaRPr sz="1600" dirty="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alibri"/>
                <a:cs typeface="Calibri"/>
              </a:rPr>
              <a:t>→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arrow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"Motion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/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NoMotion"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→</a:t>
            </a:r>
            <a:endParaRPr sz="1600" dirty="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Box: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Model-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Reflex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(with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memory)</a:t>
            </a:r>
            <a:endParaRPr sz="1600" dirty="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alibri"/>
                <a:cs typeface="Calibri"/>
              </a:rPr>
              <a:t>→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arrow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"TurnOn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/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TurnOff"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→</a:t>
            </a:r>
            <a:endParaRPr sz="1600" dirty="0">
              <a:latin typeface="Calibri"/>
              <a:cs typeface="Calibri"/>
            </a:endParaRPr>
          </a:p>
          <a:p>
            <a:pPr marL="12700" marR="2038985" indent="146050">
              <a:lnSpc>
                <a:spcPct val="151200"/>
              </a:lnSpc>
              <a:spcBef>
                <a:spcPts val="10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Box: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Actuator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(Light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State) </a:t>
            </a:r>
            <a:r>
              <a:rPr sz="1600" dirty="0">
                <a:latin typeface="Calibri"/>
                <a:cs typeface="Calibri"/>
              </a:rPr>
              <a:t>Label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it: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alibri"/>
                <a:cs typeface="Calibri"/>
              </a:rPr>
              <a:t>Figure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1: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Block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Diagram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Smart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Home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Agent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50"/>
              </a:spcBef>
            </a:pPr>
            <a:endParaRPr sz="1600" dirty="0">
              <a:latin typeface="Calibri"/>
              <a:cs typeface="Calibri"/>
            </a:endParaRPr>
          </a:p>
          <a:p>
            <a:pPr marL="211454" indent="-198755">
              <a:lnSpc>
                <a:spcPct val="100000"/>
              </a:lnSpc>
              <a:buAutoNum type="arabicPeriod" startAt="8"/>
              <a:tabLst>
                <a:tab pos="211454" algn="l"/>
              </a:tabLst>
            </a:pPr>
            <a:r>
              <a:rPr sz="1600" b="1" spc="-10" dirty="0">
                <a:latin typeface="Calibri"/>
                <a:cs typeface="Calibri"/>
              </a:rPr>
              <a:t>Implementation</a:t>
            </a:r>
            <a:endParaRPr sz="1600" b="1" dirty="0">
              <a:latin typeface="Calibri"/>
              <a:cs typeface="Calibri"/>
            </a:endParaRPr>
          </a:p>
          <a:p>
            <a:pPr marL="313055" lvl="1" indent="-300355">
              <a:lnSpc>
                <a:spcPct val="100000"/>
              </a:lnSpc>
              <a:spcBef>
                <a:spcPts val="985"/>
              </a:spcBef>
              <a:buAutoNum type="arabicPeriod"/>
              <a:tabLst>
                <a:tab pos="313055" algn="l"/>
              </a:tabLst>
            </a:pPr>
            <a:r>
              <a:rPr sz="1600" spc="-25" dirty="0">
                <a:latin typeface="Calibri"/>
                <a:cs typeface="Calibri"/>
              </a:rPr>
              <a:t>Tools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Technologies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3353970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1700" y="767232"/>
            <a:ext cx="5207000" cy="5224635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58750" indent="-146050">
              <a:lnSpc>
                <a:spcPct val="100000"/>
              </a:lnSpc>
              <a:spcBef>
                <a:spcPts val="108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Language: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Python</a:t>
            </a:r>
            <a:endParaRPr sz="1600" dirty="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980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IDE: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Jupyter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Notebook</a:t>
            </a:r>
            <a:endParaRPr sz="1600" dirty="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1000"/>
              </a:spcBef>
              <a:buChar char="•"/>
              <a:tabLst>
                <a:tab pos="158750" algn="l"/>
              </a:tabLst>
            </a:pPr>
            <a:r>
              <a:rPr sz="1600" spc="-10" dirty="0">
                <a:latin typeface="Calibri"/>
                <a:cs typeface="Calibri"/>
              </a:rPr>
              <a:t>Libraries: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600" dirty="0">
                <a:latin typeface="Calibri"/>
                <a:cs typeface="Calibri"/>
              </a:rPr>
              <a:t>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matplotlib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–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visualization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1600" dirty="0">
                <a:latin typeface="Calibri"/>
                <a:cs typeface="Calibri"/>
              </a:rPr>
              <a:t>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–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animation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delay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600" dirty="0">
                <a:latin typeface="Calibri"/>
                <a:cs typeface="Calibri"/>
              </a:rPr>
              <a:t>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datetime </a:t>
            </a:r>
            <a:r>
              <a:rPr sz="1600" dirty="0">
                <a:latin typeface="Calibri"/>
                <a:cs typeface="Calibri"/>
              </a:rPr>
              <a:t>–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track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last-</a:t>
            </a:r>
            <a:r>
              <a:rPr sz="1600" dirty="0">
                <a:latin typeface="Calibri"/>
                <a:cs typeface="Calibri"/>
              </a:rPr>
              <a:t>seen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timestamps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1600" b="1" dirty="0">
              <a:latin typeface="Calibri"/>
              <a:cs typeface="Calibri"/>
            </a:endParaRPr>
          </a:p>
          <a:p>
            <a:pPr marL="12700" marR="2626360">
              <a:lnSpc>
                <a:spcPct val="151400"/>
              </a:lnSpc>
              <a:spcBef>
                <a:spcPts val="5"/>
              </a:spcBef>
            </a:pPr>
            <a:r>
              <a:rPr sz="1600" b="1" dirty="0">
                <a:latin typeface="Calibri"/>
                <a:cs typeface="Calibri"/>
              </a:rPr>
              <a:t>8.2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Environment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Class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(Code) </a:t>
            </a:r>
            <a:r>
              <a:rPr sz="1600" dirty="0">
                <a:latin typeface="Calibri"/>
                <a:cs typeface="Calibri"/>
              </a:rPr>
              <a:t>class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HomeEnvironment:</a:t>
            </a:r>
            <a:endParaRPr sz="1600" dirty="0">
              <a:latin typeface="Calibri"/>
              <a:cs typeface="Calibri"/>
            </a:endParaRPr>
          </a:p>
          <a:p>
            <a:pPr marL="378460" marR="5080" indent="-182880">
              <a:lnSpc>
                <a:spcPct val="151200"/>
              </a:lnSpc>
              <a:spcBef>
                <a:spcPts val="10"/>
              </a:spcBef>
              <a:tabLst>
                <a:tab pos="710565" algn="l"/>
                <a:tab pos="1182370" algn="l"/>
              </a:tabLst>
            </a:pPr>
            <a:r>
              <a:rPr sz="1600" dirty="0">
                <a:latin typeface="Calibri"/>
                <a:cs typeface="Calibri"/>
              </a:rPr>
              <a:t>def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600" spc="-20" dirty="0">
                <a:latin typeface="Calibri"/>
                <a:cs typeface="Calibri"/>
              </a:rPr>
              <a:t>init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600" spc="-10" dirty="0">
                <a:latin typeface="Calibri"/>
                <a:cs typeface="Calibri"/>
              </a:rPr>
              <a:t>(self,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rows=2,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cols=3,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auto_people_prob=0.25): </a:t>
            </a:r>
            <a:r>
              <a:rPr sz="1600" spc="-20" dirty="0">
                <a:latin typeface="Calibri"/>
                <a:cs typeface="Calibri"/>
              </a:rPr>
              <a:t>self.rows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rows</a:t>
            </a:r>
            <a:endParaRPr sz="1600" dirty="0">
              <a:latin typeface="Calibri"/>
              <a:cs typeface="Calibri"/>
            </a:endParaRPr>
          </a:p>
          <a:p>
            <a:pPr marL="378460" marR="3500120">
              <a:lnSpc>
                <a:spcPts val="2920"/>
              </a:lnSpc>
              <a:spcBef>
                <a:spcPts val="250"/>
              </a:spcBef>
            </a:pPr>
            <a:r>
              <a:rPr sz="1600" spc="-20" dirty="0">
                <a:latin typeface="Calibri"/>
                <a:cs typeface="Calibri"/>
              </a:rPr>
              <a:t>self.cols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cols self.rooms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{}</a:t>
            </a:r>
            <a:endParaRPr sz="1600" dirty="0">
              <a:latin typeface="Calibri"/>
              <a:cs typeface="Calibri"/>
            </a:endParaRPr>
          </a:p>
          <a:p>
            <a:pPr marL="378460">
              <a:lnSpc>
                <a:spcPct val="100000"/>
              </a:lnSpc>
              <a:spcBef>
                <a:spcPts val="720"/>
              </a:spcBef>
            </a:pPr>
            <a:r>
              <a:rPr sz="1600" dirty="0">
                <a:latin typeface="Calibri"/>
                <a:cs typeface="Calibri"/>
              </a:rPr>
              <a:t>now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datetime.now()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884" y="767232"/>
            <a:ext cx="3803650" cy="5196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730" marR="1842135" indent="-184785">
              <a:lnSpc>
                <a:spcPct val="1513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for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range(rows):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range(cols):</a:t>
            </a:r>
            <a:endParaRPr sz="1600">
              <a:latin typeface="Calibri"/>
              <a:cs typeface="Calibri"/>
            </a:endParaRPr>
          </a:p>
          <a:p>
            <a:pPr marL="746760" marR="1520825" indent="-184785">
              <a:lnSpc>
                <a:spcPct val="151300"/>
              </a:lnSpc>
              <a:spcBef>
                <a:spcPts val="10"/>
              </a:spcBef>
            </a:pPr>
            <a:r>
              <a:rPr sz="1600" spc="-25" dirty="0">
                <a:latin typeface="Calibri"/>
                <a:cs typeface="Calibri"/>
              </a:rPr>
              <a:t>self.rooms[(r,c)]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{ </a:t>
            </a:r>
            <a:r>
              <a:rPr sz="1600" dirty="0">
                <a:latin typeface="Calibri"/>
                <a:cs typeface="Calibri"/>
              </a:rPr>
              <a:t>'occupancy':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False, </a:t>
            </a:r>
            <a:r>
              <a:rPr sz="1600" dirty="0">
                <a:latin typeface="Calibri"/>
                <a:cs typeface="Calibri"/>
              </a:rPr>
              <a:t>'light':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'Off',</a:t>
            </a:r>
            <a:endParaRPr sz="1600">
              <a:latin typeface="Calibri"/>
              <a:cs typeface="Calibri"/>
            </a:endParaRPr>
          </a:p>
          <a:p>
            <a:pPr marL="746760">
              <a:lnSpc>
                <a:spcPct val="100000"/>
              </a:lnSpc>
              <a:spcBef>
                <a:spcPts val="994"/>
              </a:spcBef>
            </a:pPr>
            <a:r>
              <a:rPr sz="1600" dirty="0">
                <a:latin typeface="Calibri"/>
                <a:cs typeface="Calibri"/>
              </a:rPr>
              <a:t>'last_seen':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None</a:t>
            </a:r>
            <a:endParaRPr sz="1600">
              <a:latin typeface="Calibri"/>
              <a:cs typeface="Calibri"/>
            </a:endParaRPr>
          </a:p>
          <a:p>
            <a:pPr marL="562610">
              <a:lnSpc>
                <a:spcPct val="100000"/>
              </a:lnSpc>
              <a:spcBef>
                <a:spcPts val="985"/>
              </a:spcBef>
            </a:pPr>
            <a:r>
              <a:rPr sz="1600" spc="-50" dirty="0">
                <a:latin typeface="Calibri"/>
                <a:cs typeface="Calibri"/>
              </a:rPr>
              <a:t>}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5"/>
              </a:spcBef>
            </a:pPr>
            <a:endParaRPr sz="160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</a:pPr>
            <a:r>
              <a:rPr sz="1600" spc="-20" dirty="0">
                <a:latin typeface="Calibri"/>
                <a:cs typeface="Calibri"/>
              </a:rPr>
              <a:t>self.time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now</a:t>
            </a:r>
            <a:endParaRPr sz="1600">
              <a:latin typeface="Calibri"/>
              <a:cs typeface="Calibri"/>
            </a:endParaRPr>
          </a:p>
          <a:p>
            <a:pPr marL="194945" marR="5080">
              <a:lnSpc>
                <a:spcPct val="151200"/>
              </a:lnSpc>
              <a:spcBef>
                <a:spcPts val="15"/>
              </a:spcBef>
            </a:pPr>
            <a:r>
              <a:rPr sz="1600" spc="-20" dirty="0">
                <a:latin typeface="Calibri"/>
                <a:cs typeface="Calibri"/>
              </a:rPr>
              <a:t>self.time_step</a:t>
            </a:r>
            <a:r>
              <a:rPr sz="1600" dirty="0">
                <a:latin typeface="Calibri"/>
                <a:cs typeface="Calibri"/>
              </a:rPr>
              <a:t> =</a:t>
            </a:r>
            <a:r>
              <a:rPr sz="1600" spc="-10" dirty="0">
                <a:latin typeface="Calibri"/>
                <a:cs typeface="Calibri"/>
              </a:rPr>
              <a:t> timedelta(seconds=10) self.auto_people_prob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auto_people_prob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45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def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step_time(self):</a:t>
            </a:r>
            <a:endParaRPr sz="160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  <a:spcBef>
                <a:spcPts val="990"/>
              </a:spcBef>
            </a:pPr>
            <a:r>
              <a:rPr sz="1600" spc="-20" dirty="0">
                <a:latin typeface="Calibri"/>
                <a:cs typeface="Calibri"/>
              </a:rPr>
              <a:t>self.time </a:t>
            </a:r>
            <a:r>
              <a:rPr sz="1600" dirty="0">
                <a:latin typeface="Calibri"/>
                <a:cs typeface="Calibri"/>
              </a:rPr>
              <a:t>+=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self.time_step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5570120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1700" y="767232"/>
            <a:ext cx="6045200" cy="55568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marR="3022600" indent="-182880">
              <a:lnSpc>
                <a:spcPct val="1513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def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inject_random_people(self):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loc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self.rooms:</a:t>
            </a:r>
            <a:endParaRPr sz="1600" dirty="0">
              <a:latin typeface="Calibri"/>
              <a:cs typeface="Calibri"/>
            </a:endParaRPr>
          </a:p>
          <a:p>
            <a:pPr marL="562610">
              <a:lnSpc>
                <a:spcPct val="100000"/>
              </a:lnSpc>
              <a:spcBef>
                <a:spcPts val="994"/>
              </a:spcBef>
            </a:pPr>
            <a:r>
              <a:rPr sz="1600" dirty="0">
                <a:latin typeface="Calibri"/>
                <a:cs typeface="Calibri"/>
              </a:rPr>
              <a:t>if</a:t>
            </a:r>
            <a:r>
              <a:rPr sz="1600" spc="-10" dirty="0">
                <a:latin typeface="Calibri"/>
                <a:cs typeface="Calibri"/>
              </a:rPr>
              <a:t> random.random()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&lt;</a:t>
            </a:r>
            <a:r>
              <a:rPr sz="1600" spc="-10" dirty="0">
                <a:latin typeface="Calibri"/>
                <a:cs typeface="Calibri"/>
              </a:rPr>
              <a:t> self.auto_people_prob:</a:t>
            </a:r>
            <a:endParaRPr sz="1600" dirty="0">
              <a:latin typeface="Calibri"/>
              <a:cs typeface="Calibri"/>
            </a:endParaRPr>
          </a:p>
          <a:p>
            <a:pPr marL="745490" marR="5080">
              <a:lnSpc>
                <a:spcPts val="2910"/>
              </a:lnSpc>
              <a:spcBef>
                <a:spcPts val="254"/>
              </a:spcBef>
            </a:pPr>
            <a:r>
              <a:rPr sz="1600" spc="-10" dirty="0">
                <a:latin typeface="Calibri"/>
                <a:cs typeface="Calibri"/>
              </a:rPr>
              <a:t>self.rooms[loc]['occupancy']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not</a:t>
            </a:r>
            <a:r>
              <a:rPr sz="1600" spc="-10" dirty="0">
                <a:latin typeface="Calibri"/>
                <a:cs typeface="Calibri"/>
              </a:rPr>
              <a:t> self.rooms[loc]['occupancy'] </a:t>
            </a:r>
            <a:r>
              <a:rPr sz="1600" dirty="0">
                <a:latin typeface="Calibri"/>
                <a:cs typeface="Calibri"/>
              </a:rPr>
              <a:t>if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self.rooms[loc]['occupancy']:</a:t>
            </a:r>
            <a:endParaRPr sz="1600" dirty="0">
              <a:latin typeface="Calibri"/>
              <a:cs typeface="Calibri"/>
            </a:endParaRPr>
          </a:p>
          <a:p>
            <a:pPr marL="930275">
              <a:lnSpc>
                <a:spcPct val="100000"/>
              </a:lnSpc>
              <a:spcBef>
                <a:spcPts val="730"/>
              </a:spcBef>
            </a:pPr>
            <a:r>
              <a:rPr sz="1600" spc="-10" dirty="0">
                <a:latin typeface="Calibri"/>
                <a:cs typeface="Calibri"/>
              </a:rPr>
              <a:t>self.rooms[loc]['last_seen']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 </a:t>
            </a:r>
            <a:r>
              <a:rPr sz="1600" spc="-10" dirty="0">
                <a:latin typeface="Calibri"/>
                <a:cs typeface="Calibri"/>
              </a:rPr>
              <a:t>self.time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5"/>
              </a:spcBef>
            </a:pPr>
            <a:endParaRPr sz="1600" dirty="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def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get_percept(self,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loc):</a:t>
            </a:r>
            <a:endParaRPr sz="1600" dirty="0">
              <a:latin typeface="Calibri"/>
              <a:cs typeface="Calibri"/>
            </a:endParaRPr>
          </a:p>
          <a:p>
            <a:pPr marL="37846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alibri"/>
                <a:cs typeface="Calibri"/>
              </a:rPr>
              <a:t>return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'Motion'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self.rooms[loc]['occupancy']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else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'NoMotion'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600" dirty="0">
              <a:latin typeface="Calibri"/>
              <a:cs typeface="Calibri"/>
            </a:endParaRPr>
          </a:p>
          <a:p>
            <a:pPr marL="378460" marR="3109595" indent="-182880">
              <a:lnSpc>
                <a:spcPct val="151200"/>
              </a:lnSpc>
            </a:pPr>
            <a:r>
              <a:rPr sz="1600" dirty="0">
                <a:latin typeface="Calibri"/>
                <a:cs typeface="Calibri"/>
              </a:rPr>
              <a:t>def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set_light(self,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loc,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state): self.rooms[loc]['light']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state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600" b="1" dirty="0">
              <a:latin typeface="Calibri"/>
              <a:cs typeface="Calibri"/>
            </a:endParaRPr>
          </a:p>
          <a:p>
            <a:pPr marL="12700" marR="2802890">
              <a:lnSpc>
                <a:spcPct val="151200"/>
              </a:lnSpc>
              <a:spcBef>
                <a:spcPts val="5"/>
              </a:spcBef>
            </a:pPr>
            <a:r>
              <a:rPr sz="1600" b="1" dirty="0">
                <a:latin typeface="Calibri"/>
                <a:cs typeface="Calibri"/>
              </a:rPr>
              <a:t>8.3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Model-</a:t>
            </a:r>
            <a:r>
              <a:rPr sz="1600" b="1" dirty="0">
                <a:latin typeface="Calibri"/>
                <a:cs typeface="Calibri"/>
              </a:rPr>
              <a:t>Based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Reflex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Agent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(Code) </a:t>
            </a:r>
            <a:r>
              <a:rPr sz="1600" dirty="0">
                <a:latin typeface="Calibri"/>
                <a:cs typeface="Calibri"/>
              </a:rPr>
              <a:t>class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ModelBasedLightingAgent: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884" y="767232"/>
            <a:ext cx="6344920" cy="5196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marR="1960880" indent="-182880">
              <a:lnSpc>
                <a:spcPct val="151300"/>
              </a:lnSpc>
              <a:spcBef>
                <a:spcPts val="100"/>
              </a:spcBef>
              <a:tabLst>
                <a:tab pos="527050" algn="l"/>
                <a:tab pos="998855" algn="l"/>
              </a:tabLst>
            </a:pPr>
            <a:r>
              <a:rPr sz="1600" dirty="0">
                <a:latin typeface="Calibri"/>
                <a:cs typeface="Calibri"/>
              </a:rPr>
              <a:t>def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600" spc="-20" dirty="0">
                <a:latin typeface="Calibri"/>
                <a:cs typeface="Calibri"/>
              </a:rPr>
              <a:t>init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600" spc="-10" dirty="0">
                <a:latin typeface="Calibri"/>
                <a:cs typeface="Calibri"/>
              </a:rPr>
              <a:t>(self,</a:t>
            </a:r>
            <a:r>
              <a:rPr sz="1600" spc="-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rows,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cols,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hold_time_seconds=60): </a:t>
            </a:r>
            <a:r>
              <a:rPr sz="1600" spc="-20" dirty="0">
                <a:latin typeface="Calibri"/>
                <a:cs typeface="Calibri"/>
              </a:rPr>
              <a:t>self.rows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rows</a:t>
            </a:r>
            <a:endParaRPr sz="160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  <a:spcBef>
                <a:spcPts val="994"/>
              </a:spcBef>
            </a:pPr>
            <a:r>
              <a:rPr sz="1600" spc="-20" dirty="0">
                <a:latin typeface="Calibri"/>
                <a:cs typeface="Calibri"/>
              </a:rPr>
              <a:t>self.cols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cols</a:t>
            </a:r>
            <a:endParaRPr sz="160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  <a:spcBef>
                <a:spcPts val="985"/>
              </a:spcBef>
            </a:pPr>
            <a:r>
              <a:rPr sz="1600" spc="-10" dirty="0">
                <a:latin typeface="Calibri"/>
                <a:cs typeface="Calibri"/>
              </a:rPr>
              <a:t>self.hold_time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timedelta(seconds=hold_time_seconds)</a:t>
            </a:r>
            <a:endParaRPr sz="160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  <a:spcBef>
                <a:spcPts val="985"/>
              </a:spcBef>
            </a:pPr>
            <a:r>
              <a:rPr sz="1600" spc="-10" dirty="0">
                <a:latin typeface="Calibri"/>
                <a:cs typeface="Calibri"/>
              </a:rPr>
              <a:t>self.known_last_seen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{(r,c):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None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range(rows)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range(cols)}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600">
              <a:latin typeface="Calibri"/>
              <a:cs typeface="Calibri"/>
            </a:endParaRPr>
          </a:p>
          <a:p>
            <a:pPr marL="194945" marR="2100580" indent="-182880">
              <a:lnSpc>
                <a:spcPct val="151200"/>
              </a:lnSpc>
            </a:pPr>
            <a:r>
              <a:rPr sz="1600" dirty="0">
                <a:latin typeface="Calibri"/>
                <a:cs typeface="Calibri"/>
              </a:rPr>
              <a:t>def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update_model(self,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loc,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percept,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current_time): </a:t>
            </a:r>
            <a:r>
              <a:rPr sz="1600" dirty="0">
                <a:latin typeface="Calibri"/>
                <a:cs typeface="Calibri"/>
              </a:rPr>
              <a:t>if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percept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==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'Motion':</a:t>
            </a:r>
            <a:endParaRPr sz="1600">
              <a:latin typeface="Calibri"/>
              <a:cs typeface="Calibri"/>
            </a:endParaRPr>
          </a:p>
          <a:p>
            <a:pPr marL="379730">
              <a:lnSpc>
                <a:spcPct val="100000"/>
              </a:lnSpc>
              <a:spcBef>
                <a:spcPts val="985"/>
              </a:spcBef>
            </a:pPr>
            <a:r>
              <a:rPr sz="1600" spc="-10" dirty="0">
                <a:latin typeface="Calibri"/>
                <a:cs typeface="Calibri"/>
              </a:rPr>
              <a:t>self.known_last_seen[loc]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current_time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600">
              <a:latin typeface="Calibri"/>
              <a:cs typeface="Calibri"/>
            </a:endParaRPr>
          </a:p>
          <a:p>
            <a:pPr marL="194945" marR="2331085" indent="-182880">
              <a:lnSpc>
                <a:spcPct val="151200"/>
              </a:lnSpc>
            </a:pPr>
            <a:r>
              <a:rPr sz="1600" dirty="0">
                <a:latin typeface="Calibri"/>
                <a:cs typeface="Calibri"/>
              </a:rPr>
              <a:t>def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decide(self,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loc,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percept,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current_time): self.update_model(loc,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percept,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current_time)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50"/>
              </a:spcBef>
            </a:pPr>
            <a:endParaRPr sz="160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last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self.known_last_seen[loc]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4830980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1700" y="767232"/>
            <a:ext cx="3717290" cy="5565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2610" marR="1493520" indent="-184785">
              <a:lnSpc>
                <a:spcPct val="1513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if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percept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==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'Motion': </a:t>
            </a:r>
            <a:r>
              <a:rPr sz="1600" dirty="0">
                <a:latin typeface="Calibri"/>
                <a:cs typeface="Calibri"/>
              </a:rPr>
              <a:t>return</a:t>
            </a:r>
            <a:r>
              <a:rPr sz="1600" spc="-9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'TurnOn'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1600" dirty="0">
              <a:latin typeface="Calibri"/>
              <a:cs typeface="Calibri"/>
            </a:endParaRPr>
          </a:p>
          <a:p>
            <a:pPr marL="562610" marR="1866900" indent="-184785">
              <a:lnSpc>
                <a:spcPct val="151400"/>
              </a:lnSpc>
              <a:spcBef>
                <a:spcPts val="5"/>
              </a:spcBef>
            </a:pPr>
            <a:r>
              <a:rPr sz="1600" dirty="0">
                <a:latin typeface="Calibri"/>
                <a:cs typeface="Calibri"/>
              </a:rPr>
              <a:t>if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last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None: </a:t>
            </a:r>
            <a:r>
              <a:rPr sz="1600" dirty="0">
                <a:latin typeface="Calibri"/>
                <a:cs typeface="Calibri"/>
              </a:rPr>
              <a:t>return</a:t>
            </a:r>
            <a:r>
              <a:rPr sz="1600" spc="-9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'TurnOff'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1600" dirty="0">
              <a:latin typeface="Calibri"/>
              <a:cs typeface="Calibri"/>
            </a:endParaRPr>
          </a:p>
          <a:p>
            <a:pPr marL="562610" marR="5080" indent="-184785">
              <a:lnSpc>
                <a:spcPct val="151200"/>
              </a:lnSpc>
            </a:pPr>
            <a:r>
              <a:rPr sz="1600" dirty="0">
                <a:latin typeface="Calibri"/>
                <a:cs typeface="Calibri"/>
              </a:rPr>
              <a:t>if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(current_time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-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last)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&lt;=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self.hold_time: </a:t>
            </a:r>
            <a:r>
              <a:rPr sz="1600" dirty="0">
                <a:latin typeface="Calibri"/>
                <a:cs typeface="Calibri"/>
              </a:rPr>
              <a:t>return</a:t>
            </a:r>
            <a:r>
              <a:rPr sz="1600" spc="-9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'TurnOn'</a:t>
            </a:r>
            <a:endParaRPr sz="1600" dirty="0">
              <a:latin typeface="Calibri"/>
              <a:cs typeface="Calibri"/>
            </a:endParaRPr>
          </a:p>
          <a:p>
            <a:pPr marL="379730">
              <a:lnSpc>
                <a:spcPct val="100000"/>
              </a:lnSpc>
              <a:spcBef>
                <a:spcPts val="990"/>
              </a:spcBef>
            </a:pPr>
            <a:r>
              <a:rPr sz="1600" spc="-10" dirty="0">
                <a:latin typeface="Calibri"/>
                <a:cs typeface="Calibri"/>
              </a:rPr>
              <a:t>else:</a:t>
            </a:r>
            <a:endParaRPr sz="1600" dirty="0">
              <a:latin typeface="Calibri"/>
              <a:cs typeface="Calibri"/>
            </a:endParaRPr>
          </a:p>
          <a:p>
            <a:pPr marL="562610">
              <a:lnSpc>
                <a:spcPct val="100000"/>
              </a:lnSpc>
              <a:spcBef>
                <a:spcPts val="994"/>
              </a:spcBef>
            </a:pPr>
            <a:r>
              <a:rPr sz="1600" dirty="0">
                <a:latin typeface="Calibri"/>
                <a:cs typeface="Calibri"/>
              </a:rPr>
              <a:t>return</a:t>
            </a:r>
            <a:r>
              <a:rPr sz="1600" spc="-9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'TurnOff'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5"/>
              </a:spcBef>
            </a:pP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Calibri"/>
                <a:cs typeface="Calibri"/>
              </a:rPr>
              <a:t>8.4</a:t>
            </a:r>
            <a:r>
              <a:rPr sz="1600" b="1" spc="-10" dirty="0">
                <a:latin typeface="Calibri"/>
                <a:cs typeface="Calibri"/>
              </a:rPr>
              <a:t> Visualization</a:t>
            </a:r>
            <a:r>
              <a:rPr sz="1600" b="1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(Code)</a:t>
            </a:r>
            <a:endParaRPr sz="1600" b="1" dirty="0">
              <a:latin typeface="Calibri"/>
              <a:cs typeface="Calibri"/>
            </a:endParaRPr>
          </a:p>
          <a:p>
            <a:pPr marL="195580" marR="461009" indent="-183515">
              <a:lnSpc>
                <a:spcPct val="151400"/>
              </a:lnSpc>
              <a:spcBef>
                <a:spcPts val="10"/>
              </a:spcBef>
            </a:pPr>
            <a:r>
              <a:rPr sz="1600" dirty="0">
                <a:latin typeface="Calibri"/>
                <a:cs typeface="Calibri"/>
              </a:rPr>
              <a:t>def</a:t>
            </a:r>
            <a:r>
              <a:rPr sz="1600" spc="-20" dirty="0">
                <a:latin typeface="Calibri"/>
                <a:cs typeface="Calibri"/>
              </a:rPr>
              <a:t> draw_home(env,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step_num=None): </a:t>
            </a:r>
            <a:r>
              <a:rPr sz="1600" dirty="0">
                <a:latin typeface="Calibri"/>
                <a:cs typeface="Calibri"/>
              </a:rPr>
              <a:t>rows,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cols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env.rows,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env.cols</a:t>
            </a:r>
            <a:endParaRPr sz="1600" dirty="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  <a:spcBef>
                <a:spcPts val="980"/>
              </a:spcBef>
            </a:pPr>
            <a:r>
              <a:rPr sz="1600" dirty="0">
                <a:latin typeface="Calibri"/>
                <a:cs typeface="Calibri"/>
              </a:rPr>
              <a:t>grid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np.zeros((rows,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cols))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884" y="1134516"/>
            <a:ext cx="3488690" cy="519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marR="1711960" indent="-182880">
              <a:lnSpc>
                <a:spcPct val="1519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for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range(rows):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range(cols):</a:t>
            </a:r>
            <a:endParaRPr sz="1600">
              <a:latin typeface="Calibri"/>
              <a:cs typeface="Calibri"/>
            </a:endParaRPr>
          </a:p>
          <a:p>
            <a:pPr marL="37973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alibri"/>
                <a:cs typeface="Calibri"/>
              </a:rPr>
              <a:t>loc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(r,c)</a:t>
            </a:r>
            <a:endParaRPr sz="1600">
              <a:latin typeface="Calibri"/>
              <a:cs typeface="Calibri"/>
            </a:endParaRPr>
          </a:p>
          <a:p>
            <a:pPr marL="379730" marR="5080">
              <a:lnSpc>
                <a:spcPts val="2920"/>
              </a:lnSpc>
              <a:spcBef>
                <a:spcPts val="250"/>
              </a:spcBef>
            </a:pPr>
            <a:r>
              <a:rPr sz="1600" dirty="0">
                <a:latin typeface="Calibri"/>
                <a:cs typeface="Calibri"/>
              </a:rPr>
              <a:t>occ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10" dirty="0">
                <a:latin typeface="Calibri"/>
                <a:cs typeface="Calibri"/>
              </a:rPr>
              <a:t> env.rooms[loc]['occupancy'] </a:t>
            </a:r>
            <a:r>
              <a:rPr sz="1600" dirty="0">
                <a:latin typeface="Calibri"/>
                <a:cs typeface="Calibri"/>
              </a:rPr>
              <a:t>light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(env.rooms[loc]['light']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==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'On')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600">
              <a:latin typeface="Calibri"/>
              <a:cs typeface="Calibri"/>
            </a:endParaRPr>
          </a:p>
          <a:p>
            <a:pPr marL="562610" marR="1519555" indent="-182880">
              <a:lnSpc>
                <a:spcPct val="151400"/>
              </a:lnSpc>
            </a:pPr>
            <a:r>
              <a:rPr sz="1600" dirty="0">
                <a:latin typeface="Calibri"/>
                <a:cs typeface="Calibri"/>
              </a:rPr>
              <a:t>if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occ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 not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light: </a:t>
            </a:r>
            <a:r>
              <a:rPr sz="1600" spc="-20" dirty="0">
                <a:latin typeface="Calibri"/>
                <a:cs typeface="Calibri"/>
              </a:rPr>
              <a:t>grid[r,c]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  <a:p>
            <a:pPr marL="562610" marR="1371600" indent="-182880">
              <a:lnSpc>
                <a:spcPct val="151200"/>
              </a:lnSpc>
              <a:spcBef>
                <a:spcPts val="10"/>
              </a:spcBef>
            </a:pPr>
            <a:r>
              <a:rPr sz="1600" dirty="0">
                <a:latin typeface="Calibri"/>
                <a:cs typeface="Calibri"/>
              </a:rPr>
              <a:t>elif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occ and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light: </a:t>
            </a:r>
            <a:r>
              <a:rPr sz="1600" spc="-20" dirty="0">
                <a:latin typeface="Calibri"/>
                <a:cs typeface="Calibri"/>
              </a:rPr>
              <a:t>grid[r,c]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  <a:p>
            <a:pPr marL="562610" marR="1700530" indent="-182880">
              <a:lnSpc>
                <a:spcPts val="2920"/>
              </a:lnSpc>
              <a:spcBef>
                <a:spcPts val="250"/>
              </a:spcBef>
            </a:pPr>
            <a:r>
              <a:rPr sz="1600" dirty="0">
                <a:latin typeface="Calibri"/>
                <a:cs typeface="Calibri"/>
              </a:rPr>
              <a:t>elif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occ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light: </a:t>
            </a:r>
            <a:r>
              <a:rPr sz="1600" spc="-20" dirty="0">
                <a:latin typeface="Calibri"/>
                <a:cs typeface="Calibri"/>
              </a:rPr>
              <a:t>grid[r,c]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3</a:t>
            </a:r>
            <a:endParaRPr sz="1600">
              <a:latin typeface="Calibri"/>
              <a:cs typeface="Calibri"/>
            </a:endParaRPr>
          </a:p>
          <a:p>
            <a:pPr marL="379730">
              <a:lnSpc>
                <a:spcPct val="100000"/>
              </a:lnSpc>
              <a:spcBef>
                <a:spcPts val="720"/>
              </a:spcBef>
            </a:pPr>
            <a:r>
              <a:rPr sz="1600" spc="-10" dirty="0">
                <a:latin typeface="Calibri"/>
                <a:cs typeface="Calibri"/>
              </a:rPr>
              <a:t>else:</a:t>
            </a:r>
            <a:endParaRPr sz="1600">
              <a:latin typeface="Calibri"/>
              <a:cs typeface="Calibri"/>
            </a:endParaRPr>
          </a:p>
          <a:p>
            <a:pPr marL="562610">
              <a:lnSpc>
                <a:spcPct val="100000"/>
              </a:lnSpc>
              <a:spcBef>
                <a:spcPts val="985"/>
              </a:spcBef>
            </a:pPr>
            <a:r>
              <a:rPr sz="1600" spc="-20" dirty="0">
                <a:latin typeface="Calibri"/>
                <a:cs typeface="Calibri"/>
              </a:rPr>
              <a:t>grid[r,c]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0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3353970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1700" y="1134516"/>
            <a:ext cx="4525645" cy="482854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95580">
              <a:lnSpc>
                <a:spcPct val="100000"/>
              </a:lnSpc>
              <a:spcBef>
                <a:spcPts val="1095"/>
              </a:spcBef>
            </a:pPr>
            <a:r>
              <a:rPr sz="1600" spc="-10" dirty="0">
                <a:latin typeface="Calibri"/>
                <a:cs typeface="Calibri"/>
              </a:rPr>
              <a:t>clear_output(wait=True)</a:t>
            </a:r>
            <a:endParaRPr sz="1600" dirty="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  <a:spcBef>
                <a:spcPts val="994"/>
              </a:spcBef>
            </a:pPr>
            <a:r>
              <a:rPr sz="1600" spc="-10" dirty="0">
                <a:latin typeface="Calibri"/>
                <a:cs typeface="Calibri"/>
              </a:rPr>
              <a:t>plt.imshow(grid,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cmap='viridis')</a:t>
            </a:r>
            <a:endParaRPr sz="1600" dirty="0">
              <a:latin typeface="Calibri"/>
              <a:cs typeface="Calibri"/>
            </a:endParaRPr>
          </a:p>
          <a:p>
            <a:pPr marL="195580" marR="5080">
              <a:lnSpc>
                <a:spcPts val="2910"/>
              </a:lnSpc>
              <a:spcBef>
                <a:spcPts val="254"/>
              </a:spcBef>
            </a:pPr>
            <a:r>
              <a:rPr sz="1600" spc="-10" dirty="0">
                <a:latin typeface="Calibri"/>
                <a:cs typeface="Calibri"/>
              </a:rPr>
              <a:t>plt.title(f"Smart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|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Step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{step_num}") plt.axis('off')</a:t>
            </a:r>
            <a:endParaRPr sz="1600" dirty="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  <a:spcBef>
                <a:spcPts val="735"/>
              </a:spcBef>
            </a:pPr>
            <a:r>
              <a:rPr sz="1600" spc="-10" dirty="0">
                <a:latin typeface="Calibri"/>
                <a:cs typeface="Calibri"/>
              </a:rPr>
              <a:t>plt.show()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1600" b="1" dirty="0">
              <a:latin typeface="Calibri"/>
              <a:cs typeface="Calibri"/>
            </a:endParaRPr>
          </a:p>
          <a:p>
            <a:pPr marL="12700" marR="2432050">
              <a:lnSpc>
                <a:spcPct val="151400"/>
              </a:lnSpc>
            </a:pPr>
            <a:r>
              <a:rPr sz="1600" b="1" dirty="0">
                <a:latin typeface="Calibri"/>
                <a:cs typeface="Calibri"/>
              </a:rPr>
              <a:t>8.5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Simulation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Function </a:t>
            </a:r>
            <a:r>
              <a:rPr sz="1600" dirty="0">
                <a:latin typeface="Calibri"/>
                <a:cs typeface="Calibri"/>
              </a:rPr>
              <a:t>def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sim_step(env,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agent):</a:t>
            </a:r>
            <a:endParaRPr sz="1600" dirty="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  <a:spcBef>
                <a:spcPts val="994"/>
              </a:spcBef>
            </a:pPr>
            <a:r>
              <a:rPr sz="1600" spc="-10" dirty="0">
                <a:latin typeface="Calibri"/>
                <a:cs typeface="Calibri"/>
              </a:rPr>
              <a:t>env.inject_random_people()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5"/>
              </a:spcBef>
            </a:pPr>
            <a:endParaRPr sz="1600" dirty="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for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loc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env.rooms:</a:t>
            </a:r>
            <a:endParaRPr sz="1600" dirty="0">
              <a:latin typeface="Calibri"/>
              <a:cs typeface="Calibri"/>
            </a:endParaRPr>
          </a:p>
          <a:p>
            <a:pPr marL="378460">
              <a:lnSpc>
                <a:spcPct val="100000"/>
              </a:lnSpc>
              <a:spcBef>
                <a:spcPts val="1000"/>
              </a:spcBef>
            </a:pPr>
            <a:r>
              <a:rPr sz="1600" dirty="0">
                <a:latin typeface="Calibri"/>
                <a:cs typeface="Calibri"/>
              </a:rPr>
              <a:t>percept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env.get_percept(loc)</a:t>
            </a:r>
            <a:endParaRPr sz="1600" dirty="0">
              <a:latin typeface="Calibri"/>
              <a:cs typeface="Calibri"/>
            </a:endParaRPr>
          </a:p>
          <a:p>
            <a:pPr marL="37846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alibri"/>
                <a:cs typeface="Calibri"/>
              </a:rPr>
              <a:t>action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agent.decide(loc,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percept,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env.time)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3353970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1700" y="767232"/>
            <a:ext cx="6387465" cy="5565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2610" marR="3984625" indent="-184785">
              <a:lnSpc>
                <a:spcPct val="1513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if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action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==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'TurnOn': </a:t>
            </a:r>
            <a:r>
              <a:rPr sz="1600" spc="-20" dirty="0">
                <a:latin typeface="Calibri"/>
                <a:cs typeface="Calibri"/>
              </a:rPr>
              <a:t>env.set_light(loc,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'On')</a:t>
            </a:r>
            <a:endParaRPr sz="1600">
              <a:latin typeface="Calibri"/>
              <a:cs typeface="Calibri"/>
            </a:endParaRPr>
          </a:p>
          <a:p>
            <a:pPr marL="379730">
              <a:lnSpc>
                <a:spcPct val="100000"/>
              </a:lnSpc>
              <a:spcBef>
                <a:spcPts val="994"/>
              </a:spcBef>
            </a:pPr>
            <a:r>
              <a:rPr sz="1600" spc="-10" dirty="0">
                <a:latin typeface="Calibri"/>
                <a:cs typeface="Calibri"/>
              </a:rPr>
              <a:t>else:</a:t>
            </a:r>
            <a:endParaRPr sz="1600">
              <a:latin typeface="Calibri"/>
              <a:cs typeface="Calibri"/>
            </a:endParaRPr>
          </a:p>
          <a:p>
            <a:pPr marL="562610">
              <a:lnSpc>
                <a:spcPct val="100000"/>
              </a:lnSpc>
              <a:spcBef>
                <a:spcPts val="985"/>
              </a:spcBef>
            </a:pPr>
            <a:r>
              <a:rPr sz="1600" spc="-20" dirty="0">
                <a:latin typeface="Calibri"/>
                <a:cs typeface="Calibri"/>
              </a:rPr>
              <a:t>env.set_light(loc,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'Off')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45"/>
              </a:spcBef>
            </a:pPr>
            <a:endParaRPr sz="160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latin typeface="Calibri"/>
                <a:cs typeface="Calibri"/>
              </a:rPr>
              <a:t>env.step_time()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1600">
              <a:latin typeface="Calibri"/>
              <a:cs typeface="Calibri"/>
            </a:endParaRPr>
          </a:p>
          <a:p>
            <a:pPr marL="12700" marR="4140835">
              <a:lnSpc>
                <a:spcPct val="151400"/>
              </a:lnSpc>
            </a:pPr>
            <a:r>
              <a:rPr sz="1600" dirty="0">
                <a:latin typeface="Calibri"/>
                <a:cs typeface="Calibri"/>
              </a:rPr>
              <a:t>8.6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Running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Simulation </a:t>
            </a:r>
            <a:r>
              <a:rPr sz="1600" dirty="0">
                <a:latin typeface="Calibri"/>
                <a:cs typeface="Calibri"/>
              </a:rPr>
              <a:t>def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run_demo(steps=10):</a:t>
            </a:r>
            <a:endParaRPr sz="160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  <a:spcBef>
                <a:spcPts val="994"/>
              </a:spcBef>
            </a:pPr>
            <a:r>
              <a:rPr sz="1600" dirty="0">
                <a:latin typeface="Calibri"/>
                <a:cs typeface="Calibri"/>
              </a:rPr>
              <a:t>env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HomeEnvironment(rows=2,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cols=3)</a:t>
            </a:r>
            <a:endParaRPr sz="160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ModelBasedLightingAgent(rows=2,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cols=3,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hold_time_seconds=60)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1600">
              <a:latin typeface="Calibri"/>
              <a:cs typeface="Calibri"/>
            </a:endParaRPr>
          </a:p>
          <a:p>
            <a:pPr marL="378460" marR="4100829" indent="-182880">
              <a:lnSpc>
                <a:spcPct val="151400"/>
              </a:lnSpc>
            </a:pPr>
            <a:r>
              <a:rPr sz="1600" dirty="0">
                <a:latin typeface="Calibri"/>
                <a:cs typeface="Calibri"/>
              </a:rPr>
              <a:t>for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range(1,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steps+1): </a:t>
            </a:r>
            <a:r>
              <a:rPr sz="1600" spc="-20" dirty="0">
                <a:latin typeface="Calibri"/>
                <a:cs typeface="Calibri"/>
              </a:rPr>
              <a:t>sim_step(env,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agent)</a:t>
            </a:r>
            <a:endParaRPr sz="1600">
              <a:latin typeface="Calibri"/>
              <a:cs typeface="Calibri"/>
            </a:endParaRPr>
          </a:p>
          <a:p>
            <a:pPr marL="378460">
              <a:lnSpc>
                <a:spcPct val="100000"/>
              </a:lnSpc>
              <a:spcBef>
                <a:spcPts val="985"/>
              </a:spcBef>
            </a:pPr>
            <a:r>
              <a:rPr sz="1600" spc="-20" dirty="0">
                <a:latin typeface="Calibri"/>
                <a:cs typeface="Calibri"/>
              </a:rPr>
              <a:t>draw_home(env,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step_num=s)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69900" y="1266825"/>
            <a:ext cx="8028305" cy="4841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846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time.sleep(0.5)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spc="-10" dirty="0" err="1">
                <a:latin typeface="Calibri"/>
                <a:cs typeface="Calibri"/>
              </a:rPr>
              <a:t>run_demo</a:t>
            </a:r>
            <a:r>
              <a:rPr sz="1600" spc="-10" dirty="0">
                <a:latin typeface="Calibri"/>
                <a:cs typeface="Calibri"/>
              </a:rPr>
              <a:t>()</a:t>
            </a:r>
            <a:endParaRPr lang="en-IN" sz="1600" spc="-1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  <a:p>
            <a:pPr marL="211454" indent="-198755">
              <a:lnSpc>
                <a:spcPct val="100000"/>
              </a:lnSpc>
              <a:buAutoNum type="arabicPeriod" startAt="9"/>
              <a:tabLst>
                <a:tab pos="211454" algn="l"/>
              </a:tabLst>
            </a:pPr>
            <a:r>
              <a:rPr sz="1600" b="1" dirty="0">
                <a:latin typeface="Calibri"/>
                <a:cs typeface="Calibri"/>
              </a:rPr>
              <a:t>Results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and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Discussion</a:t>
            </a:r>
            <a:endParaRPr sz="16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Smart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Home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Lighting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successfully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demonstrates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behavior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Model-Based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Reflex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Agent: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Lights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turn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immediately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when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motion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detected.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Lights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remain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after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motion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stops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hold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(e.g.,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60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seconds).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94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If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room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remains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empty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beyond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hold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automatically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turn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OFF.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internal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memory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(last_seen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timestamps),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making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efficient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realistic.</a:t>
            </a:r>
            <a:endParaRPr sz="1600" dirty="0">
              <a:latin typeface="Calibri"/>
              <a:cs typeface="Calibri"/>
            </a:endParaRPr>
          </a:p>
          <a:p>
            <a:pPr marL="12700" marR="1918335" lvl="1" indent="146050">
              <a:lnSpc>
                <a:spcPts val="2920"/>
              </a:lnSpc>
              <a:spcBef>
                <a:spcPts val="24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visual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simulation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clearly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shows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occupancy,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last-</a:t>
            </a:r>
            <a:r>
              <a:rPr sz="1600" dirty="0">
                <a:latin typeface="Calibri"/>
                <a:cs typeface="Calibri"/>
              </a:rPr>
              <a:t>seen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values,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states. </a:t>
            </a:r>
            <a:r>
              <a:rPr sz="1600" dirty="0">
                <a:latin typeface="Calibri"/>
                <a:cs typeface="Calibri"/>
              </a:rPr>
              <a:t>Example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Sample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Table: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  <a:tabLst>
                <a:tab pos="1384300" algn="l"/>
                <a:tab pos="2755900" algn="l"/>
              </a:tabLst>
            </a:pPr>
            <a:r>
              <a:rPr sz="1600" dirty="0">
                <a:latin typeface="Calibri"/>
                <a:cs typeface="Calibri"/>
              </a:rPr>
              <a:t>Step</a:t>
            </a:r>
            <a:r>
              <a:rPr sz="1600" spc="3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Motion</a:t>
            </a:r>
            <a:r>
              <a:rPr sz="1600" dirty="0">
                <a:latin typeface="Calibri"/>
                <a:cs typeface="Calibri"/>
              </a:rPr>
              <a:t>	Light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Action</a:t>
            </a:r>
            <a:r>
              <a:rPr sz="1600" dirty="0">
                <a:latin typeface="Calibri"/>
                <a:cs typeface="Calibri"/>
              </a:rPr>
              <a:t>	Light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State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  <a:tabLst>
                <a:tab pos="469900" algn="l"/>
                <a:tab pos="1384300" algn="l"/>
                <a:tab pos="2298700" algn="l"/>
              </a:tabLst>
            </a:pPr>
            <a:r>
              <a:rPr sz="1600" spc="-50" dirty="0">
                <a:latin typeface="Calibri"/>
                <a:cs typeface="Calibri"/>
              </a:rPr>
              <a:t>1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10" dirty="0">
                <a:latin typeface="Calibri"/>
                <a:cs typeface="Calibri"/>
              </a:rPr>
              <a:t>Motion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10" dirty="0">
                <a:latin typeface="Calibri"/>
                <a:cs typeface="Calibri"/>
              </a:rPr>
              <a:t>TurnOn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25" dirty="0">
                <a:latin typeface="Calibri"/>
                <a:cs typeface="Calibri"/>
              </a:rPr>
              <a:t>On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1876833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14400" y="3786786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01700" y="767232"/>
            <a:ext cx="8806815" cy="5275547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469900" indent="-457200" algn="just">
              <a:lnSpc>
                <a:spcPct val="100000"/>
              </a:lnSpc>
              <a:spcBef>
                <a:spcPts val="1085"/>
              </a:spcBef>
              <a:buAutoNum type="arabicPlain" startAt="2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NoMotion</a:t>
            </a:r>
            <a:r>
              <a:rPr sz="1600" spc="1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KeepOn</a:t>
            </a:r>
            <a:r>
              <a:rPr sz="1600" spc="275" dirty="0">
                <a:latin typeface="Calibri"/>
                <a:cs typeface="Calibri"/>
              </a:rPr>
              <a:t>   </a:t>
            </a:r>
            <a:r>
              <a:rPr sz="1600" spc="-25" dirty="0">
                <a:latin typeface="Calibri"/>
                <a:cs typeface="Calibri"/>
              </a:rPr>
              <a:t>On</a:t>
            </a:r>
            <a:endParaRPr sz="1600" dirty="0">
              <a:latin typeface="Calibri"/>
              <a:cs typeface="Calibri"/>
            </a:endParaRPr>
          </a:p>
          <a:p>
            <a:pPr marL="469900" indent="-457200" algn="just">
              <a:lnSpc>
                <a:spcPct val="100000"/>
              </a:lnSpc>
              <a:spcBef>
                <a:spcPts val="980"/>
              </a:spcBef>
              <a:buAutoNum type="arabicPlain" startAt="2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NoMotion</a:t>
            </a:r>
            <a:r>
              <a:rPr sz="1600" spc="1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TurnOff</a:t>
            </a:r>
            <a:r>
              <a:rPr sz="1600" spc="325" dirty="0">
                <a:latin typeface="Calibri"/>
                <a:cs typeface="Calibri"/>
              </a:rPr>
              <a:t>   </a:t>
            </a:r>
            <a:r>
              <a:rPr sz="1600" spc="-25" dirty="0">
                <a:latin typeface="Calibri"/>
                <a:cs typeface="Calibri"/>
              </a:rPr>
              <a:t>Off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50"/>
              </a:spcBef>
            </a:pPr>
            <a:endParaRPr sz="1600" dirty="0">
              <a:latin typeface="Calibri"/>
              <a:cs typeface="Calibri"/>
            </a:endParaRPr>
          </a:p>
          <a:p>
            <a:pPr marL="313690" indent="-300990" algn="just">
              <a:lnSpc>
                <a:spcPct val="100000"/>
              </a:lnSpc>
              <a:buAutoNum type="arabicPeriod" startAt="10"/>
              <a:tabLst>
                <a:tab pos="313690" algn="l"/>
              </a:tabLst>
            </a:pPr>
            <a:r>
              <a:rPr sz="1600" b="1" spc="-10" dirty="0">
                <a:latin typeface="Calibri"/>
                <a:cs typeface="Calibri"/>
              </a:rPr>
              <a:t>Conclusion</a:t>
            </a:r>
            <a:endParaRPr sz="1600" b="1" dirty="0">
              <a:latin typeface="Calibri"/>
              <a:cs typeface="Calibri"/>
            </a:endParaRPr>
          </a:p>
          <a:p>
            <a:pPr marL="12700" marR="363220" algn="just">
              <a:lnSpc>
                <a:spcPct val="110000"/>
              </a:lnSpc>
              <a:spcBef>
                <a:spcPts val="795"/>
              </a:spcBef>
            </a:pPr>
            <a:r>
              <a:rPr sz="1600" dirty="0">
                <a:latin typeface="Calibri"/>
                <a:cs typeface="Calibri"/>
              </a:rPr>
              <a:t>In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project,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successfully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implemented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Smart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Home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Control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Model-Based Reflex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Agent.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effectively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combines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current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sensor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input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stored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memory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make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better </a:t>
            </a:r>
            <a:r>
              <a:rPr sz="1600" dirty="0">
                <a:latin typeface="Calibri"/>
                <a:cs typeface="Calibri"/>
              </a:rPr>
              <a:t>decisions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Simple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Reflex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Agent.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project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demonstrates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importance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internal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state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in</a:t>
            </a:r>
            <a:endParaRPr sz="1600" dirty="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180"/>
              </a:spcBef>
            </a:pPr>
            <a:r>
              <a:rPr sz="1600" dirty="0">
                <a:latin typeface="Calibri"/>
                <a:cs typeface="Calibri"/>
              </a:rPr>
              <a:t>intelligent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how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such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models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design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real-</a:t>
            </a:r>
            <a:r>
              <a:rPr sz="1600" dirty="0">
                <a:latin typeface="Calibri"/>
                <a:cs typeface="Calibri"/>
              </a:rPr>
              <a:t>world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smart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home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automation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systems.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45"/>
              </a:spcBef>
            </a:pPr>
            <a:endParaRPr sz="1600" b="1" dirty="0">
              <a:latin typeface="Calibri"/>
              <a:cs typeface="Calibri"/>
            </a:endParaRPr>
          </a:p>
          <a:p>
            <a:pPr marL="313690" indent="-300990" algn="just">
              <a:lnSpc>
                <a:spcPct val="100000"/>
              </a:lnSpc>
              <a:spcBef>
                <a:spcPts val="5"/>
              </a:spcBef>
              <a:buAutoNum type="arabicPeriod" startAt="11"/>
              <a:tabLst>
                <a:tab pos="313690" algn="l"/>
              </a:tabLst>
            </a:pPr>
            <a:r>
              <a:rPr sz="1600" b="1" dirty="0">
                <a:latin typeface="Calibri"/>
                <a:cs typeface="Calibri"/>
              </a:rPr>
              <a:t>Future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Scope</a:t>
            </a:r>
            <a:endParaRPr sz="1600" b="1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80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Add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ambient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sensors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(daylight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detection).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Add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learning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capabilities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adjust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hold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automatically.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94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Add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voice-control integration.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90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Use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real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IoT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devices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like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Raspberry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Pi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ESP32.</a:t>
            </a:r>
            <a:endParaRPr sz="1600" dirty="0">
              <a:latin typeface="Calibri"/>
              <a:cs typeface="Calibri"/>
            </a:endParaRPr>
          </a:p>
          <a:p>
            <a:pPr marL="12700" marR="4657725" lvl="1" indent="146050">
              <a:lnSpc>
                <a:spcPts val="2920"/>
              </a:lnSpc>
              <a:spcBef>
                <a:spcPts val="80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Detect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multiple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people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(crowd-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decisions). 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92810"/>
            <a:ext cx="5511800" cy="5174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1600" b="1" dirty="0">
                <a:latin typeface="Calibri"/>
                <a:cs typeface="Calibri"/>
              </a:rPr>
              <a:t>Model</a:t>
            </a:r>
            <a:r>
              <a:rPr lang="en-IN" sz="1600" b="1" spc="-30" dirty="0">
                <a:latin typeface="Calibri"/>
                <a:cs typeface="Calibri"/>
              </a:rPr>
              <a:t> </a:t>
            </a:r>
            <a:r>
              <a:rPr lang="en-IN" sz="1600" b="1" dirty="0">
                <a:latin typeface="Calibri"/>
                <a:cs typeface="Calibri"/>
              </a:rPr>
              <a:t>3:</a:t>
            </a:r>
            <a:r>
              <a:rPr lang="en-IN" sz="1600" b="1" spc="-30" dirty="0">
                <a:latin typeface="Calibri"/>
                <a:cs typeface="Calibri"/>
              </a:rPr>
              <a:t> </a:t>
            </a:r>
            <a:r>
              <a:rPr lang="en-IN" sz="1600" b="1" spc="-10" dirty="0">
                <a:latin typeface="Calibri"/>
                <a:cs typeface="Calibri"/>
              </a:rPr>
              <a:t>Goal-</a:t>
            </a:r>
            <a:r>
              <a:rPr lang="en-IN" sz="1600" b="1" dirty="0">
                <a:latin typeface="Calibri"/>
                <a:cs typeface="Calibri"/>
              </a:rPr>
              <a:t>Based</a:t>
            </a:r>
            <a:r>
              <a:rPr lang="en-IN" sz="1600" b="1" spc="-30" dirty="0">
                <a:latin typeface="Calibri"/>
                <a:cs typeface="Calibri"/>
              </a:rPr>
              <a:t> </a:t>
            </a:r>
            <a:r>
              <a:rPr lang="en-IN" sz="1600" b="1" spc="-20" dirty="0">
                <a:latin typeface="Calibri"/>
                <a:cs typeface="Calibri"/>
              </a:rPr>
              <a:t>Agent</a:t>
            </a:r>
            <a:endParaRPr lang="en-IN" sz="16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libri"/>
                <a:cs typeface="Calibri"/>
              </a:rPr>
              <a:t>Application: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Self-</a:t>
            </a:r>
            <a:r>
              <a:rPr sz="1600" b="1" dirty="0">
                <a:latin typeface="Calibri"/>
                <a:cs typeface="Calibri"/>
              </a:rPr>
              <a:t>Driving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Car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–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25" dirty="0">
                <a:latin typeface="Calibri"/>
                <a:cs typeface="Calibri"/>
              </a:rPr>
              <a:t>Traffic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Light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Navigation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System</a:t>
            </a:r>
            <a:endParaRPr sz="1600" b="1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00" y="1876833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14400" y="4590188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01700" y="1874799"/>
            <a:ext cx="8867140" cy="4013835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211454" indent="-198755">
              <a:lnSpc>
                <a:spcPct val="100000"/>
              </a:lnSpc>
              <a:spcBef>
                <a:spcPts val="1085"/>
              </a:spcBef>
              <a:buAutoNum type="arabicPeriod" startAt="2"/>
              <a:tabLst>
                <a:tab pos="211454" algn="l"/>
              </a:tabLst>
            </a:pPr>
            <a:r>
              <a:rPr sz="1600" b="1" spc="-10" dirty="0">
                <a:latin typeface="Calibri"/>
                <a:cs typeface="Calibri"/>
              </a:rPr>
              <a:t>Abstract</a:t>
            </a:r>
            <a:endParaRPr sz="1600" b="1" dirty="0">
              <a:latin typeface="Calibri"/>
              <a:cs typeface="Calibri"/>
            </a:endParaRPr>
          </a:p>
          <a:p>
            <a:pPr marL="12700" marR="377825">
              <a:lnSpc>
                <a:spcPct val="110000"/>
              </a:lnSpc>
              <a:spcBef>
                <a:spcPts val="795"/>
              </a:spcBef>
            </a:pPr>
            <a:r>
              <a:rPr sz="1600" dirty="0">
                <a:latin typeface="Calibri"/>
                <a:cs typeface="Calibri"/>
              </a:rPr>
              <a:t>In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project,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implemented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Goal-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simulate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how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self-</a:t>
            </a:r>
            <a:r>
              <a:rPr sz="1600" dirty="0">
                <a:latin typeface="Calibri"/>
                <a:cs typeface="Calibri"/>
              </a:rPr>
              <a:t>driving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behaves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traffic </a:t>
            </a:r>
            <a:r>
              <a:rPr sz="1600" dirty="0">
                <a:latin typeface="Calibri"/>
                <a:cs typeface="Calibri"/>
              </a:rPr>
              <a:t>signal.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receives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percepts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(Red,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35" dirty="0">
                <a:latin typeface="Calibri"/>
                <a:cs typeface="Calibri"/>
              </a:rPr>
              <a:t>Yellow,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Green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light)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chooses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appropriate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actions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(Stop,</a:t>
            </a:r>
            <a:endParaRPr sz="1600" dirty="0">
              <a:latin typeface="Calibri"/>
              <a:cs typeface="Calibri"/>
            </a:endParaRPr>
          </a:p>
          <a:p>
            <a:pPr marL="12700" marR="5080">
              <a:lnSpc>
                <a:spcPct val="109700"/>
              </a:lnSpc>
              <a:spcBef>
                <a:spcPts val="5"/>
              </a:spcBef>
            </a:pPr>
            <a:r>
              <a:rPr sz="1600" dirty="0">
                <a:latin typeface="Calibri"/>
                <a:cs typeface="Calibri"/>
              </a:rPr>
              <a:t>SlowDown,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Go)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goal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safe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driving.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main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objective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reach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 </a:t>
            </a:r>
            <a:r>
              <a:rPr sz="1600" spc="-10" dirty="0">
                <a:latin typeface="Calibri"/>
                <a:cs typeface="Calibri"/>
              </a:rPr>
              <a:t>destination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safely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while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obeying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traffic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rules.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implemented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Python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Jupyter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Notebook,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visual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simulation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Matplotlib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shows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moving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road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reacting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traffic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lights.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This</a:t>
            </a:r>
            <a:endParaRPr sz="1600" dirty="0">
              <a:latin typeface="Calibri"/>
              <a:cs typeface="Calibri"/>
            </a:endParaRPr>
          </a:p>
          <a:p>
            <a:pPr marL="12700" marR="201295">
              <a:lnSpc>
                <a:spcPts val="211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project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clearly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demonstrates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how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Goal-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goals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make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intelligent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decisions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compared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to </a:t>
            </a:r>
            <a:r>
              <a:rPr sz="1600" dirty="0">
                <a:latin typeface="Calibri"/>
                <a:cs typeface="Calibri"/>
              </a:rPr>
              <a:t>simple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reflex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agents.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45"/>
              </a:spcBef>
            </a:pPr>
            <a:endParaRPr sz="1600" dirty="0">
              <a:latin typeface="Calibri"/>
              <a:cs typeface="Calibri"/>
            </a:endParaRPr>
          </a:p>
          <a:p>
            <a:pPr marL="211454" indent="-198755">
              <a:lnSpc>
                <a:spcPct val="100000"/>
              </a:lnSpc>
              <a:spcBef>
                <a:spcPts val="5"/>
              </a:spcBef>
              <a:buAutoNum type="arabicPeriod" startAt="3"/>
              <a:tabLst>
                <a:tab pos="211454" algn="l"/>
              </a:tabLst>
            </a:pPr>
            <a:r>
              <a:rPr sz="1600" b="1" spc="-10" dirty="0">
                <a:latin typeface="Calibri"/>
                <a:cs typeface="Calibri"/>
              </a:rPr>
              <a:t>Introduction</a:t>
            </a:r>
            <a:endParaRPr sz="1600" b="1" dirty="0">
              <a:latin typeface="Calibri"/>
              <a:cs typeface="Calibri"/>
            </a:endParaRPr>
          </a:p>
          <a:p>
            <a:pPr marL="12700" marR="6985">
              <a:lnSpc>
                <a:spcPct val="109800"/>
              </a:lnSpc>
              <a:spcBef>
                <a:spcPts val="795"/>
              </a:spcBef>
            </a:pPr>
            <a:r>
              <a:rPr sz="1600" dirty="0">
                <a:latin typeface="Calibri"/>
                <a:cs typeface="Calibri"/>
              </a:rPr>
              <a:t>Artificial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Intelligence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(AI)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categorized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how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make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decisions.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Goal-Based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Agent </a:t>
            </a:r>
            <a:r>
              <a:rPr sz="1600" dirty="0">
                <a:latin typeface="Calibri"/>
                <a:cs typeface="Calibri"/>
              </a:rPr>
              <a:t>selects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actions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achieving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specific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goal,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rather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only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reacting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inputs.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makes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more </a:t>
            </a:r>
            <a:r>
              <a:rPr sz="1600" dirty="0">
                <a:latin typeface="Calibri"/>
                <a:cs typeface="Calibri"/>
              </a:rPr>
              <a:t>intelligent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than</a:t>
            </a:r>
            <a:r>
              <a:rPr sz="1600" spc="-30" dirty="0">
                <a:latin typeface="Calibri"/>
                <a:cs typeface="Calibri"/>
              </a:rPr>
              <a:t> reflex-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agents.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2947062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14400" y="5800625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01700" y="867816"/>
            <a:ext cx="8888095" cy="569595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600" dirty="0">
                <a:latin typeface="Calibri"/>
                <a:cs typeface="Calibri"/>
              </a:rPr>
              <a:t>In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project,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implemented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self-</a:t>
            </a:r>
            <a:r>
              <a:rPr sz="1600" dirty="0">
                <a:latin typeface="Calibri"/>
                <a:cs typeface="Calibri"/>
              </a:rPr>
              <a:t>driving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approaches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traffic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makes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decisions</a:t>
            </a:r>
            <a:endParaRPr sz="1600" dirty="0">
              <a:latin typeface="Calibri"/>
              <a:cs typeface="Calibri"/>
            </a:endParaRPr>
          </a:p>
          <a:p>
            <a:pPr marL="12700" marR="5080">
              <a:lnSpc>
                <a:spcPct val="109400"/>
              </a:lnSpc>
              <a:spcBef>
                <a:spcPts val="15"/>
              </a:spcBef>
            </a:pPr>
            <a:r>
              <a:rPr sz="1600" dirty="0">
                <a:latin typeface="Calibri"/>
                <a:cs typeface="Calibri"/>
              </a:rPr>
              <a:t>depending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</a:t>
            </a:r>
            <a:r>
              <a:rPr sz="1600" spc="-30" dirty="0">
                <a:latin typeface="Calibri"/>
                <a:cs typeface="Calibri"/>
              </a:rPr>
              <a:t> color.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car's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goal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safe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driving,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actions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follow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goal.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Self-</a:t>
            </a:r>
            <a:r>
              <a:rPr sz="1600" dirty="0">
                <a:latin typeface="Calibri"/>
                <a:cs typeface="Calibri"/>
              </a:rPr>
              <a:t>driving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cars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in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real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world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similar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decision-</a:t>
            </a:r>
            <a:r>
              <a:rPr sz="1600" dirty="0">
                <a:latin typeface="Calibri"/>
                <a:cs typeface="Calibri"/>
              </a:rPr>
              <a:t>making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avoid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collisions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follow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traffic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laws.</a:t>
            </a:r>
            <a:endParaRPr sz="1600" dirty="0">
              <a:latin typeface="Calibri"/>
              <a:cs typeface="Calibri"/>
            </a:endParaRPr>
          </a:p>
          <a:p>
            <a:pPr marL="12700" marR="319405">
              <a:lnSpc>
                <a:spcPct val="109400"/>
              </a:lnSpc>
              <a:spcBef>
                <a:spcPts val="815"/>
              </a:spcBef>
            </a:pP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simple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road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traffic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setup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simulated,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car's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position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light’s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state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updated </a:t>
            </a:r>
            <a:r>
              <a:rPr sz="1600" spc="-20" dirty="0">
                <a:latin typeface="Calibri"/>
                <a:cs typeface="Calibri"/>
              </a:rPr>
              <a:t>step-</a:t>
            </a:r>
            <a:r>
              <a:rPr sz="1600" spc="-30" dirty="0">
                <a:latin typeface="Calibri"/>
                <a:cs typeface="Calibri"/>
              </a:rPr>
              <a:t>by-</a:t>
            </a:r>
            <a:r>
              <a:rPr sz="1600" dirty="0">
                <a:latin typeface="Calibri"/>
                <a:cs typeface="Calibri"/>
              </a:rPr>
              <a:t>step.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project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includes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animated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visualization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makes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easy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understand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how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makes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decisions.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45"/>
              </a:spcBef>
            </a:pPr>
            <a:endParaRPr sz="1600" dirty="0">
              <a:latin typeface="Calibri"/>
              <a:cs typeface="Calibri"/>
            </a:endParaRPr>
          </a:p>
          <a:p>
            <a:pPr marL="211454" indent="-198755">
              <a:lnSpc>
                <a:spcPct val="100000"/>
              </a:lnSpc>
              <a:buAutoNum type="arabicPeriod" startAt="4"/>
              <a:tabLst>
                <a:tab pos="211454" algn="l"/>
              </a:tabLst>
            </a:pPr>
            <a:r>
              <a:rPr sz="1600" b="1" dirty="0">
                <a:latin typeface="Calibri"/>
                <a:cs typeface="Calibri"/>
              </a:rPr>
              <a:t>Problem</a:t>
            </a:r>
            <a:r>
              <a:rPr sz="1600" b="1" spc="-8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Statement</a:t>
            </a:r>
            <a:endParaRPr sz="1600" b="1" dirty="0">
              <a:latin typeface="Calibri"/>
              <a:cs typeface="Calibri"/>
            </a:endParaRPr>
          </a:p>
          <a:p>
            <a:pPr marL="12700" marR="214629">
              <a:lnSpc>
                <a:spcPct val="109400"/>
              </a:lnSpc>
              <a:spcBef>
                <a:spcPts val="805"/>
              </a:spcBef>
            </a:pPr>
            <a:r>
              <a:rPr sz="1600" spc="-75" dirty="0">
                <a:latin typeface="Calibri"/>
                <a:cs typeface="Calibri"/>
              </a:rPr>
              <a:t>To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design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simulate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Goal-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controls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self-</a:t>
            </a:r>
            <a:r>
              <a:rPr sz="1600" dirty="0">
                <a:latin typeface="Calibri"/>
                <a:cs typeface="Calibri"/>
              </a:rPr>
              <a:t>driving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approaching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traffic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such </a:t>
            </a:r>
            <a:r>
              <a:rPr sz="1600" spc="-10" dirty="0">
                <a:latin typeface="Calibri"/>
                <a:cs typeface="Calibri"/>
              </a:rPr>
              <a:t>that: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94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It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stops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signal.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It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slows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down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yellow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signal.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It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moves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forward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green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signal.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94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Every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decision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must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satisfy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agent’s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main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goal: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safe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driving.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9"/>
              </a:spcBef>
            </a:pPr>
            <a:endParaRPr sz="1600" dirty="0">
              <a:latin typeface="Calibri"/>
              <a:cs typeface="Calibri"/>
            </a:endParaRPr>
          </a:p>
          <a:p>
            <a:pPr marL="211454" indent="-198755">
              <a:lnSpc>
                <a:spcPct val="100000"/>
              </a:lnSpc>
              <a:buAutoNum type="arabicPeriod" startAt="5"/>
              <a:tabLst>
                <a:tab pos="211454" algn="l"/>
              </a:tabLst>
            </a:pPr>
            <a:r>
              <a:rPr sz="1600" b="1" spc="-10" dirty="0">
                <a:latin typeface="Calibri"/>
                <a:cs typeface="Calibri"/>
              </a:rPr>
              <a:t>Objectives</a:t>
            </a:r>
            <a:endParaRPr sz="1600" b="1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94"/>
              </a:spcBef>
              <a:buChar char="•"/>
              <a:tabLst>
                <a:tab pos="158750" algn="l"/>
              </a:tabLst>
            </a:pPr>
            <a:r>
              <a:rPr sz="1600" spc="-80" dirty="0">
                <a:latin typeface="Calibri"/>
                <a:cs typeface="Calibri"/>
              </a:rPr>
              <a:t>To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understand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working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Goal-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Agents.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2614830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1700" y="767232"/>
            <a:ext cx="8466455" cy="583311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58750" indent="-146050">
              <a:lnSpc>
                <a:spcPct val="100000"/>
              </a:lnSpc>
              <a:spcBef>
                <a:spcPts val="1085"/>
              </a:spcBef>
              <a:buChar char="•"/>
              <a:tabLst>
                <a:tab pos="158750" algn="l"/>
              </a:tabLst>
            </a:pPr>
            <a:r>
              <a:rPr sz="1600" spc="-80" dirty="0">
                <a:latin typeface="Calibri"/>
                <a:cs typeface="Calibri"/>
              </a:rPr>
              <a:t>To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implement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traffic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environment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Python.</a:t>
            </a:r>
            <a:endParaRPr sz="1600" dirty="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980"/>
              </a:spcBef>
              <a:buChar char="•"/>
              <a:tabLst>
                <a:tab pos="158750" algn="l"/>
              </a:tabLst>
            </a:pPr>
            <a:r>
              <a:rPr sz="1600" spc="-80" dirty="0">
                <a:latin typeface="Calibri"/>
                <a:cs typeface="Calibri"/>
              </a:rPr>
              <a:t>To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simulate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behavior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self-</a:t>
            </a:r>
            <a:r>
              <a:rPr sz="1600" dirty="0">
                <a:latin typeface="Calibri"/>
                <a:cs typeface="Calibri"/>
              </a:rPr>
              <a:t>driving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approaching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traffic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signal.</a:t>
            </a:r>
            <a:endParaRPr sz="1600" dirty="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1000"/>
              </a:spcBef>
              <a:buChar char="•"/>
              <a:tabLst>
                <a:tab pos="158750" algn="l"/>
              </a:tabLst>
            </a:pPr>
            <a:r>
              <a:rPr sz="1600" spc="-80" dirty="0">
                <a:latin typeface="Calibri"/>
                <a:cs typeface="Calibri"/>
              </a:rPr>
              <a:t>To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visualize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agent’s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actions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road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Matplotlib.</a:t>
            </a:r>
            <a:endParaRPr sz="1600" dirty="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980"/>
              </a:spcBef>
              <a:buChar char="•"/>
              <a:tabLst>
                <a:tab pos="158750" algn="l"/>
              </a:tabLst>
            </a:pPr>
            <a:r>
              <a:rPr sz="1600" spc="-80" dirty="0">
                <a:latin typeface="Calibri"/>
                <a:cs typeface="Calibri"/>
              </a:rPr>
              <a:t>To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show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how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goals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decision-</a:t>
            </a:r>
            <a:r>
              <a:rPr sz="1600" dirty="0">
                <a:latin typeface="Calibri"/>
                <a:cs typeface="Calibri"/>
              </a:rPr>
              <a:t>making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intelligent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agents.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  <a:p>
            <a:pPr marL="211454" indent="-198755">
              <a:lnSpc>
                <a:spcPct val="100000"/>
              </a:lnSpc>
              <a:buAutoNum type="arabicPeriod" startAt="6"/>
              <a:tabLst>
                <a:tab pos="211454" algn="l"/>
              </a:tabLst>
            </a:pPr>
            <a:r>
              <a:rPr sz="1600" b="1" spc="-10" dirty="0">
                <a:latin typeface="Calibri"/>
                <a:cs typeface="Calibri"/>
              </a:rPr>
              <a:t>Literature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/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Theory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Background</a:t>
            </a:r>
            <a:endParaRPr sz="1600" b="1" dirty="0">
              <a:latin typeface="Calibri"/>
              <a:cs typeface="Calibri"/>
            </a:endParaRPr>
          </a:p>
          <a:p>
            <a:pPr marL="313055" lvl="1" indent="-300355">
              <a:lnSpc>
                <a:spcPct val="100000"/>
              </a:lnSpc>
              <a:spcBef>
                <a:spcPts val="985"/>
              </a:spcBef>
              <a:buAutoNum type="arabicPeriod"/>
              <a:tabLst>
                <a:tab pos="313055" algn="l"/>
              </a:tabLst>
            </a:pPr>
            <a:r>
              <a:rPr sz="1600" b="1" spc="-10" dirty="0">
                <a:latin typeface="Calibri"/>
                <a:cs typeface="Calibri"/>
              </a:rPr>
              <a:t>Intelligent</a:t>
            </a:r>
            <a:r>
              <a:rPr sz="1600" b="1" spc="15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Agent</a:t>
            </a:r>
            <a:endParaRPr sz="1600" b="1" dirty="0">
              <a:latin typeface="Calibri"/>
              <a:cs typeface="Calibri"/>
            </a:endParaRPr>
          </a:p>
          <a:p>
            <a:pPr marL="12700" marR="5080">
              <a:lnSpc>
                <a:spcPct val="110100"/>
              </a:lnSpc>
              <a:spcBef>
                <a:spcPts val="790"/>
              </a:spcBef>
            </a:pPr>
            <a:r>
              <a:rPr sz="1600" dirty="0">
                <a:latin typeface="Calibri"/>
                <a:cs typeface="Calibri"/>
              </a:rPr>
              <a:t>An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intelligent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perceives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environment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through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sensors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upon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through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actuators.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 </a:t>
            </a:r>
            <a:r>
              <a:rPr sz="1600" dirty="0">
                <a:latin typeface="Calibri"/>
                <a:cs typeface="Calibri"/>
              </a:rPr>
              <a:t>quality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depends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how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rationally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takes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decisions.</a:t>
            </a:r>
            <a:endParaRPr sz="1600" dirty="0">
              <a:latin typeface="Calibri"/>
              <a:cs typeface="Calibri"/>
            </a:endParaRPr>
          </a:p>
          <a:p>
            <a:pPr marL="313055" lvl="1" indent="-300355">
              <a:lnSpc>
                <a:spcPct val="100000"/>
              </a:lnSpc>
              <a:spcBef>
                <a:spcPts val="980"/>
              </a:spcBef>
              <a:buAutoNum type="arabicPeriod" startAt="2"/>
              <a:tabLst>
                <a:tab pos="313055" algn="l"/>
              </a:tabLst>
            </a:pPr>
            <a:r>
              <a:rPr sz="1600" b="1" spc="-10" dirty="0">
                <a:latin typeface="Calibri"/>
                <a:cs typeface="Calibri"/>
              </a:rPr>
              <a:t>Goal-</a:t>
            </a:r>
            <a:r>
              <a:rPr sz="1600" b="1" dirty="0">
                <a:latin typeface="Calibri"/>
                <a:cs typeface="Calibri"/>
              </a:rPr>
              <a:t>Based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Agent</a:t>
            </a:r>
            <a:endParaRPr sz="1600" b="1" dirty="0">
              <a:latin typeface="Calibri"/>
              <a:cs typeface="Calibri"/>
            </a:endParaRPr>
          </a:p>
          <a:p>
            <a:pPr marL="12700" marR="3162935">
              <a:lnSpc>
                <a:spcPts val="2920"/>
              </a:lnSpc>
              <a:spcBef>
                <a:spcPts val="250"/>
              </a:spcBef>
            </a:pPr>
            <a:r>
              <a:rPr sz="1600" dirty="0">
                <a:latin typeface="Calibri"/>
                <a:cs typeface="Calibri"/>
              </a:rPr>
              <a:t>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Goal-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chooses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actions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achieving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goal. </a:t>
            </a:r>
            <a:r>
              <a:rPr sz="1600" b="1" spc="-10" dirty="0">
                <a:latin typeface="Calibri"/>
                <a:cs typeface="Calibri"/>
              </a:rPr>
              <a:t>Characteristics:</a:t>
            </a:r>
            <a:endParaRPr sz="1600" b="1" dirty="0">
              <a:latin typeface="Calibri"/>
              <a:cs typeface="Calibri"/>
            </a:endParaRPr>
          </a:p>
          <a:p>
            <a:pPr marL="158750" lvl="2" indent="-146050">
              <a:lnSpc>
                <a:spcPct val="100000"/>
              </a:lnSpc>
              <a:spcBef>
                <a:spcPts val="71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Uses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goals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evaluate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actions.</a:t>
            </a:r>
            <a:endParaRPr sz="1600" dirty="0">
              <a:latin typeface="Calibri"/>
              <a:cs typeface="Calibri"/>
            </a:endParaRPr>
          </a:p>
          <a:p>
            <a:pPr marL="158750" lvl="2" indent="-146050">
              <a:lnSpc>
                <a:spcPct val="100000"/>
              </a:lnSpc>
              <a:spcBef>
                <a:spcPts val="990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More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flexible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Simple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Reflex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Agents.</a:t>
            </a:r>
            <a:endParaRPr sz="1600" dirty="0">
              <a:latin typeface="Calibri"/>
              <a:cs typeface="Calibri"/>
            </a:endParaRPr>
          </a:p>
          <a:p>
            <a:pPr marL="158750" lvl="2" indent="-146050">
              <a:lnSpc>
                <a:spcPct val="100000"/>
              </a:lnSpc>
              <a:spcBef>
                <a:spcPts val="994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Can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consider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future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consequences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actions.</a:t>
            </a:r>
            <a:endParaRPr sz="1600" dirty="0">
              <a:latin typeface="Calibri"/>
              <a:cs typeface="Calibri"/>
            </a:endParaRPr>
          </a:p>
          <a:p>
            <a:pPr marL="158750" lvl="2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Useful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partially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observable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dynamic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environments.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4830980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1700" y="767232"/>
            <a:ext cx="4855845" cy="5565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27480">
              <a:lnSpc>
                <a:spcPct val="1513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6.3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Real-</a:t>
            </a:r>
            <a:r>
              <a:rPr sz="1600" spc="-10" dirty="0">
                <a:latin typeface="Calibri"/>
                <a:cs typeface="Calibri"/>
              </a:rPr>
              <a:t>World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Example: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Self-</a:t>
            </a:r>
            <a:r>
              <a:rPr sz="1600" dirty="0">
                <a:latin typeface="Calibri"/>
                <a:cs typeface="Calibri"/>
              </a:rPr>
              <a:t>Driving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Cars </a:t>
            </a:r>
            <a:r>
              <a:rPr sz="1600" dirty="0">
                <a:latin typeface="Calibri"/>
                <a:cs typeface="Calibri"/>
              </a:rPr>
              <a:t>Modern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autonomous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vehicles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such</a:t>
            </a:r>
            <a:r>
              <a:rPr sz="1600" spc="-25" dirty="0">
                <a:latin typeface="Calibri"/>
                <a:cs typeface="Calibri"/>
              </a:rPr>
              <a:t> as:</a:t>
            </a:r>
            <a:endParaRPr sz="160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994"/>
              </a:spcBef>
              <a:buChar char="•"/>
              <a:tabLst>
                <a:tab pos="158750" algn="l"/>
              </a:tabLst>
            </a:pPr>
            <a:r>
              <a:rPr sz="1600" spc="-20" dirty="0">
                <a:latin typeface="Calibri"/>
                <a:cs typeface="Calibri"/>
              </a:rPr>
              <a:t>Tesla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Autopilot</a:t>
            </a:r>
            <a:endParaRPr sz="160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spc="-20" dirty="0">
                <a:latin typeface="Calibri"/>
                <a:cs typeface="Calibri"/>
              </a:rPr>
              <a:t>Waymo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Self-</a:t>
            </a:r>
            <a:r>
              <a:rPr sz="1600" dirty="0">
                <a:latin typeface="Calibri"/>
                <a:cs typeface="Calibri"/>
              </a:rPr>
              <a:t>Driving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Cars</a:t>
            </a:r>
            <a:endParaRPr sz="160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Mercedes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Drive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Pilot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600" dirty="0">
                <a:latin typeface="Calibri"/>
                <a:cs typeface="Calibri"/>
              </a:rPr>
              <a:t>use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goal-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reasoning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to:</a:t>
            </a:r>
            <a:endParaRPr sz="16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985"/>
              </a:spcBef>
              <a:buChar char="•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Obey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traffic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lights</a:t>
            </a:r>
            <a:endParaRPr sz="16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985"/>
              </a:spcBef>
              <a:buChar char="•"/>
              <a:tabLst>
                <a:tab pos="469900" algn="l"/>
              </a:tabLst>
            </a:pPr>
            <a:r>
              <a:rPr sz="1600" spc="-10" dirty="0">
                <a:latin typeface="Calibri"/>
                <a:cs typeface="Calibri"/>
              </a:rPr>
              <a:t>Avoid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collisions</a:t>
            </a:r>
            <a:endParaRPr sz="16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985"/>
              </a:spcBef>
              <a:buChar char="•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Reach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destination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safely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600" dirty="0">
                <a:latin typeface="Calibri"/>
                <a:cs typeface="Calibri"/>
              </a:rPr>
              <a:t>This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real-</a:t>
            </a:r>
            <a:r>
              <a:rPr sz="1600" dirty="0">
                <a:latin typeface="Calibri"/>
                <a:cs typeface="Calibri"/>
              </a:rPr>
              <a:t>world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case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makes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project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highly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practical.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5"/>
              </a:spcBef>
            </a:pPr>
            <a:endParaRPr sz="1600">
              <a:latin typeface="Calibri"/>
              <a:cs typeface="Calibri"/>
            </a:endParaRPr>
          </a:p>
          <a:p>
            <a:pPr marL="211454" indent="-198755">
              <a:lnSpc>
                <a:spcPct val="100000"/>
              </a:lnSpc>
              <a:buAutoNum type="arabicPeriod" startAt="7"/>
              <a:tabLst>
                <a:tab pos="211454" algn="l"/>
              </a:tabLst>
            </a:pPr>
            <a:r>
              <a:rPr sz="1600" spc="-10" dirty="0">
                <a:latin typeface="Calibri"/>
                <a:cs typeface="Calibri"/>
              </a:rPr>
              <a:t>System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Design</a:t>
            </a:r>
            <a:endParaRPr sz="1600">
              <a:latin typeface="Calibri"/>
              <a:cs typeface="Calibri"/>
            </a:endParaRPr>
          </a:p>
          <a:p>
            <a:pPr marL="313055" lvl="1" indent="-300355">
              <a:lnSpc>
                <a:spcPct val="100000"/>
              </a:lnSpc>
              <a:spcBef>
                <a:spcPts val="994"/>
              </a:spcBef>
              <a:buAutoNum type="arabicPeriod"/>
              <a:tabLst>
                <a:tab pos="313055" algn="l"/>
              </a:tabLst>
            </a:pPr>
            <a:r>
              <a:rPr sz="1600" spc="-10" dirty="0">
                <a:latin typeface="Calibri"/>
                <a:cs typeface="Calibri"/>
              </a:rPr>
              <a:t>Environment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environment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consists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of:</a:t>
            </a:r>
            <a:endParaRPr sz="1600">
              <a:latin typeface="Calibri"/>
              <a:cs typeface="Calibri"/>
            </a:endParaRPr>
          </a:p>
          <a:p>
            <a:pPr marL="158750" lvl="2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A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straight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road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767232"/>
            <a:ext cx="3942079" cy="556514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58750" indent="-146050">
              <a:lnSpc>
                <a:spcPct val="100000"/>
              </a:lnSpc>
              <a:spcBef>
                <a:spcPts val="108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car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position</a:t>
            </a:r>
            <a:endParaRPr sz="1600" dirty="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980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traffic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3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states: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Red,</a:t>
            </a:r>
            <a:r>
              <a:rPr sz="1600" spc="-35" dirty="0">
                <a:latin typeface="Calibri"/>
                <a:cs typeface="Calibri"/>
              </a:rPr>
              <a:t> Yellow,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Green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600" b="1" dirty="0">
                <a:latin typeface="Calibri"/>
                <a:cs typeface="Calibri"/>
              </a:rPr>
              <a:t>7.2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Agent</a:t>
            </a:r>
            <a:endParaRPr sz="1600" b="1" dirty="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980"/>
              </a:spcBef>
              <a:buChar char="•"/>
              <a:tabLst>
                <a:tab pos="158750" algn="l"/>
              </a:tabLst>
            </a:pPr>
            <a:r>
              <a:rPr sz="1600" spc="-10" dirty="0">
                <a:latin typeface="Calibri"/>
                <a:cs typeface="Calibri"/>
              </a:rPr>
              <a:t>Percept: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traffic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color</a:t>
            </a:r>
            <a:endParaRPr sz="1600" dirty="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990"/>
              </a:spcBef>
              <a:buChar char="•"/>
              <a:tabLst>
                <a:tab pos="158750" algn="l"/>
              </a:tabLst>
            </a:pPr>
            <a:r>
              <a:rPr sz="1600" spc="-10" dirty="0">
                <a:latin typeface="Calibri"/>
                <a:cs typeface="Calibri"/>
              </a:rPr>
              <a:t>Action:</a:t>
            </a:r>
            <a:endParaRPr sz="1600" dirty="0">
              <a:latin typeface="Calibri"/>
              <a:cs typeface="Calibri"/>
            </a:endParaRPr>
          </a:p>
          <a:p>
            <a:pPr marL="120650" indent="-107950">
              <a:lnSpc>
                <a:spcPct val="100000"/>
              </a:lnSpc>
              <a:spcBef>
                <a:spcPts val="994"/>
              </a:spcBef>
              <a:buChar char="-"/>
              <a:tabLst>
                <a:tab pos="120650" algn="l"/>
              </a:tabLst>
            </a:pPr>
            <a:r>
              <a:rPr sz="1600" spc="-10" dirty="0">
                <a:latin typeface="Calibri"/>
                <a:cs typeface="Calibri"/>
              </a:rPr>
              <a:t>"Stop"</a:t>
            </a:r>
            <a:endParaRPr sz="1600" dirty="0">
              <a:latin typeface="Calibri"/>
              <a:cs typeface="Calibri"/>
            </a:endParaRPr>
          </a:p>
          <a:p>
            <a:pPr marL="120650" indent="-107950">
              <a:lnSpc>
                <a:spcPct val="100000"/>
              </a:lnSpc>
              <a:spcBef>
                <a:spcPts val="985"/>
              </a:spcBef>
              <a:buChar char="-"/>
              <a:tabLst>
                <a:tab pos="120650" algn="l"/>
              </a:tabLst>
            </a:pPr>
            <a:r>
              <a:rPr sz="1600" spc="-10" dirty="0">
                <a:latin typeface="Calibri"/>
                <a:cs typeface="Calibri"/>
              </a:rPr>
              <a:t>"SlowDown"</a:t>
            </a:r>
            <a:endParaRPr sz="1600" dirty="0">
              <a:latin typeface="Calibri"/>
              <a:cs typeface="Calibri"/>
            </a:endParaRPr>
          </a:p>
          <a:p>
            <a:pPr marL="120650" indent="-107950">
              <a:lnSpc>
                <a:spcPct val="100000"/>
              </a:lnSpc>
              <a:spcBef>
                <a:spcPts val="985"/>
              </a:spcBef>
              <a:buChar char="-"/>
              <a:tabLst>
                <a:tab pos="120650" algn="l"/>
              </a:tabLst>
            </a:pPr>
            <a:r>
              <a:rPr sz="1600" spc="-20" dirty="0">
                <a:latin typeface="Calibri"/>
                <a:cs typeface="Calibri"/>
              </a:rPr>
              <a:t>"Go"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00" b="1" dirty="0">
                <a:latin typeface="Calibri"/>
                <a:cs typeface="Calibri"/>
              </a:rPr>
              <a:t>7.3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Goal</a:t>
            </a:r>
            <a:endParaRPr sz="16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600" spc="-10" dirty="0">
                <a:latin typeface="Calibri"/>
                <a:cs typeface="Calibri"/>
              </a:rPr>
              <a:t>“Reach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destination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safely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legally.”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00" b="1" dirty="0">
                <a:latin typeface="Calibri"/>
                <a:cs typeface="Calibri"/>
              </a:rPr>
              <a:t>7.4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Action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Rules</a:t>
            </a:r>
            <a:endParaRPr sz="1600" b="1" dirty="0">
              <a:latin typeface="Calibri"/>
              <a:cs typeface="Calibri"/>
            </a:endParaRPr>
          </a:p>
          <a:p>
            <a:pPr marL="195580" marR="1658620" indent="-183515">
              <a:lnSpc>
                <a:spcPts val="2920"/>
              </a:lnSpc>
              <a:spcBef>
                <a:spcPts val="245"/>
              </a:spcBef>
            </a:pPr>
            <a:r>
              <a:rPr sz="1600" dirty="0">
                <a:latin typeface="Calibri"/>
                <a:cs typeface="Calibri"/>
              </a:rPr>
              <a:t>IF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goal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==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SafeDriving </a:t>
            </a:r>
            <a:r>
              <a:rPr sz="1600" spc="-20" dirty="0">
                <a:latin typeface="Calibri"/>
                <a:cs typeface="Calibri"/>
              </a:rPr>
              <a:t>THEN </a:t>
            </a:r>
            <a:r>
              <a:rPr sz="1600" dirty="0">
                <a:latin typeface="Calibri"/>
                <a:cs typeface="Calibri"/>
              </a:rPr>
              <a:t>IF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-&gt;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Stop</a:t>
            </a:r>
            <a:endParaRPr sz="1600" dirty="0">
              <a:latin typeface="Calibri"/>
              <a:cs typeface="Calibri"/>
            </a:endParaRPr>
          </a:p>
          <a:p>
            <a:pPr marL="195580" marR="1886585">
              <a:lnSpc>
                <a:spcPts val="2900"/>
              </a:lnSpc>
            </a:pPr>
            <a:r>
              <a:rPr sz="1600" dirty="0">
                <a:latin typeface="Calibri"/>
                <a:cs typeface="Calibri"/>
              </a:rPr>
              <a:t>IF</a:t>
            </a:r>
            <a:r>
              <a:rPr sz="1600" spc="-20" dirty="0">
                <a:latin typeface="Calibri"/>
                <a:cs typeface="Calibri"/>
              </a:rPr>
              <a:t> Yellow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-&gt;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SlowDown </a:t>
            </a:r>
            <a:r>
              <a:rPr sz="1600" dirty="0">
                <a:latin typeface="Calibri"/>
                <a:cs typeface="Calibri"/>
              </a:rPr>
              <a:t>IF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Green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-&gt;</a:t>
            </a:r>
            <a:r>
              <a:rPr sz="1600" spc="-25" dirty="0">
                <a:latin typeface="Calibri"/>
                <a:cs typeface="Calibri"/>
              </a:rPr>
              <a:t> Go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1700" y="767232"/>
            <a:ext cx="5006340" cy="3005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31645">
              <a:lnSpc>
                <a:spcPct val="151300"/>
              </a:lnSpc>
              <a:spcBef>
                <a:spcPts val="100"/>
              </a:spcBef>
            </a:pP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50"/>
              </a:spcBef>
            </a:pPr>
            <a:endParaRPr sz="1600" dirty="0">
              <a:latin typeface="Calibri"/>
              <a:cs typeface="Calibri"/>
            </a:endParaRPr>
          </a:p>
          <a:p>
            <a:pPr marL="211454" indent="-198755">
              <a:lnSpc>
                <a:spcPct val="100000"/>
              </a:lnSpc>
              <a:buAutoNum type="arabicPeriod" startAt="8"/>
              <a:tabLst>
                <a:tab pos="211454" algn="l"/>
              </a:tabLst>
            </a:pPr>
            <a:r>
              <a:rPr sz="1600" spc="-10" dirty="0">
                <a:latin typeface="Calibri"/>
                <a:cs typeface="Calibri"/>
              </a:rPr>
              <a:t>Implementation</a:t>
            </a:r>
            <a:endParaRPr sz="1600" dirty="0">
              <a:latin typeface="Calibri"/>
              <a:cs typeface="Calibri"/>
            </a:endParaRPr>
          </a:p>
          <a:p>
            <a:pPr marL="313055" lvl="1" indent="-300355">
              <a:lnSpc>
                <a:spcPct val="100000"/>
              </a:lnSpc>
              <a:spcBef>
                <a:spcPts val="985"/>
              </a:spcBef>
              <a:buAutoNum type="arabicPeriod"/>
              <a:tabLst>
                <a:tab pos="313055" algn="l"/>
              </a:tabLst>
            </a:pPr>
            <a:r>
              <a:rPr sz="1600" spc="-25" dirty="0">
                <a:latin typeface="Calibri"/>
                <a:cs typeface="Calibri"/>
              </a:rPr>
              <a:t>Tools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Technologies</a:t>
            </a:r>
            <a:endParaRPr sz="1600" dirty="0">
              <a:latin typeface="Calibri"/>
              <a:cs typeface="Calibri"/>
            </a:endParaRPr>
          </a:p>
          <a:p>
            <a:pPr marL="158750" lvl="2" indent="-146050">
              <a:lnSpc>
                <a:spcPct val="100000"/>
              </a:lnSpc>
              <a:spcBef>
                <a:spcPts val="980"/>
              </a:spcBef>
              <a:buChar char="•"/>
              <a:tabLst>
                <a:tab pos="158750" algn="l"/>
              </a:tabLst>
            </a:pPr>
            <a:r>
              <a:rPr sz="1600" spc="-10" dirty="0">
                <a:latin typeface="Calibri"/>
                <a:cs typeface="Calibri"/>
              </a:rPr>
              <a:t>Python</a:t>
            </a:r>
            <a:endParaRPr sz="1600" dirty="0">
              <a:latin typeface="Calibri"/>
              <a:cs typeface="Calibri"/>
            </a:endParaRPr>
          </a:p>
          <a:p>
            <a:pPr marL="158750" lvl="2" indent="-146050">
              <a:lnSpc>
                <a:spcPct val="100000"/>
              </a:lnSpc>
              <a:spcBef>
                <a:spcPts val="1000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Jupyter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Notebook</a:t>
            </a:r>
            <a:endParaRPr sz="1600" dirty="0">
              <a:latin typeface="Calibri"/>
              <a:cs typeface="Calibri"/>
            </a:endParaRPr>
          </a:p>
          <a:p>
            <a:pPr marL="158750" lvl="2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matplotlib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(visualization)</a:t>
            </a:r>
            <a:endParaRPr sz="1600" dirty="0">
              <a:latin typeface="Calibri"/>
              <a:cs typeface="Calibri"/>
            </a:endParaRPr>
          </a:p>
          <a:p>
            <a:pPr marL="158750" lvl="2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time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(animation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delay)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1700" y="1134516"/>
            <a:ext cx="3530600" cy="52338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01065">
              <a:lnSpc>
                <a:spcPct val="151900"/>
              </a:lnSpc>
              <a:spcBef>
                <a:spcPts val="100"/>
              </a:spcBef>
            </a:pPr>
            <a:r>
              <a:rPr sz="1600" b="1" dirty="0">
                <a:latin typeface="Calibri"/>
                <a:cs typeface="Calibri"/>
              </a:rPr>
              <a:t>8.2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Goal-</a:t>
            </a:r>
            <a:r>
              <a:rPr sz="1600" b="1" dirty="0">
                <a:latin typeface="Calibri"/>
                <a:cs typeface="Calibri"/>
              </a:rPr>
              <a:t>Based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Agent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(Code) </a:t>
            </a:r>
            <a:r>
              <a:rPr sz="1600" dirty="0">
                <a:latin typeface="Calibri"/>
                <a:cs typeface="Calibri"/>
              </a:rPr>
              <a:t>class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GoalBasedCarAgent:</a:t>
            </a:r>
            <a:endParaRPr sz="1600" dirty="0">
              <a:latin typeface="Calibri"/>
              <a:cs typeface="Calibri"/>
            </a:endParaRPr>
          </a:p>
          <a:p>
            <a:pPr marL="378460" marR="5080" indent="-182880">
              <a:lnSpc>
                <a:spcPts val="2910"/>
              </a:lnSpc>
              <a:spcBef>
                <a:spcPts val="254"/>
              </a:spcBef>
              <a:tabLst>
                <a:tab pos="710565" algn="l"/>
                <a:tab pos="1182370" algn="l"/>
              </a:tabLst>
            </a:pPr>
            <a:r>
              <a:rPr sz="1600" dirty="0">
                <a:latin typeface="Calibri"/>
                <a:cs typeface="Calibri"/>
              </a:rPr>
              <a:t>def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600" spc="-20" dirty="0">
                <a:latin typeface="Calibri"/>
                <a:cs typeface="Calibri"/>
              </a:rPr>
              <a:t>init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600" spc="-10" dirty="0">
                <a:latin typeface="Calibri"/>
                <a:cs typeface="Calibri"/>
              </a:rPr>
              <a:t>(self,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goal="SafeDriving"): self.goal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goal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80"/>
              </a:spcBef>
            </a:pPr>
            <a:endParaRPr sz="1600" dirty="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def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decide(self,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light_color):</a:t>
            </a:r>
            <a:endParaRPr sz="1600" dirty="0">
              <a:latin typeface="Calibri"/>
              <a:cs typeface="Calibri"/>
            </a:endParaRPr>
          </a:p>
          <a:p>
            <a:pPr marL="562610" marR="628650" indent="-184785">
              <a:lnSpc>
                <a:spcPts val="2910"/>
              </a:lnSpc>
              <a:spcBef>
                <a:spcPts val="259"/>
              </a:spcBef>
            </a:pPr>
            <a:r>
              <a:rPr sz="1600" dirty="0">
                <a:latin typeface="Calibri"/>
                <a:cs typeface="Calibri"/>
              </a:rPr>
              <a:t>if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self.goal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==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"SafeDriving": </a:t>
            </a:r>
            <a:r>
              <a:rPr sz="1600" dirty="0">
                <a:latin typeface="Calibri"/>
                <a:cs typeface="Calibri"/>
              </a:rPr>
              <a:t>if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light_color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==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"Red":</a:t>
            </a:r>
            <a:endParaRPr sz="1600" dirty="0">
              <a:latin typeface="Calibri"/>
              <a:cs typeface="Calibri"/>
            </a:endParaRPr>
          </a:p>
          <a:p>
            <a:pPr marL="745490">
              <a:lnSpc>
                <a:spcPct val="100000"/>
              </a:lnSpc>
              <a:spcBef>
                <a:spcPts val="730"/>
              </a:spcBef>
            </a:pPr>
            <a:r>
              <a:rPr sz="1600" dirty="0">
                <a:latin typeface="Calibri"/>
                <a:cs typeface="Calibri"/>
              </a:rPr>
              <a:t>return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"Stop"</a:t>
            </a:r>
            <a:endParaRPr sz="1600" dirty="0">
              <a:latin typeface="Calibri"/>
              <a:cs typeface="Calibri"/>
            </a:endParaRPr>
          </a:p>
          <a:p>
            <a:pPr marL="745490" marR="492759" indent="-182880">
              <a:lnSpc>
                <a:spcPct val="151200"/>
              </a:lnSpc>
            </a:pPr>
            <a:r>
              <a:rPr sz="1600" dirty="0">
                <a:latin typeface="Calibri"/>
                <a:cs typeface="Calibri"/>
              </a:rPr>
              <a:t>elif </a:t>
            </a:r>
            <a:r>
              <a:rPr sz="1600" spc="-10" dirty="0">
                <a:latin typeface="Calibri"/>
                <a:cs typeface="Calibri"/>
              </a:rPr>
              <a:t>light_color </a:t>
            </a:r>
            <a:r>
              <a:rPr sz="1600" dirty="0">
                <a:latin typeface="Calibri"/>
                <a:cs typeface="Calibri"/>
              </a:rPr>
              <a:t>== </a:t>
            </a:r>
            <a:r>
              <a:rPr sz="1600" spc="-10" dirty="0">
                <a:latin typeface="Calibri"/>
                <a:cs typeface="Calibri"/>
              </a:rPr>
              <a:t>"Yellow": </a:t>
            </a:r>
            <a:r>
              <a:rPr sz="1600" dirty="0">
                <a:latin typeface="Calibri"/>
                <a:cs typeface="Calibri"/>
              </a:rPr>
              <a:t>return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"SlowDown"</a:t>
            </a:r>
            <a:endParaRPr sz="1600" dirty="0">
              <a:latin typeface="Calibri"/>
              <a:cs typeface="Calibri"/>
            </a:endParaRPr>
          </a:p>
          <a:p>
            <a:pPr marL="745490" marR="517525" indent="-182880">
              <a:lnSpc>
                <a:spcPct val="151400"/>
              </a:lnSpc>
              <a:spcBef>
                <a:spcPts val="10"/>
              </a:spcBef>
            </a:pPr>
            <a:r>
              <a:rPr sz="1600" dirty="0">
                <a:latin typeface="Calibri"/>
                <a:cs typeface="Calibri"/>
              </a:rPr>
              <a:t>elif </a:t>
            </a:r>
            <a:r>
              <a:rPr sz="1600" spc="-10" dirty="0">
                <a:latin typeface="Calibri"/>
                <a:cs typeface="Calibri"/>
              </a:rPr>
              <a:t>light_color </a:t>
            </a:r>
            <a:r>
              <a:rPr sz="1600" dirty="0">
                <a:latin typeface="Calibri"/>
                <a:cs typeface="Calibri"/>
              </a:rPr>
              <a:t>== </a:t>
            </a:r>
            <a:r>
              <a:rPr sz="1600" spc="-10" dirty="0">
                <a:latin typeface="Calibri"/>
                <a:cs typeface="Calibri"/>
              </a:rPr>
              <a:t>"Green": </a:t>
            </a:r>
            <a:r>
              <a:rPr sz="1600" dirty="0">
                <a:latin typeface="Calibri"/>
                <a:cs typeface="Calibri"/>
              </a:rPr>
              <a:t>return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"Go"</a:t>
            </a:r>
            <a:endParaRPr sz="1600" dirty="0">
              <a:latin typeface="Calibri"/>
              <a:cs typeface="Calibri"/>
            </a:endParaRPr>
          </a:p>
          <a:p>
            <a:pPr marL="378460">
              <a:lnSpc>
                <a:spcPct val="100000"/>
              </a:lnSpc>
              <a:spcBef>
                <a:spcPts val="980"/>
              </a:spcBef>
            </a:pPr>
            <a:r>
              <a:rPr sz="1600" dirty="0">
                <a:latin typeface="Calibri"/>
                <a:cs typeface="Calibri"/>
              </a:rPr>
              <a:t>return</a:t>
            </a:r>
            <a:r>
              <a:rPr sz="1600" spc="-8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"Stop"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03300" y="1182687"/>
            <a:ext cx="5791200" cy="52395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147695">
              <a:lnSpc>
                <a:spcPct val="151900"/>
              </a:lnSpc>
              <a:spcBef>
                <a:spcPts val="100"/>
              </a:spcBef>
            </a:pPr>
            <a:r>
              <a:rPr sz="1600" b="1" dirty="0">
                <a:latin typeface="Calibri"/>
                <a:cs typeface="Calibri"/>
              </a:rPr>
              <a:t>8.3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25" dirty="0">
                <a:latin typeface="Calibri"/>
                <a:cs typeface="Calibri"/>
              </a:rPr>
              <a:t>Traffic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Environment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(Code) </a:t>
            </a:r>
            <a:r>
              <a:rPr sz="1600" dirty="0">
                <a:latin typeface="Calibri"/>
                <a:cs typeface="Calibri"/>
              </a:rPr>
              <a:t>class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TrafficEnvironment:</a:t>
            </a:r>
            <a:endParaRPr sz="1600" dirty="0">
              <a:latin typeface="Calibri"/>
              <a:cs typeface="Calibri"/>
            </a:endParaRPr>
          </a:p>
          <a:p>
            <a:pPr marL="378460" marR="1583690" indent="-182880">
              <a:lnSpc>
                <a:spcPts val="2910"/>
              </a:lnSpc>
              <a:spcBef>
                <a:spcPts val="254"/>
              </a:spcBef>
              <a:tabLst>
                <a:tab pos="710565" algn="l"/>
                <a:tab pos="1182370" algn="l"/>
              </a:tabLst>
            </a:pPr>
            <a:r>
              <a:rPr sz="1600" dirty="0">
                <a:latin typeface="Calibri"/>
                <a:cs typeface="Calibri"/>
              </a:rPr>
              <a:t>def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600" spc="-20" dirty="0">
                <a:latin typeface="Calibri"/>
                <a:cs typeface="Calibri"/>
              </a:rPr>
              <a:t>init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600" spc="-10" dirty="0">
                <a:latin typeface="Calibri"/>
                <a:cs typeface="Calibri"/>
              </a:rPr>
              <a:t>(self,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road_length=10,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car_start=0): </a:t>
            </a:r>
            <a:r>
              <a:rPr sz="1600" spc="-20" dirty="0">
                <a:latin typeface="Calibri"/>
                <a:cs typeface="Calibri"/>
              </a:rPr>
              <a:t>self.road_length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road_length</a:t>
            </a:r>
            <a:endParaRPr sz="1600" dirty="0">
              <a:latin typeface="Calibri"/>
              <a:cs typeface="Calibri"/>
            </a:endParaRPr>
          </a:p>
          <a:p>
            <a:pPr marL="378460" marR="2367280">
              <a:lnSpc>
                <a:spcPts val="2900"/>
              </a:lnSpc>
              <a:spcBef>
                <a:spcPts val="10"/>
              </a:spcBef>
            </a:pPr>
            <a:r>
              <a:rPr sz="1600" spc="-20" dirty="0">
                <a:latin typeface="Calibri"/>
                <a:cs typeface="Calibri"/>
              </a:rPr>
              <a:t>self.car_position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float(car_start) self.light_position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road_length</a:t>
            </a:r>
            <a:r>
              <a:rPr sz="1600" dirty="0">
                <a:latin typeface="Calibri"/>
                <a:cs typeface="Calibri"/>
              </a:rPr>
              <a:t> -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2</a:t>
            </a:r>
            <a:endParaRPr sz="1600" dirty="0">
              <a:latin typeface="Calibri"/>
              <a:cs typeface="Calibri"/>
            </a:endParaRPr>
          </a:p>
          <a:p>
            <a:pPr marL="378460" marR="1351280">
              <a:lnSpc>
                <a:spcPts val="2910"/>
              </a:lnSpc>
            </a:pPr>
            <a:r>
              <a:rPr sz="1600" spc="-10" dirty="0">
                <a:latin typeface="Calibri"/>
                <a:cs typeface="Calibri"/>
              </a:rPr>
              <a:t>self.light_sequence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["Green",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"Yellow",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"Red"] self.light_index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0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80"/>
              </a:spcBef>
            </a:pPr>
            <a:endParaRPr sz="1600" dirty="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def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get_light(self):</a:t>
            </a:r>
            <a:endParaRPr sz="1600" dirty="0">
              <a:latin typeface="Calibri"/>
              <a:cs typeface="Calibri"/>
            </a:endParaRPr>
          </a:p>
          <a:p>
            <a:pPr marL="37846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alibri"/>
                <a:cs typeface="Calibri"/>
              </a:rPr>
              <a:t>return</a:t>
            </a:r>
            <a:r>
              <a:rPr sz="1600" spc="-8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self.light_sequence[self.light_index]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50"/>
              </a:spcBef>
            </a:pPr>
            <a:endParaRPr sz="1600" dirty="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def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update_light(self):</a:t>
            </a:r>
            <a:endParaRPr sz="1600" dirty="0">
              <a:latin typeface="Calibri"/>
              <a:cs typeface="Calibri"/>
            </a:endParaRPr>
          </a:p>
          <a:p>
            <a:pPr marL="378460">
              <a:lnSpc>
                <a:spcPct val="100000"/>
              </a:lnSpc>
              <a:spcBef>
                <a:spcPts val="985"/>
              </a:spcBef>
            </a:pPr>
            <a:r>
              <a:rPr sz="1600" spc="-10" dirty="0">
                <a:latin typeface="Calibri"/>
                <a:cs typeface="Calibri"/>
              </a:rPr>
              <a:t>self.light_index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(self.light_index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+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1)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%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len(self.light_sequence)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5199788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1700" y="1134516"/>
            <a:ext cx="3946525" cy="519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marR="1431290" indent="-182880">
              <a:lnSpc>
                <a:spcPct val="1519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def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update_car(self,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action): </a:t>
            </a:r>
            <a:r>
              <a:rPr sz="1600" dirty="0">
                <a:latin typeface="Calibri"/>
                <a:cs typeface="Calibri"/>
              </a:rPr>
              <a:t>if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action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==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"Go":</a:t>
            </a:r>
            <a:endParaRPr sz="1600" dirty="0">
              <a:latin typeface="Calibri"/>
              <a:cs typeface="Calibri"/>
            </a:endParaRPr>
          </a:p>
          <a:p>
            <a:pPr marL="379730" marR="1360170" indent="182880">
              <a:lnSpc>
                <a:spcPts val="2910"/>
              </a:lnSpc>
              <a:spcBef>
                <a:spcPts val="254"/>
              </a:spcBef>
            </a:pPr>
            <a:r>
              <a:rPr sz="1600" spc="-20" dirty="0">
                <a:latin typeface="Calibri"/>
                <a:cs typeface="Calibri"/>
              </a:rPr>
              <a:t>self.car_position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+=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1.0 </a:t>
            </a:r>
            <a:r>
              <a:rPr sz="1600" dirty="0">
                <a:latin typeface="Calibri"/>
                <a:cs typeface="Calibri"/>
              </a:rPr>
              <a:t>elif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==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"SlowDown":</a:t>
            </a:r>
            <a:endParaRPr sz="1600" dirty="0">
              <a:latin typeface="Calibri"/>
              <a:cs typeface="Calibri"/>
            </a:endParaRPr>
          </a:p>
          <a:p>
            <a:pPr marL="379730" marR="1477010" indent="182880">
              <a:lnSpc>
                <a:spcPts val="2900"/>
              </a:lnSpc>
              <a:spcBef>
                <a:spcPts val="10"/>
              </a:spcBef>
            </a:pPr>
            <a:r>
              <a:rPr sz="1600" spc="-20" dirty="0">
                <a:latin typeface="Calibri"/>
                <a:cs typeface="Calibri"/>
              </a:rPr>
              <a:t>self.car_position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+=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0.3 </a:t>
            </a:r>
            <a:r>
              <a:rPr sz="1600" dirty="0">
                <a:latin typeface="Calibri"/>
                <a:cs typeface="Calibri"/>
              </a:rPr>
              <a:t>elif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==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"Stop":</a:t>
            </a:r>
            <a:endParaRPr sz="1600" dirty="0">
              <a:latin typeface="Calibri"/>
              <a:cs typeface="Calibri"/>
            </a:endParaRPr>
          </a:p>
          <a:p>
            <a:pPr marL="562610">
              <a:lnSpc>
                <a:spcPct val="100000"/>
              </a:lnSpc>
              <a:spcBef>
                <a:spcPts val="730"/>
              </a:spcBef>
            </a:pPr>
            <a:r>
              <a:rPr sz="1600" spc="-20" dirty="0">
                <a:latin typeface="Calibri"/>
                <a:cs typeface="Calibri"/>
              </a:rPr>
              <a:t>self.car_position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+=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0.0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600" dirty="0">
              <a:latin typeface="Calibri"/>
              <a:cs typeface="Calibri"/>
            </a:endParaRPr>
          </a:p>
          <a:p>
            <a:pPr marL="562610" marR="5080" indent="-184785">
              <a:lnSpc>
                <a:spcPct val="151200"/>
              </a:lnSpc>
            </a:pPr>
            <a:r>
              <a:rPr sz="1600" dirty="0">
                <a:latin typeface="Calibri"/>
                <a:cs typeface="Calibri"/>
              </a:rPr>
              <a:t>if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self.car_position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&gt;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self.road_length: </a:t>
            </a:r>
            <a:r>
              <a:rPr sz="1600" spc="-20" dirty="0">
                <a:latin typeface="Calibri"/>
                <a:cs typeface="Calibri"/>
              </a:rPr>
              <a:t>self.car_position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float(self.road_length)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45"/>
              </a:spcBef>
            </a:pP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Calibri"/>
                <a:cs typeface="Calibri"/>
              </a:rPr>
              <a:t>8.4</a:t>
            </a:r>
            <a:r>
              <a:rPr sz="1600" b="1" spc="-10" dirty="0">
                <a:latin typeface="Calibri"/>
                <a:cs typeface="Calibri"/>
              </a:rPr>
              <a:t> Visualization</a:t>
            </a:r>
            <a:r>
              <a:rPr sz="1600" b="1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(Code)</a:t>
            </a:r>
            <a:endParaRPr sz="1600" b="1" dirty="0">
              <a:latin typeface="Calibri"/>
              <a:cs typeface="Calibri"/>
            </a:endParaRPr>
          </a:p>
          <a:p>
            <a:pPr marL="195580" marR="650240" indent="-183515">
              <a:lnSpc>
                <a:spcPct val="151200"/>
              </a:lnSpc>
              <a:spcBef>
                <a:spcPts val="5"/>
              </a:spcBef>
            </a:pPr>
            <a:r>
              <a:rPr sz="1600" dirty="0">
                <a:latin typeface="Calibri"/>
                <a:cs typeface="Calibri"/>
              </a:rPr>
              <a:t>def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draw_scene(env,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step,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action,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light): clear_output(wait=True)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5939309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1700" y="892810"/>
            <a:ext cx="7370445" cy="5439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558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plt.figure(figsize=(10,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2.5))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1600" dirty="0">
              <a:latin typeface="Calibri"/>
              <a:cs typeface="Calibri"/>
            </a:endParaRPr>
          </a:p>
          <a:p>
            <a:pPr marL="195580" marR="2115185">
              <a:lnSpc>
                <a:spcPct val="151200"/>
              </a:lnSpc>
              <a:spcBef>
                <a:spcPts val="5"/>
              </a:spcBef>
            </a:pPr>
            <a:r>
              <a:rPr sz="1600" dirty="0">
                <a:latin typeface="Calibri"/>
                <a:cs typeface="Calibri"/>
              </a:rPr>
              <a:t>plt.hlines(0.5,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0,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env.road_length,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colors='gray', linewidth=8) plt.plot(env.car_position,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0.5,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's',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color='blue',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markersize=18)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45"/>
              </a:spcBef>
            </a:pPr>
            <a:endParaRPr sz="1600" dirty="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Calibri"/>
                <a:cs typeface="Calibri"/>
              </a:rPr>
              <a:t>color_map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{"Red":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"red",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"Yellow":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"yellow",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"Green":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"green"}</a:t>
            </a:r>
            <a:endParaRPr sz="1600" dirty="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  <a:spcBef>
                <a:spcPts val="980"/>
              </a:spcBef>
            </a:pPr>
            <a:r>
              <a:rPr sz="1600" spc="-10" dirty="0">
                <a:latin typeface="Calibri"/>
                <a:cs typeface="Calibri"/>
              </a:rPr>
              <a:t>plt.plot(env.light_position,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0.5,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'o',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color=color_map[light], markersize=28)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1600" dirty="0">
              <a:latin typeface="Calibri"/>
              <a:cs typeface="Calibri"/>
            </a:endParaRPr>
          </a:p>
          <a:p>
            <a:pPr marL="195580" marR="5080">
              <a:lnSpc>
                <a:spcPct val="151900"/>
              </a:lnSpc>
              <a:spcBef>
                <a:spcPts val="5"/>
              </a:spcBef>
            </a:pPr>
            <a:r>
              <a:rPr sz="1600" spc="-10" dirty="0">
                <a:latin typeface="Calibri"/>
                <a:cs typeface="Calibri"/>
              </a:rPr>
              <a:t>plt.title(f"Step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{step}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|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Light: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{light}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|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Action: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{action}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|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Position: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{env.car_position:.1f}") plt.xlim(-</a:t>
            </a:r>
            <a:r>
              <a:rPr sz="1600" dirty="0">
                <a:latin typeface="Calibri"/>
                <a:cs typeface="Calibri"/>
              </a:rPr>
              <a:t>0.5,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env.road_length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+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0.5)</a:t>
            </a:r>
            <a:endParaRPr sz="1600" dirty="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  <a:spcBef>
                <a:spcPts val="980"/>
              </a:spcBef>
            </a:pPr>
            <a:r>
              <a:rPr sz="1600" spc="-10" dirty="0">
                <a:latin typeface="Calibri"/>
                <a:cs typeface="Calibri"/>
              </a:rPr>
              <a:t>plt.ylim(0,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1.2)</a:t>
            </a:r>
            <a:endParaRPr sz="1600" dirty="0">
              <a:latin typeface="Calibri"/>
              <a:cs typeface="Calibri"/>
            </a:endParaRPr>
          </a:p>
          <a:p>
            <a:pPr marL="195580" marR="6145530">
              <a:lnSpc>
                <a:spcPts val="2920"/>
              </a:lnSpc>
              <a:spcBef>
                <a:spcPts val="250"/>
              </a:spcBef>
            </a:pPr>
            <a:r>
              <a:rPr sz="1600" spc="-10" dirty="0">
                <a:latin typeface="Calibri"/>
                <a:cs typeface="Calibri"/>
              </a:rPr>
              <a:t>plt.axis('off') plt.show()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70"/>
              </a:spcBef>
            </a:pP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Calibri"/>
                <a:cs typeface="Calibri"/>
              </a:rPr>
              <a:t>8.5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Simulation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(Code)</a:t>
            </a:r>
            <a:endParaRPr sz="16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767232"/>
            <a:ext cx="3978910" cy="5565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marR="5080" indent="-183515">
              <a:lnSpc>
                <a:spcPct val="1513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def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run_traffic_simulation(steps=15,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delay=0.8):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GoalBasedCarAgent()</a:t>
            </a:r>
            <a:endParaRPr sz="160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  <a:spcBef>
                <a:spcPts val="994"/>
              </a:spcBef>
            </a:pPr>
            <a:r>
              <a:rPr sz="1600" dirty="0">
                <a:latin typeface="Calibri"/>
                <a:cs typeface="Calibri"/>
              </a:rPr>
              <a:t>env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TrafficEnvironment()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1600">
              <a:latin typeface="Calibri"/>
              <a:cs typeface="Calibri"/>
            </a:endParaRPr>
          </a:p>
          <a:p>
            <a:pPr marL="378460" marR="1329690" indent="-182880">
              <a:lnSpc>
                <a:spcPct val="151900"/>
              </a:lnSpc>
            </a:pPr>
            <a:r>
              <a:rPr sz="1600" dirty="0">
                <a:latin typeface="Calibri"/>
                <a:cs typeface="Calibri"/>
              </a:rPr>
              <a:t>for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step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range(1,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steps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+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1): </a:t>
            </a:r>
            <a:r>
              <a:rPr sz="1600" dirty="0">
                <a:latin typeface="Calibri"/>
                <a:cs typeface="Calibri"/>
              </a:rPr>
              <a:t>light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env.get_light()</a:t>
            </a:r>
            <a:endParaRPr sz="1600">
              <a:latin typeface="Calibri"/>
              <a:cs typeface="Calibri"/>
            </a:endParaRPr>
          </a:p>
          <a:p>
            <a:pPr marL="379730" marR="1336675" indent="-1905">
              <a:lnSpc>
                <a:spcPct val="151200"/>
              </a:lnSpc>
            </a:pPr>
            <a:r>
              <a:rPr sz="1600" dirty="0">
                <a:latin typeface="Calibri"/>
                <a:cs typeface="Calibri"/>
              </a:rPr>
              <a:t>action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agent.decide(light) env.update_car(action)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600">
              <a:latin typeface="Calibri"/>
              <a:cs typeface="Calibri"/>
            </a:endParaRPr>
          </a:p>
          <a:p>
            <a:pPr marL="378460" marR="683260">
              <a:lnSpc>
                <a:spcPct val="151200"/>
              </a:lnSpc>
              <a:spcBef>
                <a:spcPts val="5"/>
              </a:spcBef>
            </a:pPr>
            <a:r>
              <a:rPr sz="1600" spc="-20" dirty="0">
                <a:latin typeface="Calibri"/>
                <a:cs typeface="Calibri"/>
              </a:rPr>
              <a:t>draw_scene(env,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step,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action,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light) time.sleep(delay)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45"/>
              </a:spcBef>
            </a:pPr>
            <a:endParaRPr sz="1600">
              <a:latin typeface="Calibri"/>
              <a:cs typeface="Calibri"/>
            </a:endParaRPr>
          </a:p>
          <a:p>
            <a:pPr marL="37973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env.update_light()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5"/>
              </a:spcBef>
            </a:pPr>
            <a:endParaRPr sz="1600">
              <a:latin typeface="Calibri"/>
              <a:cs typeface="Calibri"/>
            </a:endParaRPr>
          </a:p>
          <a:p>
            <a:pPr marL="37846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if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env.car_position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&gt;= </a:t>
            </a:r>
            <a:r>
              <a:rPr sz="1600" spc="-10" dirty="0">
                <a:latin typeface="Calibri"/>
                <a:cs typeface="Calibri"/>
              </a:rPr>
              <a:t>env.road_length: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2614830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14400" y="5570120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01700" y="767232"/>
            <a:ext cx="6960234" cy="5565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2610" marR="3690620">
              <a:lnSpc>
                <a:spcPct val="1513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print("Car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reached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destination.") break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45"/>
              </a:spcBef>
            </a:pPr>
            <a:endParaRPr sz="1600" dirty="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print("Simulation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finished.")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600" dirty="0">
              <a:latin typeface="Calibri"/>
              <a:cs typeface="Calibri"/>
            </a:endParaRPr>
          </a:p>
          <a:p>
            <a:pPr marL="12700" marR="4984115">
              <a:lnSpc>
                <a:spcPct val="151300"/>
              </a:lnSpc>
            </a:pPr>
            <a:r>
              <a:rPr sz="1600" b="1" dirty="0">
                <a:latin typeface="Calibri"/>
                <a:cs typeface="Calibri"/>
              </a:rPr>
              <a:t>8.6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Run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the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Simulation </a:t>
            </a:r>
            <a:r>
              <a:rPr sz="1600" spc="-10" dirty="0">
                <a:latin typeface="Calibri"/>
                <a:cs typeface="Calibri"/>
              </a:rPr>
              <a:t>run_traffic_simulation()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00" spc="-25" dirty="0">
                <a:latin typeface="Calibri"/>
                <a:cs typeface="Calibri"/>
              </a:rPr>
              <a:t>You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include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screenshots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report:</a:t>
            </a:r>
            <a:endParaRPr sz="16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985"/>
              </a:spcBef>
              <a:buChar char="•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Car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(Stopped)</a:t>
            </a:r>
            <a:endParaRPr sz="16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994"/>
              </a:spcBef>
              <a:buChar char="•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Car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Yellow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(SlowDown)</a:t>
            </a:r>
            <a:endParaRPr sz="16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985"/>
              </a:spcBef>
              <a:buChar char="•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Car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Green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(Go)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alibri"/>
                <a:cs typeface="Calibri"/>
              </a:rPr>
              <a:t>Label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them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Figure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Figure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3,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Figure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35" dirty="0">
                <a:latin typeface="Calibri"/>
                <a:cs typeface="Calibri"/>
              </a:rPr>
              <a:t>4.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50"/>
              </a:spcBef>
            </a:pPr>
            <a:endParaRPr sz="16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Calibri"/>
                <a:cs typeface="Calibri"/>
              </a:rPr>
              <a:t>9.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Results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and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Discussion</a:t>
            </a:r>
            <a:endParaRPr sz="16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simulation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results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show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Goal-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behaves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exactly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expected: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767232"/>
            <a:ext cx="8498840" cy="2508885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58750" indent="-146050">
              <a:lnSpc>
                <a:spcPct val="100000"/>
              </a:lnSpc>
              <a:spcBef>
                <a:spcPts val="108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When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Red,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stops.</a:t>
            </a:r>
            <a:endParaRPr sz="160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980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When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5" dirty="0">
                <a:latin typeface="Calibri"/>
                <a:cs typeface="Calibri"/>
              </a:rPr>
              <a:t> Yellow,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slows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down.</a:t>
            </a:r>
            <a:endParaRPr sz="160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1000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When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Green,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moves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forward.</a:t>
            </a:r>
            <a:endParaRPr sz="160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980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always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checks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whether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action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helps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achieve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goal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safe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driving.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10000"/>
              </a:lnSpc>
              <a:spcBef>
                <a:spcPts val="795"/>
              </a:spcBef>
            </a:pPr>
            <a:r>
              <a:rPr sz="1600" dirty="0">
                <a:latin typeface="Calibri"/>
                <a:cs typeface="Calibri"/>
              </a:rPr>
              <a:t>This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demonstrates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advantage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goal-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reasoning,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where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actions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selected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purposely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rather </a:t>
            </a:r>
            <a:r>
              <a:rPr sz="1600" dirty="0">
                <a:latin typeface="Calibri"/>
                <a:cs typeface="Calibri"/>
              </a:rPr>
              <a:t>than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through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simple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rules.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sample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result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table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added: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3377311"/>
            <a:ext cx="14687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Step</a:t>
            </a:r>
            <a:r>
              <a:rPr sz="1600" spc="30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30754" y="3251479"/>
            <a:ext cx="1008380" cy="763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14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Car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Position </a:t>
            </a:r>
            <a:r>
              <a:rPr sz="1600" spc="-25" dirty="0">
                <a:latin typeface="Calibri"/>
                <a:cs typeface="Calibri"/>
              </a:rPr>
              <a:t>1.0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3620795"/>
            <a:ext cx="2568575" cy="1132205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85"/>
              </a:spcBef>
              <a:buAutoNum type="arabicPlain"/>
              <a:tabLst>
                <a:tab pos="469900" algn="l"/>
                <a:tab pos="1384300" algn="l"/>
              </a:tabLst>
            </a:pPr>
            <a:r>
              <a:rPr sz="1600" spc="-10" dirty="0">
                <a:latin typeface="Calibri"/>
                <a:cs typeface="Calibri"/>
              </a:rPr>
              <a:t>Green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25" dirty="0">
                <a:latin typeface="Calibri"/>
                <a:cs typeface="Calibri"/>
              </a:rPr>
              <a:t>Go</a:t>
            </a:r>
            <a:endParaRPr sz="16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980"/>
              </a:spcBef>
              <a:buAutoNum type="arabicPlain"/>
              <a:tabLst>
                <a:tab pos="469900" algn="l"/>
                <a:tab pos="1384300" algn="l"/>
              </a:tabLst>
            </a:pPr>
            <a:r>
              <a:rPr sz="1600" spc="-10" dirty="0">
                <a:latin typeface="Calibri"/>
                <a:cs typeface="Calibri"/>
              </a:rPr>
              <a:t>Yellow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10" dirty="0">
                <a:latin typeface="Calibri"/>
                <a:cs typeface="Calibri"/>
              </a:rPr>
              <a:t>SlowDown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1.3</a:t>
            </a:r>
            <a:endParaRPr sz="16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985"/>
              </a:spcBef>
              <a:buAutoNum type="arabicPlain"/>
              <a:tabLst>
                <a:tab pos="469900" algn="l"/>
                <a:tab pos="927100" algn="l"/>
              </a:tabLst>
            </a:pPr>
            <a:r>
              <a:rPr sz="1600" spc="-25" dirty="0">
                <a:latin typeface="Calibri"/>
                <a:cs typeface="Calibri"/>
              </a:rPr>
              <a:t>Red</a:t>
            </a:r>
            <a:r>
              <a:rPr sz="1600" dirty="0">
                <a:latin typeface="Calibri"/>
                <a:cs typeface="Calibri"/>
              </a:rPr>
              <a:t>	Stop</a:t>
            </a:r>
            <a:r>
              <a:rPr sz="1600" spc="25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1.3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4400" y="5099204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01700" y="5097170"/>
            <a:ext cx="8600440" cy="103251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1600" b="1" dirty="0">
                <a:latin typeface="Calibri"/>
                <a:cs typeface="Calibri"/>
              </a:rPr>
              <a:t>10.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Conclusion</a:t>
            </a:r>
            <a:endParaRPr sz="1600" b="1" dirty="0">
              <a:latin typeface="Calibri"/>
              <a:cs typeface="Calibri"/>
            </a:endParaRPr>
          </a:p>
          <a:p>
            <a:pPr marL="12700" marR="5080">
              <a:lnSpc>
                <a:spcPct val="110000"/>
              </a:lnSpc>
              <a:spcBef>
                <a:spcPts val="795"/>
              </a:spcBef>
            </a:pPr>
            <a:r>
              <a:rPr sz="1600" dirty="0">
                <a:latin typeface="Calibri"/>
                <a:cs typeface="Calibri"/>
              </a:rPr>
              <a:t>In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project,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implemented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Goal-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navigates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0" dirty="0">
                <a:latin typeface="Calibri"/>
                <a:cs typeface="Calibri"/>
              </a:rPr>
              <a:t> self-</a:t>
            </a:r>
            <a:r>
              <a:rPr sz="1600" dirty="0">
                <a:latin typeface="Calibri"/>
                <a:cs typeface="Calibri"/>
              </a:rPr>
              <a:t>driving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through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traffic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signals.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goal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safe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driving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choose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most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appropriate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each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</a:t>
            </a:r>
            <a:r>
              <a:rPr sz="1600" spc="-30" dirty="0">
                <a:latin typeface="Calibri"/>
                <a:cs typeface="Calibri"/>
              </a:rPr>
              <a:t> color.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1774725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4400" y="885825"/>
            <a:ext cx="8655685" cy="4624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simulation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clearly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shows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how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goal-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decisions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improve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safety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align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real-</a:t>
            </a:r>
            <a:r>
              <a:rPr sz="1600" dirty="0">
                <a:latin typeface="Calibri"/>
                <a:cs typeface="Calibri"/>
              </a:rPr>
              <a:t>world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autonomous </a:t>
            </a:r>
            <a:r>
              <a:rPr sz="1600" dirty="0">
                <a:latin typeface="Calibri"/>
                <a:cs typeface="Calibri"/>
              </a:rPr>
              <a:t>driving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systems.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5"/>
              </a:spcBef>
            </a:pPr>
            <a:endParaRPr sz="1600" dirty="0">
              <a:latin typeface="Calibri"/>
              <a:cs typeface="Calibri"/>
            </a:endParaRPr>
          </a:p>
          <a:p>
            <a:pPr marL="313690" indent="-300990">
              <a:lnSpc>
                <a:spcPct val="100000"/>
              </a:lnSpc>
              <a:buAutoNum type="arabicPeriod" startAt="11"/>
              <a:tabLst>
                <a:tab pos="313690" algn="l"/>
              </a:tabLst>
            </a:pPr>
            <a:r>
              <a:rPr sz="1600" b="1" dirty="0">
                <a:latin typeface="Calibri"/>
                <a:cs typeface="Calibri"/>
              </a:rPr>
              <a:t>Future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Scope</a:t>
            </a:r>
            <a:endParaRPr sz="1600" b="1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1000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Add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multiple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traffic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road.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80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Add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pedestrian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crossing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detection.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Add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obstacle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detection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avoidance.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94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Use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Utility-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optimize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speed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timing.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90"/>
              </a:spcBef>
              <a:buChar char="•"/>
              <a:tabLst>
                <a:tab pos="158750" algn="l"/>
              </a:tabLst>
            </a:pPr>
            <a:r>
              <a:rPr sz="1600" spc="-10" dirty="0">
                <a:latin typeface="Calibri"/>
                <a:cs typeface="Calibri"/>
              </a:rPr>
              <a:t>Integrate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real-</a:t>
            </a:r>
            <a:r>
              <a:rPr sz="1600" dirty="0">
                <a:latin typeface="Calibri"/>
                <a:cs typeface="Calibri"/>
              </a:rPr>
              <a:t>world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maps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GPS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data.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80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Add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machine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learning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adaptive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driving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behavior.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50"/>
              </a:spcBef>
            </a:pP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Calibri"/>
                <a:cs typeface="Calibri"/>
              </a:rPr>
              <a:t>Model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4: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Utility-</a:t>
            </a:r>
            <a:r>
              <a:rPr sz="1600" b="1" dirty="0">
                <a:latin typeface="Calibri"/>
                <a:cs typeface="Calibri"/>
              </a:rPr>
              <a:t>Based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Agent</a:t>
            </a:r>
            <a:endParaRPr sz="16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00" b="1" dirty="0">
                <a:latin typeface="Calibri"/>
                <a:cs typeface="Calibri"/>
              </a:rPr>
              <a:t>Application: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Hospital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Emergency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Bed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Allocation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System</a:t>
            </a:r>
            <a:endParaRPr sz="16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3381402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4400" y="885825"/>
            <a:ext cx="8682355" cy="5928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84150">
              <a:lnSpc>
                <a:spcPct val="110000"/>
              </a:lnSpc>
              <a:spcBef>
                <a:spcPts val="100"/>
              </a:spcBef>
            </a:pPr>
            <a:r>
              <a:rPr lang="en-IN" sz="1600" b="1" dirty="0">
                <a:latin typeface="Calibri"/>
                <a:cs typeface="Calibri"/>
              </a:rPr>
              <a:t>2.</a:t>
            </a:r>
            <a:r>
              <a:rPr lang="en-IN" sz="1600" b="1" spc="-15" dirty="0">
                <a:latin typeface="Calibri"/>
                <a:cs typeface="Calibri"/>
              </a:rPr>
              <a:t> </a:t>
            </a:r>
            <a:r>
              <a:rPr lang="en-IN" sz="1600" b="1" spc="-10" dirty="0">
                <a:latin typeface="Calibri"/>
                <a:cs typeface="Calibri"/>
              </a:rPr>
              <a:t>Abstract</a:t>
            </a:r>
            <a:endParaRPr lang="en-IN" sz="1600" dirty="0">
              <a:latin typeface="Calibri"/>
              <a:cs typeface="Calibri"/>
            </a:endParaRPr>
          </a:p>
          <a:p>
            <a:pPr marL="12700" marR="184150">
              <a:lnSpc>
                <a:spcPct val="1100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In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project,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implemented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Utility-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allocate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emergency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patients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available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hospital </a:t>
            </a:r>
            <a:r>
              <a:rPr sz="1600" dirty="0">
                <a:latin typeface="Calibri"/>
                <a:cs typeface="Calibri"/>
              </a:rPr>
              <a:t>beds.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When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patients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arrive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different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severity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levels,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assigns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them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beds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50" dirty="0">
                <a:latin typeface="Calibri"/>
                <a:cs typeface="Calibri"/>
              </a:rPr>
              <a:t> a</a:t>
            </a:r>
            <a:endParaRPr sz="1600" dirty="0">
              <a:latin typeface="Calibri"/>
              <a:cs typeface="Calibri"/>
            </a:endParaRPr>
          </a:p>
          <a:p>
            <a:pPr marL="12700" marR="151765">
              <a:lnSpc>
                <a:spcPts val="2110"/>
              </a:lnSpc>
              <a:spcBef>
                <a:spcPts val="90"/>
              </a:spcBef>
            </a:pPr>
            <a:r>
              <a:rPr sz="1600" spc="-10" dirty="0">
                <a:latin typeface="Calibri"/>
                <a:cs typeface="Calibri"/>
              </a:rPr>
              <a:t>computed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utility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value.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utility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function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considers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patient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severity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(benefit)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subtracts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factors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like </a:t>
            </a:r>
            <a:r>
              <a:rPr sz="1600" dirty="0">
                <a:latin typeface="Calibri"/>
                <a:cs typeface="Calibri"/>
              </a:rPr>
              <a:t>distance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waiting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(cost).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simulates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small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hospital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ward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where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patients </a:t>
            </a:r>
            <a:r>
              <a:rPr sz="1600" dirty="0">
                <a:latin typeface="Calibri"/>
                <a:cs typeface="Calibri"/>
              </a:rPr>
              <a:t>arrive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randomly,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beds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become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free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random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intervals,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selects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best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patient–bed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600" spc="-10" dirty="0">
                <a:latin typeface="Calibri"/>
                <a:cs typeface="Calibri"/>
              </a:rPr>
              <a:t>allocation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maximize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utility.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implementation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done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Python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Jupyter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Notebook,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visual</a:t>
            </a:r>
            <a:endParaRPr sz="1600" dirty="0">
              <a:latin typeface="Calibri"/>
              <a:cs typeface="Calibri"/>
            </a:endParaRPr>
          </a:p>
          <a:p>
            <a:pPr marL="12700" marR="63500">
              <a:lnSpc>
                <a:spcPct val="110000"/>
              </a:lnSpc>
            </a:pPr>
            <a:r>
              <a:rPr sz="1600" spc="-10" dirty="0">
                <a:latin typeface="Calibri"/>
                <a:cs typeface="Calibri"/>
              </a:rPr>
              <a:t>grid-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simulation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shows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occupancy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waiting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patients.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project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demonstrates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how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Utility- 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help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decision-</a:t>
            </a:r>
            <a:r>
              <a:rPr sz="1600" dirty="0">
                <a:latin typeface="Calibri"/>
                <a:cs typeface="Calibri"/>
              </a:rPr>
              <a:t>making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when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multiple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competing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factors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involved.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5"/>
              </a:spcBef>
            </a:pPr>
            <a:endParaRPr sz="1600" dirty="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</a:pPr>
            <a:r>
              <a:rPr sz="1600" b="1" dirty="0">
                <a:latin typeface="Calibri"/>
                <a:cs typeface="Calibri"/>
              </a:rPr>
              <a:t>3.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Introduction</a:t>
            </a:r>
            <a:endParaRPr sz="1600" b="1" dirty="0">
              <a:latin typeface="Calibri"/>
              <a:cs typeface="Calibri"/>
            </a:endParaRPr>
          </a:p>
          <a:p>
            <a:pPr marL="12700" marR="36195" algn="just">
              <a:lnSpc>
                <a:spcPct val="110000"/>
              </a:lnSpc>
              <a:spcBef>
                <a:spcPts val="795"/>
              </a:spcBef>
            </a:pPr>
            <a:r>
              <a:rPr sz="1600" spc="-10" dirty="0">
                <a:latin typeface="Calibri"/>
                <a:cs typeface="Calibri"/>
              </a:rPr>
              <a:t>Utility-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advanced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intelligent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select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actions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utility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function.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Unlike reflex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goal-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agents,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make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decisions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comparing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different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outcomes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choosing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one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provides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highest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overall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utility.</a:t>
            </a:r>
            <a:endParaRPr sz="1600" dirty="0">
              <a:latin typeface="Calibri"/>
              <a:cs typeface="Calibri"/>
            </a:endParaRPr>
          </a:p>
          <a:p>
            <a:pPr marL="12700" marR="195580">
              <a:lnSpc>
                <a:spcPct val="109700"/>
              </a:lnSpc>
              <a:spcBef>
                <a:spcPts val="800"/>
              </a:spcBef>
            </a:pPr>
            <a:r>
              <a:rPr sz="1600" dirty="0">
                <a:latin typeface="Calibri"/>
                <a:cs typeface="Calibri"/>
              </a:rPr>
              <a:t>In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real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hospitals,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emergency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departments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must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quickly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allocate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patients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available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beds.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decision </a:t>
            </a:r>
            <a:r>
              <a:rPr sz="1600" dirty="0">
                <a:latin typeface="Calibri"/>
                <a:cs typeface="Calibri"/>
              </a:rPr>
              <a:t>must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consider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several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factors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such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patient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severity,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distance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bed,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waiting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hospital resource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availability.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Utility-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provide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intelligent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rational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method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manage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600" dirty="0">
                <a:latin typeface="Calibri"/>
                <a:cs typeface="Calibri"/>
              </a:rPr>
              <a:t>hospital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allocation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such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critical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environments.</a:t>
            </a:r>
            <a:endParaRPr sz="1600" dirty="0">
              <a:latin typeface="Calibri"/>
              <a:cs typeface="Calibri"/>
            </a:endParaRPr>
          </a:p>
          <a:p>
            <a:pPr marL="12700" marR="36830">
              <a:lnSpc>
                <a:spcPct val="110000"/>
              </a:lnSpc>
              <a:spcBef>
                <a:spcPts val="790"/>
              </a:spcBef>
            </a:pPr>
            <a:r>
              <a:rPr sz="1600" dirty="0">
                <a:latin typeface="Calibri"/>
                <a:cs typeface="Calibri"/>
              </a:rPr>
              <a:t>This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project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simulates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hospital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ward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multiple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beds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arranged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grid.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Patients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arrive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different </a:t>
            </a:r>
            <a:r>
              <a:rPr sz="1600" dirty="0">
                <a:latin typeface="Calibri"/>
                <a:cs typeface="Calibri"/>
              </a:rPr>
              <a:t>severity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levels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placed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waiting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queue.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Utility-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chooses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best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each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1774725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14400" y="4360064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01700" y="867816"/>
            <a:ext cx="8779510" cy="5732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16890">
              <a:lnSpc>
                <a:spcPct val="1100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patient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utility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calculation.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simulation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also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includes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visualization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states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 </a:t>
            </a:r>
            <a:r>
              <a:rPr sz="1600" dirty="0">
                <a:latin typeface="Calibri"/>
                <a:cs typeface="Calibri"/>
              </a:rPr>
              <a:t>waiting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queue,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helping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understand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how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utility-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decisions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made.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5"/>
              </a:spcBef>
            </a:pPr>
            <a:endParaRPr sz="1600" dirty="0">
              <a:latin typeface="Calibri"/>
              <a:cs typeface="Calibri"/>
            </a:endParaRPr>
          </a:p>
          <a:p>
            <a:pPr marL="211454" indent="-198755">
              <a:lnSpc>
                <a:spcPct val="100000"/>
              </a:lnSpc>
              <a:buAutoNum type="arabicPeriod" startAt="4"/>
              <a:tabLst>
                <a:tab pos="211454" algn="l"/>
              </a:tabLst>
            </a:pPr>
            <a:r>
              <a:rPr sz="1600" b="1" dirty="0">
                <a:latin typeface="Calibri"/>
                <a:cs typeface="Calibri"/>
              </a:rPr>
              <a:t>Problem</a:t>
            </a:r>
            <a:r>
              <a:rPr sz="1600" b="1" spc="-8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Statement</a:t>
            </a:r>
            <a:endParaRPr sz="16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600" spc="-75" dirty="0">
                <a:latin typeface="Calibri"/>
                <a:cs typeface="Calibri"/>
              </a:rPr>
              <a:t>To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design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implement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Utility-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assigns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emergency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patients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hospital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beds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such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that: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80"/>
              </a:spcBef>
              <a:buChar char="•"/>
              <a:tabLst>
                <a:tab pos="158750" algn="l"/>
              </a:tabLst>
            </a:pPr>
            <a:r>
              <a:rPr sz="1600" spc="-10" dirty="0">
                <a:latin typeface="Calibri"/>
                <a:cs typeface="Calibri"/>
              </a:rPr>
              <a:t>High-</a:t>
            </a:r>
            <a:r>
              <a:rPr sz="1600" dirty="0">
                <a:latin typeface="Calibri"/>
                <a:cs typeface="Calibri"/>
              </a:rPr>
              <a:t>severity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patients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given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priority.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spc="-10" dirty="0">
                <a:latin typeface="Calibri"/>
                <a:cs typeface="Calibri"/>
              </a:rPr>
              <a:t>Patients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waiting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too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get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increased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preference.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94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Far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beds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have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lower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preference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due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higher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distance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cost.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90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total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utility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assignment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maximized.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0"/>
              </a:spcBef>
            </a:pPr>
            <a:endParaRPr sz="1600" dirty="0">
              <a:latin typeface="Calibri"/>
              <a:cs typeface="Calibri"/>
            </a:endParaRPr>
          </a:p>
          <a:p>
            <a:pPr marL="211454" indent="-198755">
              <a:lnSpc>
                <a:spcPct val="100000"/>
              </a:lnSpc>
              <a:spcBef>
                <a:spcPts val="5"/>
              </a:spcBef>
              <a:buAutoNum type="arabicPeriod" startAt="5"/>
              <a:tabLst>
                <a:tab pos="211454" algn="l"/>
              </a:tabLst>
            </a:pPr>
            <a:r>
              <a:rPr sz="1600" b="1" spc="-10" dirty="0">
                <a:latin typeface="Calibri"/>
                <a:cs typeface="Calibri"/>
              </a:rPr>
              <a:t>Objectives</a:t>
            </a:r>
            <a:endParaRPr sz="1600" b="1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94"/>
              </a:spcBef>
              <a:buChar char="•"/>
              <a:tabLst>
                <a:tab pos="158750" algn="l"/>
              </a:tabLst>
            </a:pPr>
            <a:r>
              <a:rPr sz="1600" spc="-80" dirty="0">
                <a:latin typeface="Calibri"/>
                <a:cs typeface="Calibri"/>
              </a:rPr>
              <a:t>To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understand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implement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Utility-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Agent.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spc="-65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hospital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emergency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ward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allocation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problem.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spc="-65" dirty="0">
                <a:latin typeface="Calibri"/>
                <a:cs typeface="Calibri"/>
              </a:rPr>
              <a:t>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create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utility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function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combining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severity,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distance,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waiting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time.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94"/>
              </a:spcBef>
              <a:buChar char="•"/>
              <a:tabLst>
                <a:tab pos="158750" algn="l"/>
              </a:tabLst>
            </a:pPr>
            <a:r>
              <a:rPr sz="1600" spc="-80" dirty="0">
                <a:latin typeface="Calibri"/>
                <a:cs typeface="Calibri"/>
              </a:rPr>
              <a:t>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simulate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patient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flow,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occupancy,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allocation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visually.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spc="-80" dirty="0">
                <a:latin typeface="Calibri"/>
                <a:cs typeface="Calibri"/>
              </a:rPr>
              <a:t>To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demonstrate rational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decision-</a:t>
            </a:r>
            <a:r>
              <a:rPr sz="1600" dirty="0">
                <a:latin typeface="Calibri"/>
                <a:cs typeface="Calibri"/>
              </a:rPr>
              <a:t>making using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utility</a:t>
            </a:r>
            <a:r>
              <a:rPr sz="1600" spc="-10" dirty="0">
                <a:latin typeface="Calibri"/>
                <a:cs typeface="Calibri"/>
              </a:rPr>
              <a:t> maximization.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1137693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1700" y="1134516"/>
            <a:ext cx="9245600" cy="546608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211454" indent="-198755">
              <a:lnSpc>
                <a:spcPct val="100000"/>
              </a:lnSpc>
              <a:spcBef>
                <a:spcPts val="1095"/>
              </a:spcBef>
              <a:buAutoNum type="arabicPeriod" startAt="6"/>
              <a:tabLst>
                <a:tab pos="211454" algn="l"/>
              </a:tabLst>
            </a:pPr>
            <a:r>
              <a:rPr sz="1600" b="1" spc="-10" dirty="0">
                <a:latin typeface="Calibri"/>
                <a:cs typeface="Calibri"/>
              </a:rPr>
              <a:t>Literature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/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Theory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Background</a:t>
            </a:r>
            <a:endParaRPr sz="1600" b="1" dirty="0">
              <a:latin typeface="Calibri"/>
              <a:cs typeface="Calibri"/>
            </a:endParaRPr>
          </a:p>
          <a:p>
            <a:pPr marL="313055" lvl="1" indent="-300355">
              <a:lnSpc>
                <a:spcPct val="100000"/>
              </a:lnSpc>
              <a:spcBef>
                <a:spcPts val="994"/>
              </a:spcBef>
              <a:buAutoNum type="arabicPeriod"/>
              <a:tabLst>
                <a:tab pos="313055" algn="l"/>
              </a:tabLst>
            </a:pPr>
            <a:r>
              <a:rPr sz="1600" b="1" spc="-10" dirty="0">
                <a:latin typeface="Calibri"/>
                <a:cs typeface="Calibri"/>
              </a:rPr>
              <a:t>Intelligent</a:t>
            </a:r>
            <a:r>
              <a:rPr sz="1600" b="1" spc="15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Agent</a:t>
            </a:r>
            <a:endParaRPr sz="16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alibri"/>
                <a:cs typeface="Calibri"/>
              </a:rPr>
              <a:t>An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intelligent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perceives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environment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inputs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selects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actions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maximize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performance.</a:t>
            </a:r>
            <a:endParaRPr sz="1600" dirty="0">
              <a:latin typeface="Calibri"/>
              <a:cs typeface="Calibri"/>
            </a:endParaRPr>
          </a:p>
          <a:p>
            <a:pPr marL="314325" lvl="1" indent="-301625">
              <a:lnSpc>
                <a:spcPct val="100000"/>
              </a:lnSpc>
              <a:spcBef>
                <a:spcPts val="985"/>
              </a:spcBef>
              <a:buAutoNum type="arabicPeriod" startAt="2"/>
              <a:tabLst>
                <a:tab pos="314325" algn="l"/>
              </a:tabLst>
            </a:pPr>
            <a:r>
              <a:rPr sz="1600" b="1" spc="-10" dirty="0">
                <a:latin typeface="Calibri"/>
                <a:cs typeface="Calibri"/>
              </a:rPr>
              <a:t>Utility-</a:t>
            </a:r>
            <a:r>
              <a:rPr sz="1600" b="1" dirty="0">
                <a:latin typeface="Calibri"/>
                <a:cs typeface="Calibri"/>
              </a:rPr>
              <a:t>Based</a:t>
            </a:r>
            <a:r>
              <a:rPr sz="1600" b="1" spc="-60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Agent</a:t>
            </a:r>
            <a:endParaRPr sz="1600" b="1" dirty="0">
              <a:latin typeface="Calibri"/>
              <a:cs typeface="Calibri"/>
            </a:endParaRPr>
          </a:p>
          <a:p>
            <a:pPr marL="12700" marR="5080">
              <a:lnSpc>
                <a:spcPct val="109400"/>
              </a:lnSpc>
              <a:spcBef>
                <a:spcPts val="820"/>
              </a:spcBef>
            </a:pPr>
            <a:r>
              <a:rPr sz="1600" dirty="0">
                <a:latin typeface="Calibri"/>
                <a:cs typeface="Calibri"/>
              </a:rPr>
              <a:t>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Utility-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evaluates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different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possible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actions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utility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function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selects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action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with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highest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utility.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600" b="1" spc="-10" dirty="0">
                <a:latin typeface="Calibri"/>
                <a:cs typeface="Calibri"/>
              </a:rPr>
              <a:t>Characteristics:</a:t>
            </a:r>
            <a:endParaRPr sz="1600" b="1" dirty="0">
              <a:latin typeface="Calibri"/>
              <a:cs typeface="Calibri"/>
            </a:endParaRPr>
          </a:p>
          <a:p>
            <a:pPr marL="158750" lvl="2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Handles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trade-</a:t>
            </a:r>
            <a:r>
              <a:rPr sz="1600" dirty="0">
                <a:latin typeface="Calibri"/>
                <a:cs typeface="Calibri"/>
              </a:rPr>
              <a:t>offs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(multiple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factors).</a:t>
            </a:r>
            <a:endParaRPr sz="1600" dirty="0">
              <a:latin typeface="Calibri"/>
              <a:cs typeface="Calibri"/>
            </a:endParaRPr>
          </a:p>
          <a:p>
            <a:pPr marL="158750" lvl="2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Chooses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best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overall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outcome,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just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rule-based.</a:t>
            </a:r>
            <a:endParaRPr sz="1600" dirty="0">
              <a:latin typeface="Calibri"/>
              <a:cs typeface="Calibri"/>
            </a:endParaRPr>
          </a:p>
          <a:p>
            <a:pPr marL="158750" lvl="2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Useful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uncertain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dynamic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environments.</a:t>
            </a:r>
            <a:endParaRPr sz="1600" dirty="0">
              <a:latin typeface="Calibri"/>
              <a:cs typeface="Calibri"/>
            </a:endParaRPr>
          </a:p>
          <a:p>
            <a:pPr marL="158750" lvl="2" indent="-146050">
              <a:lnSpc>
                <a:spcPct val="100000"/>
              </a:lnSpc>
              <a:spcBef>
                <a:spcPts val="994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Supports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multi-</a:t>
            </a:r>
            <a:r>
              <a:rPr sz="1600" dirty="0">
                <a:latin typeface="Calibri"/>
                <a:cs typeface="Calibri"/>
              </a:rPr>
              <a:t>criteria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decision-making.</a:t>
            </a:r>
            <a:endParaRPr sz="1600" dirty="0">
              <a:latin typeface="Calibri"/>
              <a:cs typeface="Calibri"/>
            </a:endParaRPr>
          </a:p>
          <a:p>
            <a:pPr marL="12700" marR="5647690">
              <a:lnSpc>
                <a:spcPts val="2910"/>
              </a:lnSpc>
              <a:spcBef>
                <a:spcPts val="254"/>
              </a:spcBef>
            </a:pPr>
            <a:r>
              <a:rPr sz="1600" b="1" dirty="0">
                <a:latin typeface="Calibri"/>
                <a:cs typeface="Calibri"/>
              </a:rPr>
              <a:t>6.3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Hospital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Emergency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Bed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Allocation </a:t>
            </a:r>
            <a:r>
              <a:rPr sz="1600" dirty="0">
                <a:latin typeface="Calibri"/>
                <a:cs typeface="Calibri"/>
              </a:rPr>
              <a:t>Hospitals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commonly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face:</a:t>
            </a:r>
            <a:endParaRPr sz="1600" dirty="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730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Limited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number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beds</a:t>
            </a:r>
            <a:endParaRPr sz="1600" dirty="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High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number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10" dirty="0">
                <a:latin typeface="Calibri"/>
                <a:cs typeface="Calibri"/>
              </a:rPr>
              <a:t> emergency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patients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2245641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1700" y="767232"/>
            <a:ext cx="8484870" cy="556514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58750" indent="-146050">
              <a:lnSpc>
                <a:spcPct val="100000"/>
              </a:lnSpc>
              <a:spcBef>
                <a:spcPts val="108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Need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prioritize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severe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cases</a:t>
            </a:r>
            <a:endParaRPr sz="1600" dirty="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980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Need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reduce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patient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waiting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time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600" dirty="0">
                <a:latin typeface="Calibri"/>
                <a:cs typeface="Calibri"/>
              </a:rPr>
              <a:t>Thus,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utility-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decision-</a:t>
            </a:r>
            <a:r>
              <a:rPr sz="1600" dirty="0">
                <a:latin typeface="Calibri"/>
                <a:cs typeface="Calibri"/>
              </a:rPr>
              <a:t>making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appropriate, realistic,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hospital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management</a:t>
            </a:r>
            <a:r>
              <a:rPr sz="1600" spc="-10" dirty="0">
                <a:latin typeface="Calibri"/>
                <a:cs typeface="Calibri"/>
              </a:rPr>
              <a:t> systems.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5"/>
              </a:spcBef>
            </a:pPr>
            <a:endParaRPr sz="1600" dirty="0">
              <a:latin typeface="Calibri"/>
              <a:cs typeface="Calibri"/>
            </a:endParaRPr>
          </a:p>
          <a:p>
            <a:pPr marL="211454" indent="-198755">
              <a:lnSpc>
                <a:spcPct val="100000"/>
              </a:lnSpc>
              <a:buAutoNum type="arabicPeriod" startAt="7"/>
              <a:tabLst>
                <a:tab pos="211454" algn="l"/>
              </a:tabLst>
            </a:pPr>
            <a:r>
              <a:rPr sz="1600" b="1" spc="-10" dirty="0">
                <a:latin typeface="Calibri"/>
                <a:cs typeface="Calibri"/>
              </a:rPr>
              <a:t>System</a:t>
            </a:r>
            <a:r>
              <a:rPr sz="1600" b="1" spc="-7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Design</a:t>
            </a:r>
            <a:endParaRPr sz="1600" b="1" dirty="0">
              <a:latin typeface="Calibri"/>
              <a:cs typeface="Calibri"/>
            </a:endParaRPr>
          </a:p>
          <a:p>
            <a:pPr marL="313055" lvl="1" indent="-300355">
              <a:lnSpc>
                <a:spcPct val="100000"/>
              </a:lnSpc>
              <a:spcBef>
                <a:spcPts val="994"/>
              </a:spcBef>
              <a:buAutoNum type="arabicPeriod"/>
              <a:tabLst>
                <a:tab pos="313055" algn="l"/>
              </a:tabLst>
            </a:pPr>
            <a:r>
              <a:rPr sz="1600" spc="-10" dirty="0">
                <a:latin typeface="Calibri"/>
                <a:cs typeface="Calibri"/>
              </a:rPr>
              <a:t>Environment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environment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contains:</a:t>
            </a:r>
            <a:endParaRPr sz="1600" dirty="0">
              <a:latin typeface="Calibri"/>
              <a:cs typeface="Calibri"/>
            </a:endParaRPr>
          </a:p>
          <a:p>
            <a:pPr marL="158750" lvl="2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Rows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×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Columns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grid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beds</a:t>
            </a:r>
            <a:endParaRPr sz="1600" dirty="0">
              <a:latin typeface="Calibri"/>
              <a:cs typeface="Calibri"/>
            </a:endParaRPr>
          </a:p>
          <a:p>
            <a:pPr marL="158750" lvl="2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Each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has: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ID,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location,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occupancy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state</a:t>
            </a:r>
            <a:endParaRPr sz="1600" dirty="0">
              <a:latin typeface="Calibri"/>
              <a:cs typeface="Calibri"/>
            </a:endParaRPr>
          </a:p>
          <a:p>
            <a:pPr marL="158750" lvl="2" indent="-146050">
              <a:lnSpc>
                <a:spcPct val="100000"/>
              </a:lnSpc>
              <a:spcBef>
                <a:spcPts val="994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Randomly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arriving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patients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severity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(1–10)</a:t>
            </a:r>
            <a:endParaRPr sz="1600" dirty="0">
              <a:latin typeface="Calibri"/>
              <a:cs typeface="Calibri"/>
            </a:endParaRPr>
          </a:p>
          <a:p>
            <a:pPr marL="158750" lvl="2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waiting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queue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unallocated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patients</a:t>
            </a:r>
            <a:endParaRPr sz="1600" dirty="0">
              <a:latin typeface="Calibri"/>
              <a:cs typeface="Calibri"/>
            </a:endParaRPr>
          </a:p>
          <a:p>
            <a:pPr marL="158750" lvl="2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Beds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become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free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random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intervals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600" b="1" dirty="0">
                <a:latin typeface="Calibri"/>
                <a:cs typeface="Calibri"/>
              </a:rPr>
              <a:t>7.2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Agent</a:t>
            </a:r>
            <a:endParaRPr sz="1600" b="1" dirty="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990"/>
              </a:spcBef>
              <a:buChar char="•"/>
              <a:tabLst>
                <a:tab pos="158750" algn="l"/>
              </a:tabLst>
            </a:pPr>
            <a:r>
              <a:rPr sz="1600" spc="-10" dirty="0">
                <a:latin typeface="Calibri"/>
                <a:cs typeface="Calibri"/>
              </a:rPr>
              <a:t>Percepts: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600" dirty="0">
                <a:latin typeface="Calibri"/>
                <a:cs typeface="Calibri"/>
              </a:rPr>
              <a:t>-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Patient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severity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767232"/>
            <a:ext cx="3906520" cy="556514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0650" indent="-107950">
              <a:lnSpc>
                <a:spcPct val="100000"/>
              </a:lnSpc>
              <a:spcBef>
                <a:spcPts val="1085"/>
              </a:spcBef>
              <a:buChar char="-"/>
              <a:tabLst>
                <a:tab pos="120650" algn="l"/>
              </a:tabLst>
            </a:pPr>
            <a:r>
              <a:rPr sz="1600" spc="-10" dirty="0">
                <a:latin typeface="Calibri"/>
                <a:cs typeface="Calibri"/>
              </a:rPr>
              <a:t>Patient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waiting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time</a:t>
            </a:r>
            <a:endParaRPr sz="1600">
              <a:latin typeface="Calibri"/>
              <a:cs typeface="Calibri"/>
            </a:endParaRPr>
          </a:p>
          <a:p>
            <a:pPr marL="120650" indent="-107950">
              <a:lnSpc>
                <a:spcPct val="100000"/>
              </a:lnSpc>
              <a:spcBef>
                <a:spcPts val="980"/>
              </a:spcBef>
              <a:buChar char="-"/>
              <a:tabLst>
                <a:tab pos="120650" algn="l"/>
              </a:tabLst>
            </a:pPr>
            <a:r>
              <a:rPr sz="1600" dirty="0">
                <a:latin typeface="Calibri"/>
                <a:cs typeface="Calibri"/>
              </a:rPr>
              <a:t>Bed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distance</a:t>
            </a:r>
            <a:endParaRPr sz="1600">
              <a:latin typeface="Calibri"/>
              <a:cs typeface="Calibri"/>
            </a:endParaRPr>
          </a:p>
          <a:p>
            <a:pPr marL="120650" indent="-107950">
              <a:lnSpc>
                <a:spcPct val="100000"/>
              </a:lnSpc>
              <a:spcBef>
                <a:spcPts val="1000"/>
              </a:spcBef>
              <a:buChar char="-"/>
              <a:tabLst>
                <a:tab pos="120650" algn="l"/>
              </a:tabLst>
            </a:pPr>
            <a:r>
              <a:rPr sz="1600" dirty="0">
                <a:latin typeface="Calibri"/>
                <a:cs typeface="Calibri"/>
              </a:rPr>
              <a:t>Bed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availability</a:t>
            </a:r>
            <a:endParaRPr sz="1600">
              <a:latin typeface="Calibri"/>
              <a:cs typeface="Calibri"/>
            </a:endParaRPr>
          </a:p>
          <a:p>
            <a:pPr marL="120650" indent="-107950">
              <a:lnSpc>
                <a:spcPct val="100000"/>
              </a:lnSpc>
              <a:spcBef>
                <a:spcPts val="980"/>
              </a:spcBef>
              <a:buChar char="-"/>
              <a:tabLst>
                <a:tab pos="120650" algn="l"/>
              </a:tabLst>
            </a:pPr>
            <a:r>
              <a:rPr sz="1600" dirty="0">
                <a:latin typeface="Calibri"/>
                <a:cs typeface="Calibri"/>
              </a:rPr>
              <a:t>Current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step</a:t>
            </a:r>
            <a:endParaRPr sz="160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990"/>
              </a:spcBef>
              <a:buChar char="•"/>
              <a:tabLst>
                <a:tab pos="158750" algn="l"/>
              </a:tabLst>
            </a:pPr>
            <a:r>
              <a:rPr sz="1600" spc="-10" dirty="0">
                <a:latin typeface="Calibri"/>
                <a:cs typeface="Calibri"/>
              </a:rPr>
              <a:t>Actions: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600" dirty="0">
                <a:latin typeface="Calibri"/>
                <a:cs typeface="Calibri"/>
              </a:rPr>
              <a:t>-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Allocate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specific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patient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specific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bed</a:t>
            </a:r>
            <a:endParaRPr sz="160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spc="-10" dirty="0">
                <a:latin typeface="Calibri"/>
                <a:cs typeface="Calibri"/>
              </a:rPr>
              <a:t>Performance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measure: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alibri"/>
                <a:cs typeface="Calibri"/>
              </a:rPr>
              <a:t>-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Maximize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total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utility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across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allocations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alibri"/>
                <a:cs typeface="Calibri"/>
              </a:rPr>
              <a:t>7.3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Utility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Function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utility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function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is: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alibri"/>
                <a:cs typeface="Calibri"/>
              </a:rPr>
              <a:t>Utility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(Severity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×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10)</a:t>
            </a:r>
            <a:endParaRPr sz="1600">
              <a:latin typeface="Calibri"/>
              <a:cs typeface="Calibri"/>
            </a:endParaRPr>
          </a:p>
          <a:p>
            <a:pPr marL="617220" indent="-146050">
              <a:lnSpc>
                <a:spcPct val="100000"/>
              </a:lnSpc>
              <a:spcBef>
                <a:spcPts val="985"/>
              </a:spcBef>
              <a:buChar char="–"/>
              <a:tabLst>
                <a:tab pos="617220" algn="l"/>
              </a:tabLst>
            </a:pPr>
            <a:r>
              <a:rPr sz="1600" spc="-10" dirty="0">
                <a:latin typeface="Calibri"/>
                <a:cs typeface="Calibri"/>
              </a:rPr>
              <a:t>(Distance </a:t>
            </a:r>
            <a:r>
              <a:rPr sz="1600" dirty="0">
                <a:latin typeface="Calibri"/>
                <a:cs typeface="Calibri"/>
              </a:rPr>
              <a:t>× </a:t>
            </a:r>
            <a:r>
              <a:rPr sz="1600" spc="-10" dirty="0">
                <a:latin typeface="Calibri"/>
                <a:cs typeface="Calibri"/>
              </a:rPr>
              <a:t>weight1)</a:t>
            </a:r>
            <a:endParaRPr sz="1600">
              <a:latin typeface="Calibri"/>
              <a:cs typeface="Calibri"/>
            </a:endParaRPr>
          </a:p>
          <a:p>
            <a:pPr marL="12700" marR="1212850" indent="604520">
              <a:lnSpc>
                <a:spcPct val="151400"/>
              </a:lnSpc>
              <a:spcBef>
                <a:spcPts val="5"/>
              </a:spcBef>
              <a:buChar char="–"/>
              <a:tabLst>
                <a:tab pos="617220" algn="l"/>
              </a:tabLst>
            </a:pPr>
            <a:r>
              <a:rPr sz="1600" spc="-10" dirty="0">
                <a:latin typeface="Calibri"/>
                <a:cs typeface="Calibri"/>
              </a:rPr>
              <a:t>(Waiting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×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weight2) </a:t>
            </a:r>
            <a:r>
              <a:rPr sz="1600" dirty="0">
                <a:latin typeface="Calibri"/>
                <a:cs typeface="Calibri"/>
              </a:rPr>
              <a:t>Higher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severity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increases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utility.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alibri"/>
                <a:cs typeface="Calibri"/>
              </a:rPr>
              <a:t>Long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distance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wait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reduce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utility.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1700" y="767232"/>
            <a:ext cx="5502275" cy="3381054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5"/>
              </a:spcBef>
            </a:pPr>
            <a:endParaRPr sz="1600" dirty="0">
              <a:latin typeface="Calibri"/>
              <a:cs typeface="Calibri"/>
            </a:endParaRPr>
          </a:p>
          <a:p>
            <a:pPr marL="211454" indent="-198755">
              <a:lnSpc>
                <a:spcPct val="100000"/>
              </a:lnSpc>
              <a:buAutoNum type="arabicPeriod" startAt="8"/>
              <a:tabLst>
                <a:tab pos="211454" algn="l"/>
              </a:tabLst>
            </a:pPr>
            <a:r>
              <a:rPr sz="1600" b="1" spc="-10" dirty="0">
                <a:latin typeface="Calibri"/>
                <a:cs typeface="Calibri"/>
              </a:rPr>
              <a:t>Implementation</a:t>
            </a:r>
            <a:endParaRPr sz="1600" b="1" dirty="0">
              <a:latin typeface="Calibri"/>
              <a:cs typeface="Calibri"/>
            </a:endParaRPr>
          </a:p>
          <a:p>
            <a:pPr marL="313055" lvl="1" indent="-300355">
              <a:lnSpc>
                <a:spcPct val="100000"/>
              </a:lnSpc>
              <a:spcBef>
                <a:spcPts val="994"/>
              </a:spcBef>
              <a:buAutoNum type="arabicPeriod"/>
              <a:tabLst>
                <a:tab pos="313055" algn="l"/>
              </a:tabLst>
            </a:pPr>
            <a:r>
              <a:rPr sz="1600" spc="-25" dirty="0">
                <a:latin typeface="Calibri"/>
                <a:cs typeface="Calibri"/>
              </a:rPr>
              <a:t>Tools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Technologies</a:t>
            </a:r>
            <a:endParaRPr sz="1600" dirty="0">
              <a:latin typeface="Calibri"/>
              <a:cs typeface="Calibri"/>
            </a:endParaRPr>
          </a:p>
          <a:p>
            <a:pPr marL="158750" lvl="2" indent="-146050">
              <a:lnSpc>
                <a:spcPct val="100000"/>
              </a:lnSpc>
              <a:spcBef>
                <a:spcPts val="990"/>
              </a:spcBef>
              <a:buChar char="•"/>
              <a:tabLst>
                <a:tab pos="158750" algn="l"/>
              </a:tabLst>
            </a:pPr>
            <a:r>
              <a:rPr sz="1600" spc="-10" dirty="0">
                <a:latin typeface="Calibri"/>
                <a:cs typeface="Calibri"/>
              </a:rPr>
              <a:t>Python</a:t>
            </a:r>
            <a:endParaRPr sz="1600" dirty="0">
              <a:latin typeface="Calibri"/>
              <a:cs typeface="Calibri"/>
            </a:endParaRPr>
          </a:p>
          <a:p>
            <a:pPr marL="158750" lvl="2" indent="-146050">
              <a:lnSpc>
                <a:spcPct val="100000"/>
              </a:lnSpc>
              <a:spcBef>
                <a:spcPts val="980"/>
              </a:spcBef>
              <a:buChar char="•"/>
              <a:tabLst>
                <a:tab pos="158750" algn="l"/>
              </a:tabLst>
            </a:pPr>
            <a:r>
              <a:rPr sz="1600" dirty="0" err="1">
                <a:latin typeface="Calibri"/>
                <a:cs typeface="Calibri"/>
              </a:rPr>
              <a:t>Jupyter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Notebook</a:t>
            </a:r>
            <a:endParaRPr lang="en-IN" sz="1600" spc="-10" dirty="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1085"/>
              </a:spcBef>
              <a:buChar char="•"/>
              <a:tabLst>
                <a:tab pos="158750" algn="l"/>
              </a:tabLst>
            </a:pPr>
            <a:r>
              <a:rPr lang="en-US" sz="1600" dirty="0">
                <a:latin typeface="Calibri"/>
                <a:cs typeface="Calibri"/>
              </a:rPr>
              <a:t>Matplotlib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(visualization)</a:t>
            </a:r>
            <a:endParaRPr lang="en-US" sz="1600" dirty="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980"/>
              </a:spcBef>
              <a:buChar char="•"/>
              <a:tabLst>
                <a:tab pos="158750" algn="l"/>
              </a:tabLst>
            </a:pPr>
            <a:r>
              <a:rPr lang="en-US" sz="1600" dirty="0">
                <a:latin typeface="Calibri"/>
                <a:cs typeface="Calibri"/>
              </a:rPr>
              <a:t>Random</a:t>
            </a:r>
            <a:r>
              <a:rPr lang="en-US" sz="1600" spc="-5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module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(patient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arrivals)</a:t>
            </a:r>
            <a:endParaRPr lang="en-US" sz="1600" dirty="0">
              <a:latin typeface="Calibri"/>
              <a:cs typeface="Calibri"/>
            </a:endParaRPr>
          </a:p>
          <a:p>
            <a:pPr marL="158750" lvl="2" indent="-146050">
              <a:lnSpc>
                <a:spcPct val="100000"/>
              </a:lnSpc>
              <a:spcBef>
                <a:spcPts val="980"/>
              </a:spcBef>
              <a:buChar char="•"/>
              <a:tabLst>
                <a:tab pos="158750" algn="l"/>
              </a:tabLst>
            </a:pP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1876833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1700" y="767232"/>
            <a:ext cx="3825240" cy="5177508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60"/>
              </a:spcBef>
            </a:pPr>
            <a:endParaRPr sz="1600" dirty="0">
              <a:latin typeface="Calibri"/>
              <a:cs typeface="Calibri"/>
            </a:endParaRPr>
          </a:p>
          <a:p>
            <a:pPr marL="12700" marR="2482215">
              <a:lnSpc>
                <a:spcPct val="151400"/>
              </a:lnSpc>
            </a:pPr>
            <a:r>
              <a:rPr sz="1600" b="1" dirty="0">
                <a:latin typeface="Calibri"/>
                <a:cs typeface="Calibri"/>
              </a:rPr>
              <a:t>8.2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Data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Classes </a:t>
            </a:r>
            <a:r>
              <a:rPr sz="1600" dirty="0">
                <a:latin typeface="Calibri"/>
                <a:cs typeface="Calibri"/>
              </a:rPr>
              <a:t>class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Patient:</a:t>
            </a:r>
            <a:endParaRPr sz="1600" dirty="0">
              <a:latin typeface="Calibri"/>
              <a:cs typeface="Calibri"/>
            </a:endParaRPr>
          </a:p>
          <a:p>
            <a:pPr marL="378460" marR="5080" indent="-182880">
              <a:lnSpc>
                <a:spcPct val="151300"/>
              </a:lnSpc>
              <a:spcBef>
                <a:spcPts val="15"/>
              </a:spcBef>
              <a:tabLst>
                <a:tab pos="710565" algn="l"/>
                <a:tab pos="1182370" algn="l"/>
              </a:tabLst>
            </a:pPr>
            <a:r>
              <a:rPr sz="1600" dirty="0">
                <a:latin typeface="Calibri"/>
                <a:cs typeface="Calibri"/>
              </a:rPr>
              <a:t>def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600" spc="-20" dirty="0">
                <a:latin typeface="Calibri"/>
                <a:cs typeface="Calibri"/>
              </a:rPr>
              <a:t>init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600" spc="-10" dirty="0">
                <a:latin typeface="Calibri"/>
                <a:cs typeface="Calibri"/>
              </a:rPr>
              <a:t>(self,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pid,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severity,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arrival_time): self.id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pid</a:t>
            </a:r>
            <a:endParaRPr sz="1600" dirty="0">
              <a:latin typeface="Calibri"/>
              <a:cs typeface="Calibri"/>
            </a:endParaRPr>
          </a:p>
          <a:p>
            <a:pPr marL="378460">
              <a:lnSpc>
                <a:spcPct val="100000"/>
              </a:lnSpc>
              <a:spcBef>
                <a:spcPts val="980"/>
              </a:spcBef>
            </a:pPr>
            <a:r>
              <a:rPr sz="1600" spc="-20" dirty="0">
                <a:latin typeface="Calibri"/>
                <a:cs typeface="Calibri"/>
              </a:rPr>
              <a:t>self.severity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severity</a:t>
            </a:r>
            <a:endParaRPr sz="1600" dirty="0">
              <a:latin typeface="Calibri"/>
              <a:cs typeface="Calibri"/>
            </a:endParaRPr>
          </a:p>
          <a:p>
            <a:pPr marL="378460">
              <a:lnSpc>
                <a:spcPct val="100000"/>
              </a:lnSpc>
              <a:spcBef>
                <a:spcPts val="990"/>
              </a:spcBef>
            </a:pPr>
            <a:r>
              <a:rPr sz="1600" spc="-10" dirty="0">
                <a:latin typeface="Calibri"/>
                <a:cs typeface="Calibri"/>
              </a:rPr>
              <a:t>self.arrival_time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arrival_time</a:t>
            </a:r>
            <a:endParaRPr sz="1600" dirty="0">
              <a:latin typeface="Calibri"/>
              <a:cs typeface="Calibri"/>
            </a:endParaRPr>
          </a:p>
          <a:p>
            <a:pPr marL="378460" marR="1306195">
              <a:lnSpc>
                <a:spcPct val="151200"/>
              </a:lnSpc>
              <a:spcBef>
                <a:spcPts val="10"/>
              </a:spcBef>
            </a:pPr>
            <a:r>
              <a:rPr sz="1600" spc="-20" dirty="0">
                <a:latin typeface="Calibri"/>
                <a:cs typeface="Calibri"/>
              </a:rPr>
              <a:t>self.allocated_bed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None self.wait_time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 </a:t>
            </a:r>
            <a:r>
              <a:rPr sz="1600" spc="-50" dirty="0">
                <a:latin typeface="Calibri"/>
                <a:cs typeface="Calibri"/>
              </a:rPr>
              <a:t>0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45"/>
              </a:spcBef>
            </a:pP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Calibri"/>
                <a:cs typeface="Calibri"/>
              </a:rPr>
              <a:t>class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Bed:</a:t>
            </a:r>
            <a:endParaRPr sz="1600" dirty="0">
              <a:latin typeface="Calibri"/>
              <a:cs typeface="Calibri"/>
            </a:endParaRPr>
          </a:p>
          <a:p>
            <a:pPr marL="378460" marR="1068070" indent="-182880">
              <a:lnSpc>
                <a:spcPct val="151200"/>
              </a:lnSpc>
              <a:tabLst>
                <a:tab pos="710565" algn="l"/>
                <a:tab pos="1182370" algn="l"/>
              </a:tabLst>
            </a:pPr>
            <a:r>
              <a:rPr sz="1600" dirty="0">
                <a:latin typeface="Calibri"/>
                <a:cs typeface="Calibri"/>
              </a:rPr>
              <a:t>def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600" spc="-20" dirty="0">
                <a:latin typeface="Calibri"/>
                <a:cs typeface="Calibri"/>
              </a:rPr>
              <a:t>init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600" spc="-10" dirty="0">
                <a:latin typeface="Calibri"/>
                <a:cs typeface="Calibri"/>
              </a:rPr>
              <a:t>(self,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bid,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location): self.id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bid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2245641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1700" y="767232"/>
            <a:ext cx="2964815" cy="5565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8460" marR="738505">
              <a:lnSpc>
                <a:spcPct val="151600"/>
              </a:lnSpc>
              <a:spcBef>
                <a:spcPts val="95"/>
              </a:spcBef>
            </a:pPr>
            <a:r>
              <a:rPr sz="1600" spc="-20" dirty="0">
                <a:latin typeface="Calibri"/>
                <a:cs typeface="Calibri"/>
              </a:rPr>
              <a:t>self.location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location self.occupied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False self.patient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None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1600" dirty="0">
              <a:latin typeface="Calibri"/>
              <a:cs typeface="Calibri"/>
            </a:endParaRPr>
          </a:p>
          <a:p>
            <a:pPr marL="12700" marR="720725">
              <a:lnSpc>
                <a:spcPct val="151900"/>
              </a:lnSpc>
            </a:pPr>
            <a:r>
              <a:rPr sz="1600" b="1" dirty="0">
                <a:latin typeface="Calibri"/>
                <a:cs typeface="Calibri"/>
              </a:rPr>
              <a:t>8.3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Hospital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Environment </a:t>
            </a:r>
            <a:r>
              <a:rPr sz="1600" dirty="0">
                <a:latin typeface="Calibri"/>
                <a:cs typeface="Calibri"/>
              </a:rPr>
              <a:t>class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HospitalEnvironment:</a:t>
            </a:r>
            <a:endParaRPr sz="1600" dirty="0">
              <a:latin typeface="Calibri"/>
              <a:cs typeface="Calibri"/>
            </a:endParaRPr>
          </a:p>
          <a:p>
            <a:pPr marL="378460" marR="5080" indent="-182880">
              <a:lnSpc>
                <a:spcPct val="151200"/>
              </a:lnSpc>
              <a:tabLst>
                <a:tab pos="710565" algn="l"/>
                <a:tab pos="1182370" algn="l"/>
              </a:tabLst>
            </a:pPr>
            <a:r>
              <a:rPr sz="1600" dirty="0">
                <a:latin typeface="Calibri"/>
                <a:cs typeface="Calibri"/>
              </a:rPr>
              <a:t>def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600" spc="-20" dirty="0">
                <a:latin typeface="Calibri"/>
                <a:cs typeface="Calibri"/>
              </a:rPr>
              <a:t>init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600" spc="-10" dirty="0">
                <a:latin typeface="Calibri"/>
                <a:cs typeface="Calibri"/>
              </a:rPr>
              <a:t>(self,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rows=3,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cols=4): </a:t>
            </a:r>
            <a:r>
              <a:rPr sz="1600" spc="-20" dirty="0">
                <a:latin typeface="Calibri"/>
                <a:cs typeface="Calibri"/>
              </a:rPr>
              <a:t>self.rows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rows</a:t>
            </a:r>
            <a:endParaRPr sz="1600" dirty="0">
              <a:latin typeface="Calibri"/>
              <a:cs typeface="Calibri"/>
            </a:endParaRPr>
          </a:p>
          <a:p>
            <a:pPr marL="378460" marR="1423670">
              <a:lnSpc>
                <a:spcPts val="2920"/>
              </a:lnSpc>
              <a:spcBef>
                <a:spcPts val="250"/>
              </a:spcBef>
            </a:pPr>
            <a:r>
              <a:rPr sz="1600" spc="-20" dirty="0">
                <a:latin typeface="Calibri"/>
                <a:cs typeface="Calibri"/>
              </a:rPr>
              <a:t>self.cols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cols self.beds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{}</a:t>
            </a:r>
            <a:endParaRPr sz="1600" dirty="0">
              <a:latin typeface="Calibri"/>
              <a:cs typeface="Calibri"/>
            </a:endParaRPr>
          </a:p>
          <a:p>
            <a:pPr marL="378460">
              <a:lnSpc>
                <a:spcPct val="100000"/>
              </a:lnSpc>
              <a:spcBef>
                <a:spcPts val="715"/>
              </a:spcBef>
            </a:pPr>
            <a:r>
              <a:rPr sz="1600" spc="-20" dirty="0">
                <a:latin typeface="Calibri"/>
                <a:cs typeface="Calibri"/>
              </a:rPr>
              <a:t>self.waiting_queue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[]</a:t>
            </a:r>
            <a:endParaRPr sz="1600" dirty="0">
              <a:latin typeface="Calibri"/>
              <a:cs typeface="Calibri"/>
            </a:endParaRPr>
          </a:p>
          <a:p>
            <a:pPr marL="378460">
              <a:lnSpc>
                <a:spcPct val="100000"/>
              </a:lnSpc>
              <a:spcBef>
                <a:spcPts val="985"/>
              </a:spcBef>
            </a:pPr>
            <a:r>
              <a:rPr sz="1600" spc="-20" dirty="0">
                <a:latin typeface="Calibri"/>
                <a:cs typeface="Calibri"/>
              </a:rPr>
              <a:t>self.time_step</a:t>
            </a:r>
            <a:r>
              <a:rPr sz="1600" dirty="0">
                <a:latin typeface="Calibri"/>
                <a:cs typeface="Calibri"/>
              </a:rPr>
              <a:t> =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0</a:t>
            </a:r>
            <a:endParaRPr sz="1600" dirty="0">
              <a:latin typeface="Calibri"/>
              <a:cs typeface="Calibri"/>
            </a:endParaRPr>
          </a:p>
          <a:p>
            <a:pPr marL="378460">
              <a:lnSpc>
                <a:spcPct val="100000"/>
              </a:lnSpc>
              <a:spcBef>
                <a:spcPts val="994"/>
              </a:spcBef>
            </a:pPr>
            <a:r>
              <a:rPr sz="1600" spc="-20" dirty="0">
                <a:latin typeface="Calibri"/>
                <a:cs typeface="Calibri"/>
              </a:rPr>
              <a:t>self.next_patient_id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1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9"/>
              </a:spcBef>
            </a:pPr>
            <a:endParaRPr sz="1600" dirty="0">
              <a:latin typeface="Calibri"/>
              <a:cs typeface="Calibri"/>
            </a:endParaRPr>
          </a:p>
          <a:p>
            <a:pPr marL="37973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#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create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beds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884" y="767232"/>
            <a:ext cx="5008245" cy="556514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94945">
              <a:lnSpc>
                <a:spcPct val="100000"/>
              </a:lnSpc>
              <a:spcBef>
                <a:spcPts val="1085"/>
              </a:spcBef>
            </a:pPr>
            <a:r>
              <a:rPr sz="1600" dirty="0">
                <a:latin typeface="Calibri"/>
                <a:cs typeface="Calibri"/>
              </a:rPr>
              <a:t>bid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0</a:t>
            </a:r>
            <a:endParaRPr sz="1600">
              <a:latin typeface="Calibri"/>
              <a:cs typeface="Calibri"/>
            </a:endParaRPr>
          </a:p>
          <a:p>
            <a:pPr marL="379730" marR="3046095" indent="-184785">
              <a:lnSpc>
                <a:spcPts val="2920"/>
              </a:lnSpc>
              <a:spcBef>
                <a:spcPts val="245"/>
              </a:spcBef>
            </a:pPr>
            <a:r>
              <a:rPr sz="1600" dirty="0">
                <a:latin typeface="Calibri"/>
                <a:cs typeface="Calibri"/>
              </a:rPr>
              <a:t>for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range(rows):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range(cols):</a:t>
            </a:r>
            <a:endParaRPr sz="1600">
              <a:latin typeface="Calibri"/>
              <a:cs typeface="Calibri"/>
            </a:endParaRPr>
          </a:p>
          <a:p>
            <a:pPr marL="562610">
              <a:lnSpc>
                <a:spcPct val="100000"/>
              </a:lnSpc>
              <a:spcBef>
                <a:spcPts val="715"/>
              </a:spcBef>
            </a:pPr>
            <a:r>
              <a:rPr sz="1600" spc="-10" dirty="0">
                <a:latin typeface="Calibri"/>
                <a:cs typeface="Calibri"/>
              </a:rPr>
              <a:t>self.beds[bid]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Bed(bid,</a:t>
            </a:r>
            <a:r>
              <a:rPr sz="1600" spc="-40" dirty="0">
                <a:latin typeface="Calibri"/>
                <a:cs typeface="Calibri"/>
              </a:rPr>
              <a:t> (r, </a:t>
            </a:r>
            <a:r>
              <a:rPr sz="1600" spc="-25" dirty="0">
                <a:latin typeface="Calibri"/>
                <a:cs typeface="Calibri"/>
              </a:rPr>
              <a:t>c))</a:t>
            </a:r>
            <a:endParaRPr sz="1600">
              <a:latin typeface="Calibri"/>
              <a:cs typeface="Calibri"/>
            </a:endParaRPr>
          </a:p>
          <a:p>
            <a:pPr marL="562610">
              <a:lnSpc>
                <a:spcPct val="100000"/>
              </a:lnSpc>
              <a:spcBef>
                <a:spcPts val="990"/>
              </a:spcBef>
            </a:pPr>
            <a:r>
              <a:rPr sz="1600" dirty="0">
                <a:latin typeface="Calibri"/>
                <a:cs typeface="Calibri"/>
              </a:rPr>
              <a:t>bid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+=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1600">
              <a:latin typeface="Calibri"/>
              <a:cs typeface="Calibri"/>
            </a:endParaRPr>
          </a:p>
          <a:p>
            <a:pPr marL="194945" marR="1205230" indent="-182880">
              <a:lnSpc>
                <a:spcPct val="151200"/>
              </a:lnSpc>
              <a:spcBef>
                <a:spcPts val="5"/>
              </a:spcBef>
            </a:pPr>
            <a:r>
              <a:rPr sz="1600" dirty="0">
                <a:latin typeface="Calibri"/>
                <a:cs typeface="Calibri"/>
              </a:rPr>
              <a:t>def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create_random_arrivals(self,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p_prob=0.4): </a:t>
            </a:r>
            <a:r>
              <a:rPr sz="1600" dirty="0">
                <a:latin typeface="Calibri"/>
                <a:cs typeface="Calibri"/>
              </a:rPr>
              <a:t>if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random.random() </a:t>
            </a:r>
            <a:r>
              <a:rPr sz="1600" dirty="0">
                <a:latin typeface="Calibri"/>
                <a:cs typeface="Calibri"/>
              </a:rPr>
              <a:t>&lt;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p_prob:</a:t>
            </a:r>
            <a:endParaRPr sz="1600">
              <a:latin typeface="Calibri"/>
              <a:cs typeface="Calibri"/>
            </a:endParaRPr>
          </a:p>
          <a:p>
            <a:pPr marL="37973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alibri"/>
                <a:cs typeface="Calibri"/>
              </a:rPr>
              <a:t>severity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random.randint(1,</a:t>
            </a:r>
            <a:r>
              <a:rPr sz="1600" spc="-25" dirty="0">
                <a:latin typeface="Calibri"/>
                <a:cs typeface="Calibri"/>
              </a:rPr>
              <a:t> 10)</a:t>
            </a:r>
            <a:endParaRPr sz="1600">
              <a:latin typeface="Calibri"/>
              <a:cs typeface="Calibri"/>
            </a:endParaRPr>
          </a:p>
          <a:p>
            <a:pPr marL="379730" marR="5080">
              <a:lnSpc>
                <a:spcPct val="151200"/>
              </a:lnSpc>
              <a:spcBef>
                <a:spcPts val="10"/>
              </a:spcBef>
            </a:pPr>
            <a:r>
              <a:rPr sz="1600" dirty="0">
                <a:latin typeface="Calibri"/>
                <a:cs typeface="Calibri"/>
              </a:rPr>
              <a:t>p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Patient(self.next_patient_id,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severity,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self.time_step) </a:t>
            </a:r>
            <a:r>
              <a:rPr sz="1600" spc="-20" dirty="0">
                <a:latin typeface="Calibri"/>
                <a:cs typeface="Calibri"/>
              </a:rPr>
              <a:t>self.next_patient_id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+=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  <a:p>
            <a:pPr marL="379730">
              <a:lnSpc>
                <a:spcPct val="100000"/>
              </a:lnSpc>
              <a:spcBef>
                <a:spcPts val="985"/>
              </a:spcBef>
            </a:pPr>
            <a:r>
              <a:rPr sz="1600" spc="-10" dirty="0">
                <a:latin typeface="Calibri"/>
                <a:cs typeface="Calibri"/>
              </a:rPr>
              <a:t>self.waiting_queue.append(p)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600">
              <a:latin typeface="Calibri"/>
              <a:cs typeface="Calibri"/>
            </a:endParaRPr>
          </a:p>
          <a:p>
            <a:pPr marL="194945" marR="2806065" indent="-182880">
              <a:lnSpc>
                <a:spcPct val="151200"/>
              </a:lnSpc>
              <a:spcBef>
                <a:spcPts val="5"/>
              </a:spcBef>
            </a:pPr>
            <a:r>
              <a:rPr sz="1600" dirty="0">
                <a:latin typeface="Calibri"/>
                <a:cs typeface="Calibri"/>
              </a:rPr>
              <a:t>def </a:t>
            </a:r>
            <a:r>
              <a:rPr sz="1600" spc="-20" dirty="0">
                <a:latin typeface="Calibri"/>
                <a:cs typeface="Calibri"/>
              </a:rPr>
              <a:t>free_bed(self,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bed_id): </a:t>
            </a:r>
            <a:r>
              <a:rPr sz="1600" dirty="0">
                <a:latin typeface="Calibri"/>
                <a:cs typeface="Calibri"/>
              </a:rPr>
              <a:t>bed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self.beds[bed_id]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884" y="767232"/>
            <a:ext cx="6157595" cy="5565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marR="4233545">
              <a:lnSpc>
                <a:spcPct val="1513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bed.occupied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False </a:t>
            </a:r>
            <a:r>
              <a:rPr sz="1600" spc="-10" dirty="0">
                <a:latin typeface="Calibri"/>
                <a:cs typeface="Calibri"/>
              </a:rPr>
              <a:t>bed.patient</a:t>
            </a:r>
            <a:r>
              <a:rPr sz="1600" dirty="0">
                <a:latin typeface="Calibri"/>
                <a:cs typeface="Calibri"/>
              </a:rPr>
              <a:t> =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None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1600">
              <a:latin typeface="Calibri"/>
              <a:cs typeface="Calibri"/>
            </a:endParaRPr>
          </a:p>
          <a:p>
            <a:pPr marL="194945" marR="3016250" indent="-182880">
              <a:lnSpc>
                <a:spcPct val="151400"/>
              </a:lnSpc>
              <a:spcBef>
                <a:spcPts val="5"/>
              </a:spcBef>
            </a:pPr>
            <a:r>
              <a:rPr sz="1600" dirty="0">
                <a:latin typeface="Calibri"/>
                <a:cs typeface="Calibri"/>
              </a:rPr>
              <a:t>def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occupy_bed(self,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bed_id,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patient): </a:t>
            </a:r>
            <a:r>
              <a:rPr sz="1600" dirty="0">
                <a:latin typeface="Calibri"/>
                <a:cs typeface="Calibri"/>
              </a:rPr>
              <a:t>bed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self.beds[bed_id]</a:t>
            </a:r>
            <a:endParaRPr sz="1600">
              <a:latin typeface="Calibri"/>
              <a:cs typeface="Calibri"/>
            </a:endParaRPr>
          </a:p>
          <a:p>
            <a:pPr marL="379730" marR="4032250" indent="-184785">
              <a:lnSpc>
                <a:spcPct val="151200"/>
              </a:lnSpc>
              <a:spcBef>
                <a:spcPts val="10"/>
              </a:spcBef>
            </a:pPr>
            <a:r>
              <a:rPr sz="1600" dirty="0">
                <a:latin typeface="Calibri"/>
                <a:cs typeface="Calibri"/>
              </a:rPr>
              <a:t>if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not</a:t>
            </a:r>
            <a:r>
              <a:rPr sz="1600" spc="-10" dirty="0">
                <a:latin typeface="Calibri"/>
                <a:cs typeface="Calibri"/>
              </a:rPr>
              <a:t> bed.occupied: </a:t>
            </a:r>
            <a:r>
              <a:rPr sz="1600" dirty="0">
                <a:latin typeface="Calibri"/>
                <a:cs typeface="Calibri"/>
              </a:rPr>
              <a:t>bed.occupied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True </a:t>
            </a:r>
            <a:r>
              <a:rPr sz="1600" spc="-10" dirty="0">
                <a:latin typeface="Calibri"/>
                <a:cs typeface="Calibri"/>
              </a:rPr>
              <a:t>bed.patient</a:t>
            </a:r>
            <a:r>
              <a:rPr sz="1600" dirty="0">
                <a:latin typeface="Calibri"/>
                <a:cs typeface="Calibri"/>
              </a:rPr>
              <a:t> =</a:t>
            </a:r>
            <a:r>
              <a:rPr sz="1600" spc="-10" dirty="0">
                <a:latin typeface="Calibri"/>
                <a:cs typeface="Calibri"/>
              </a:rPr>
              <a:t> patient</a:t>
            </a:r>
            <a:endParaRPr sz="1600">
              <a:latin typeface="Calibri"/>
              <a:cs typeface="Calibri"/>
            </a:endParaRPr>
          </a:p>
          <a:p>
            <a:pPr marL="379730">
              <a:lnSpc>
                <a:spcPct val="100000"/>
              </a:lnSpc>
              <a:spcBef>
                <a:spcPts val="985"/>
              </a:spcBef>
            </a:pPr>
            <a:r>
              <a:rPr sz="1600" spc="-10" dirty="0">
                <a:latin typeface="Calibri"/>
                <a:cs typeface="Calibri"/>
              </a:rPr>
              <a:t>patient.allocated_bed</a:t>
            </a:r>
            <a:r>
              <a:rPr sz="1600" dirty="0">
                <a:latin typeface="Calibri"/>
                <a:cs typeface="Calibri"/>
              </a:rPr>
              <a:t> =</a:t>
            </a:r>
            <a:r>
              <a:rPr sz="1600" spc="-10" dirty="0">
                <a:latin typeface="Calibri"/>
                <a:cs typeface="Calibri"/>
              </a:rPr>
              <a:t> bed_id</a:t>
            </a:r>
            <a:endParaRPr sz="1600">
              <a:latin typeface="Calibri"/>
              <a:cs typeface="Calibri"/>
            </a:endParaRPr>
          </a:p>
          <a:p>
            <a:pPr marL="379730">
              <a:lnSpc>
                <a:spcPct val="100000"/>
              </a:lnSpc>
              <a:spcBef>
                <a:spcPts val="1000"/>
              </a:spcBef>
            </a:pPr>
            <a:r>
              <a:rPr sz="1600" spc="-20" dirty="0">
                <a:latin typeface="Calibri"/>
                <a:cs typeface="Calibri"/>
              </a:rPr>
              <a:t>self.waiting_queue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[q for q in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self.waiting_queue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if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q.id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!=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patient.id]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0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Calibri"/>
                <a:cs typeface="Calibri"/>
              </a:rPr>
              <a:t>def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get_free_beds(self):</a:t>
            </a:r>
            <a:endParaRPr sz="160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  <a:spcBef>
                <a:spcPts val="994"/>
              </a:spcBef>
            </a:pPr>
            <a:r>
              <a:rPr sz="1600" dirty="0">
                <a:latin typeface="Calibri"/>
                <a:cs typeface="Calibri"/>
              </a:rPr>
              <a:t>return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[b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self.beds.values()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if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b.occupied]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5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def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step_time(self):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2245641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1700" y="767232"/>
            <a:ext cx="4828540" cy="556514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378460">
              <a:lnSpc>
                <a:spcPct val="100000"/>
              </a:lnSpc>
              <a:spcBef>
                <a:spcPts val="1085"/>
              </a:spcBef>
            </a:pPr>
            <a:r>
              <a:rPr sz="1600" spc="-20" dirty="0">
                <a:latin typeface="Calibri"/>
                <a:cs typeface="Calibri"/>
              </a:rPr>
              <a:t>self.time_step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+=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1</a:t>
            </a:r>
            <a:endParaRPr sz="1600" dirty="0">
              <a:latin typeface="Calibri"/>
              <a:cs typeface="Calibri"/>
            </a:endParaRPr>
          </a:p>
          <a:p>
            <a:pPr marL="562610" marR="2207260" indent="-184785">
              <a:lnSpc>
                <a:spcPts val="2920"/>
              </a:lnSpc>
              <a:spcBef>
                <a:spcPts val="245"/>
              </a:spcBef>
            </a:pPr>
            <a:r>
              <a:rPr sz="1600" dirty="0">
                <a:latin typeface="Calibri"/>
                <a:cs typeface="Calibri"/>
              </a:rPr>
              <a:t>for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self.waiting_queue: p.wait_time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+=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1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70"/>
              </a:spcBef>
            </a:pPr>
            <a:endParaRPr sz="16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Calibri"/>
                <a:cs typeface="Calibri"/>
              </a:rPr>
              <a:t>8.4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Utility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Function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&amp;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Utility-</a:t>
            </a:r>
            <a:r>
              <a:rPr sz="1600" b="1" dirty="0">
                <a:latin typeface="Calibri"/>
                <a:cs typeface="Calibri"/>
              </a:rPr>
              <a:t>Based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Agent</a:t>
            </a:r>
            <a:endParaRPr sz="1600" b="1" dirty="0">
              <a:latin typeface="Calibri"/>
              <a:cs typeface="Calibri"/>
            </a:endParaRPr>
          </a:p>
          <a:p>
            <a:pPr marL="195580" marR="828040" indent="-183515">
              <a:lnSpc>
                <a:spcPct val="151300"/>
              </a:lnSpc>
              <a:spcBef>
                <a:spcPts val="10"/>
              </a:spcBef>
            </a:pPr>
            <a:r>
              <a:rPr sz="1600" dirty="0">
                <a:latin typeface="Calibri"/>
                <a:cs typeface="Calibri"/>
              </a:rPr>
              <a:t>def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compute_utility(patient,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bed,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current_time): severity_benefit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patient.severity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*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10</a:t>
            </a:r>
            <a:endParaRPr sz="1600" dirty="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alibri"/>
                <a:cs typeface="Calibri"/>
              </a:rPr>
              <a:t>triage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(0,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0)</a:t>
            </a:r>
            <a:endParaRPr sz="1600" dirty="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  <a:spcBef>
                <a:spcPts val="985"/>
              </a:spcBef>
            </a:pPr>
            <a:r>
              <a:rPr sz="1600" spc="-75" dirty="0">
                <a:latin typeface="Calibri"/>
                <a:cs typeface="Calibri"/>
              </a:rPr>
              <a:t>r,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10" dirty="0">
                <a:latin typeface="Calibri"/>
                <a:cs typeface="Calibri"/>
              </a:rPr>
              <a:t> bed.location</a:t>
            </a:r>
            <a:endParaRPr sz="1600" dirty="0">
              <a:latin typeface="Calibri"/>
              <a:cs typeface="Calibri"/>
            </a:endParaRPr>
          </a:p>
          <a:p>
            <a:pPr marL="195580" marR="5080">
              <a:lnSpc>
                <a:spcPct val="151200"/>
              </a:lnSpc>
              <a:spcBef>
                <a:spcPts val="15"/>
              </a:spcBef>
            </a:pPr>
            <a:r>
              <a:rPr sz="1600" spc="-10" dirty="0">
                <a:latin typeface="Calibri"/>
                <a:cs typeface="Calibri"/>
              </a:rPr>
              <a:t>distance_cost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(abs(r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-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triage[0])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+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abs(c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-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triage[1]))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*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2 </a:t>
            </a:r>
            <a:r>
              <a:rPr sz="1600" spc="-10" dirty="0">
                <a:latin typeface="Calibri"/>
                <a:cs typeface="Calibri"/>
              </a:rPr>
              <a:t>wait_cost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patient.wait_time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*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1.5</a:t>
            </a:r>
            <a:endParaRPr sz="1600" dirty="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alibri"/>
                <a:cs typeface="Calibri"/>
              </a:rPr>
              <a:t>return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severity_benefit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-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(distance_cost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+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wait_cost)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600" dirty="0">
              <a:latin typeface="Calibri"/>
              <a:cs typeface="Calibri"/>
            </a:endParaRPr>
          </a:p>
          <a:p>
            <a:pPr marL="195580" marR="2268855" indent="-183515">
              <a:lnSpc>
                <a:spcPct val="151200"/>
              </a:lnSpc>
            </a:pPr>
            <a:r>
              <a:rPr sz="1600" dirty="0">
                <a:latin typeface="Calibri"/>
                <a:cs typeface="Calibri"/>
              </a:rPr>
              <a:t>class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UtilityBasedBedAllocator: </a:t>
            </a:r>
            <a:r>
              <a:rPr sz="1600" dirty="0">
                <a:latin typeface="Calibri"/>
                <a:cs typeface="Calibri"/>
              </a:rPr>
              <a:t>def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allocate(self,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env):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7713" y="767232"/>
            <a:ext cx="3846195" cy="5565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58240">
              <a:lnSpc>
                <a:spcPct val="151300"/>
              </a:lnSpc>
              <a:spcBef>
                <a:spcPts val="100"/>
              </a:spcBef>
            </a:pPr>
            <a:r>
              <a:rPr sz="1600" spc="-10" dirty="0">
                <a:latin typeface="Calibri"/>
                <a:cs typeface="Calibri"/>
              </a:rPr>
              <a:t>free_beds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env.get_free_beds() </a:t>
            </a:r>
            <a:r>
              <a:rPr sz="1600" dirty="0">
                <a:latin typeface="Calibri"/>
                <a:cs typeface="Calibri"/>
              </a:rPr>
              <a:t>allocations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[]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600" dirty="0">
                <a:latin typeface="Calibri"/>
                <a:cs typeface="Calibri"/>
              </a:rPr>
              <a:t>candidates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[]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1600">
              <a:latin typeface="Calibri"/>
              <a:cs typeface="Calibri"/>
            </a:endParaRPr>
          </a:p>
          <a:p>
            <a:pPr marL="196850" marR="1584960" indent="-184785">
              <a:lnSpc>
                <a:spcPct val="151900"/>
              </a:lnSpc>
            </a:pPr>
            <a:r>
              <a:rPr sz="1600" dirty="0">
                <a:latin typeface="Calibri"/>
                <a:cs typeface="Calibri"/>
              </a:rPr>
              <a:t>for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0" dirty="0">
                <a:latin typeface="Calibri"/>
                <a:cs typeface="Calibri"/>
              </a:rPr>
              <a:t> env.waiting_queue: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free_beds:</a:t>
            </a:r>
            <a:endParaRPr sz="1600">
              <a:latin typeface="Calibri"/>
              <a:cs typeface="Calibri"/>
            </a:endParaRPr>
          </a:p>
          <a:p>
            <a:pPr marL="381000" marR="5080" indent="-1905">
              <a:lnSpc>
                <a:spcPct val="151200"/>
              </a:lnSpc>
            </a:pPr>
            <a:r>
              <a:rPr sz="1600" dirty="0">
                <a:latin typeface="Calibri"/>
                <a:cs typeface="Calibri"/>
              </a:rPr>
              <a:t>util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10" dirty="0">
                <a:latin typeface="Calibri"/>
                <a:cs typeface="Calibri"/>
              </a:rPr>
              <a:t> compute_utility(p,</a:t>
            </a:r>
            <a:r>
              <a:rPr sz="1600" dirty="0">
                <a:latin typeface="Calibri"/>
                <a:cs typeface="Calibri"/>
              </a:rPr>
              <a:t> b,</a:t>
            </a:r>
            <a:r>
              <a:rPr sz="1600" spc="-10" dirty="0">
                <a:latin typeface="Calibri"/>
                <a:cs typeface="Calibri"/>
              </a:rPr>
              <a:t> env.time_step) candidates.append((util,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p,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b))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50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candidates.sort(reverse=True)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1600">
              <a:latin typeface="Calibri"/>
              <a:cs typeface="Calibri"/>
            </a:endParaRPr>
          </a:p>
          <a:p>
            <a:pPr marL="12700" marR="2096770">
              <a:lnSpc>
                <a:spcPct val="151900"/>
              </a:lnSpc>
            </a:pPr>
            <a:r>
              <a:rPr sz="1600" dirty="0">
                <a:latin typeface="Calibri"/>
                <a:cs typeface="Calibri"/>
              </a:rPr>
              <a:t>used_beds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set() </a:t>
            </a:r>
            <a:r>
              <a:rPr sz="1600" spc="-10" dirty="0">
                <a:latin typeface="Calibri"/>
                <a:cs typeface="Calibri"/>
              </a:rPr>
              <a:t>used_patients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set()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5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for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util,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candidates: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4462172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1700" y="767232"/>
            <a:ext cx="5008880" cy="5196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7395" marR="3529965" indent="-184785">
              <a:lnSpc>
                <a:spcPct val="1513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if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util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&lt;=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0: </a:t>
            </a:r>
            <a:r>
              <a:rPr sz="1600" spc="-10" dirty="0">
                <a:latin typeface="Calibri"/>
                <a:cs typeface="Calibri"/>
              </a:rPr>
              <a:t>continue</a:t>
            </a:r>
            <a:endParaRPr sz="1600" dirty="0">
              <a:latin typeface="Calibri"/>
              <a:cs typeface="Calibri"/>
            </a:endParaRPr>
          </a:p>
          <a:p>
            <a:pPr marL="747395" marR="5080" indent="-184785">
              <a:lnSpc>
                <a:spcPct val="151200"/>
              </a:lnSpc>
              <a:spcBef>
                <a:spcPts val="10"/>
              </a:spcBef>
            </a:pPr>
            <a:r>
              <a:rPr sz="1600" dirty="0">
                <a:latin typeface="Calibri"/>
                <a:cs typeface="Calibri"/>
              </a:rPr>
              <a:t>if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p.id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not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10" dirty="0">
                <a:latin typeface="Calibri"/>
                <a:cs typeface="Calibri"/>
              </a:rPr>
              <a:t> used_patients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b.id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not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used_beds: env.occupy_bed(b.id,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p)</a:t>
            </a:r>
            <a:endParaRPr sz="1600" dirty="0">
              <a:latin typeface="Calibri"/>
              <a:cs typeface="Calibri"/>
            </a:endParaRPr>
          </a:p>
          <a:p>
            <a:pPr marL="745490">
              <a:lnSpc>
                <a:spcPct val="100000"/>
              </a:lnSpc>
              <a:spcBef>
                <a:spcPts val="990"/>
              </a:spcBef>
            </a:pPr>
            <a:r>
              <a:rPr sz="1600" spc="-10" dirty="0">
                <a:latin typeface="Calibri"/>
                <a:cs typeface="Calibri"/>
              </a:rPr>
              <a:t>allocations.append((p.id,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b.id,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util))</a:t>
            </a:r>
            <a:endParaRPr sz="1600" dirty="0">
              <a:latin typeface="Calibri"/>
              <a:cs typeface="Calibri"/>
            </a:endParaRPr>
          </a:p>
          <a:p>
            <a:pPr marL="745490" marR="2293620">
              <a:lnSpc>
                <a:spcPct val="151300"/>
              </a:lnSpc>
              <a:spcBef>
                <a:spcPts val="10"/>
              </a:spcBef>
            </a:pPr>
            <a:r>
              <a:rPr sz="1600" spc="-10" dirty="0">
                <a:latin typeface="Calibri"/>
                <a:cs typeface="Calibri"/>
              </a:rPr>
              <a:t>used_beds.add(b.id) used_patients.add(p.id)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5"/>
              </a:spcBef>
            </a:pPr>
            <a:endParaRPr sz="1600" dirty="0">
              <a:latin typeface="Calibri"/>
              <a:cs typeface="Calibri"/>
            </a:endParaRPr>
          </a:p>
          <a:p>
            <a:pPr marL="37846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return</a:t>
            </a:r>
            <a:r>
              <a:rPr sz="1600" spc="-8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allocations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45"/>
              </a:spcBef>
            </a:pP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latin typeface="Calibri"/>
                <a:cs typeface="Calibri"/>
              </a:rPr>
              <a:t>8.5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Visualization</a:t>
            </a:r>
            <a:endParaRPr sz="16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600" dirty="0">
                <a:latin typeface="Calibri"/>
                <a:cs typeface="Calibri"/>
              </a:rPr>
              <a:t>def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draw_hospital(env):</a:t>
            </a:r>
            <a:endParaRPr sz="1600" dirty="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  <a:spcBef>
                <a:spcPts val="1000"/>
              </a:spcBef>
            </a:pPr>
            <a:r>
              <a:rPr sz="1600" spc="-10" dirty="0">
                <a:latin typeface="Calibri"/>
                <a:cs typeface="Calibri"/>
              </a:rPr>
              <a:t>clear_output(wait=True)</a:t>
            </a:r>
            <a:endParaRPr sz="1600" dirty="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alibri"/>
                <a:cs typeface="Calibri"/>
              </a:rPr>
              <a:t>grid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np.zeros((env.rows,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env.cols))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884" y="767232"/>
            <a:ext cx="4314190" cy="5565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marR="2195195" indent="-182880">
              <a:lnSpc>
                <a:spcPct val="1513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for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env.beds.values(): </a:t>
            </a:r>
            <a:r>
              <a:rPr sz="1600" spc="-60" dirty="0">
                <a:latin typeface="Calibri"/>
                <a:cs typeface="Calibri"/>
              </a:rPr>
              <a:t>r,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b.location</a:t>
            </a:r>
            <a:endParaRPr sz="160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  <a:spcBef>
                <a:spcPts val="994"/>
              </a:spcBef>
            </a:pPr>
            <a:r>
              <a:rPr sz="1600" spc="-20" dirty="0">
                <a:latin typeface="Calibri"/>
                <a:cs typeface="Calibri"/>
              </a:rPr>
              <a:t>grid[r, </a:t>
            </a:r>
            <a:r>
              <a:rPr sz="1600" dirty="0">
                <a:latin typeface="Calibri"/>
                <a:cs typeface="Calibri"/>
              </a:rPr>
              <a:t>c]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if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b.occupied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else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0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5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plt.imshow(grid,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cmap='Pastel1')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51300"/>
              </a:lnSpc>
              <a:spcBef>
                <a:spcPts val="15"/>
              </a:spcBef>
            </a:pPr>
            <a:r>
              <a:rPr sz="1600" spc="-10" dirty="0">
                <a:latin typeface="Calibri"/>
                <a:cs typeface="Calibri"/>
              </a:rPr>
              <a:t>plt.title(f"Hospital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Map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|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Step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{env.time_step}") plt.axis('off')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1600">
              <a:latin typeface="Calibri"/>
              <a:cs typeface="Calibri"/>
            </a:endParaRPr>
          </a:p>
          <a:p>
            <a:pPr marL="194945" marR="2195195" indent="-182880">
              <a:lnSpc>
                <a:spcPct val="151900"/>
              </a:lnSpc>
            </a:pPr>
            <a:r>
              <a:rPr sz="1600" dirty="0">
                <a:latin typeface="Calibri"/>
                <a:cs typeface="Calibri"/>
              </a:rPr>
              <a:t>for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env.beds.values(): </a:t>
            </a:r>
            <a:r>
              <a:rPr sz="1600" spc="-60" dirty="0">
                <a:latin typeface="Calibri"/>
                <a:cs typeface="Calibri"/>
              </a:rPr>
              <a:t>r,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b.location</a:t>
            </a:r>
            <a:endParaRPr sz="1600">
              <a:latin typeface="Calibri"/>
              <a:cs typeface="Calibri"/>
            </a:endParaRPr>
          </a:p>
          <a:p>
            <a:pPr marL="194945" marR="2635885">
              <a:lnSpc>
                <a:spcPct val="151200"/>
              </a:lnSpc>
            </a:pPr>
            <a:r>
              <a:rPr sz="1600" dirty="0">
                <a:latin typeface="Calibri"/>
                <a:cs typeface="Calibri"/>
              </a:rPr>
              <a:t>text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f"B{b.id}\n" </a:t>
            </a:r>
            <a:r>
              <a:rPr sz="1600" dirty="0">
                <a:latin typeface="Calibri"/>
                <a:cs typeface="Calibri"/>
              </a:rPr>
              <a:t>if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b.occupied:</a:t>
            </a:r>
            <a:endParaRPr sz="1600">
              <a:latin typeface="Calibri"/>
              <a:cs typeface="Calibri"/>
            </a:endParaRPr>
          </a:p>
          <a:p>
            <a:pPr marL="196850" marR="49530" indent="182880">
              <a:lnSpc>
                <a:spcPct val="151400"/>
              </a:lnSpc>
              <a:spcBef>
                <a:spcPts val="10"/>
              </a:spcBef>
            </a:pPr>
            <a:r>
              <a:rPr sz="1600" dirty="0">
                <a:latin typeface="Calibri"/>
                <a:cs typeface="Calibri"/>
              </a:rPr>
              <a:t>text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+=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f"P{b.patient.id}\nS{b.patient.severity}" else:</a:t>
            </a:r>
            <a:endParaRPr sz="1600">
              <a:latin typeface="Calibri"/>
              <a:cs typeface="Calibri"/>
            </a:endParaRPr>
          </a:p>
          <a:p>
            <a:pPr marL="37973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alibri"/>
                <a:cs typeface="Calibri"/>
              </a:rPr>
              <a:t>text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+=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"Free"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3722778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1700" y="892810"/>
            <a:ext cx="4967605" cy="5070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846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plt.text(c,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60" dirty="0">
                <a:latin typeface="Calibri"/>
                <a:cs typeface="Calibri"/>
              </a:rPr>
              <a:t>r,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text,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ha="center",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va="center")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45"/>
              </a:spcBef>
            </a:pPr>
            <a:endParaRPr sz="1600" dirty="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plt.show()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9"/>
              </a:spcBef>
            </a:pPr>
            <a:endParaRPr sz="1600" dirty="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print("Waiting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Queue:")</a:t>
            </a:r>
            <a:endParaRPr sz="1600" dirty="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  <a:spcBef>
                <a:spcPts val="994"/>
              </a:spcBef>
            </a:pPr>
            <a:r>
              <a:rPr sz="1600" dirty="0">
                <a:latin typeface="Calibri"/>
                <a:cs typeface="Calibri"/>
              </a:rPr>
              <a:t>for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env.waiting_queue:</a:t>
            </a:r>
            <a:endParaRPr sz="1600" dirty="0">
              <a:latin typeface="Calibri"/>
              <a:cs typeface="Calibri"/>
            </a:endParaRPr>
          </a:p>
          <a:p>
            <a:pPr marL="37846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alibri"/>
                <a:cs typeface="Calibri"/>
              </a:rPr>
              <a:t>print(f"P{p.id}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|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Sev: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{p.severity}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|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Wait: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{p.wait_time}")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5"/>
              </a:spcBef>
            </a:pP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Calibri"/>
                <a:cs typeface="Calibri"/>
              </a:rPr>
              <a:t>8.6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Simulation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Step</a:t>
            </a:r>
            <a:endParaRPr sz="1600" b="1" dirty="0">
              <a:latin typeface="Calibri"/>
              <a:cs typeface="Calibri"/>
            </a:endParaRPr>
          </a:p>
          <a:p>
            <a:pPr marL="195580" marR="2345690" indent="-183515">
              <a:lnSpc>
                <a:spcPct val="151200"/>
              </a:lnSpc>
              <a:spcBef>
                <a:spcPts val="15"/>
              </a:spcBef>
            </a:pPr>
            <a:r>
              <a:rPr sz="1600" dirty="0">
                <a:latin typeface="Calibri"/>
                <a:cs typeface="Calibri"/>
              </a:rPr>
              <a:t>def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sim_step(env,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allocator): </a:t>
            </a:r>
            <a:r>
              <a:rPr sz="1600" spc="-20" dirty="0">
                <a:latin typeface="Calibri"/>
                <a:cs typeface="Calibri"/>
              </a:rPr>
              <a:t>env.create_random_arrivals()</a:t>
            </a:r>
            <a:endParaRPr sz="1600" dirty="0">
              <a:latin typeface="Calibri"/>
              <a:cs typeface="Calibri"/>
            </a:endParaRPr>
          </a:p>
          <a:p>
            <a:pPr marL="195580" marR="1871980">
              <a:lnSpc>
                <a:spcPts val="2920"/>
              </a:lnSpc>
              <a:spcBef>
                <a:spcPts val="245"/>
              </a:spcBef>
            </a:pPr>
            <a:r>
              <a:rPr sz="1600" spc="-10" dirty="0">
                <a:latin typeface="Calibri"/>
                <a:cs typeface="Calibri"/>
              </a:rPr>
              <a:t>allocations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 </a:t>
            </a:r>
            <a:r>
              <a:rPr sz="1600" spc="-20" dirty="0">
                <a:latin typeface="Calibri"/>
                <a:cs typeface="Calibri"/>
              </a:rPr>
              <a:t>allocator.allocate(env) </a:t>
            </a:r>
            <a:r>
              <a:rPr sz="1600" spc="-10" dirty="0">
                <a:latin typeface="Calibri"/>
                <a:cs typeface="Calibri"/>
              </a:rPr>
              <a:t>env.step_time()</a:t>
            </a:r>
            <a:endParaRPr sz="1600" dirty="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  <a:spcBef>
                <a:spcPts val="720"/>
              </a:spcBef>
            </a:pPr>
            <a:r>
              <a:rPr sz="1600" spc="-10" dirty="0">
                <a:latin typeface="Calibri"/>
                <a:cs typeface="Calibri"/>
              </a:rPr>
              <a:t>return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allocations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00" y="6308117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5570120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1700" y="767232"/>
            <a:ext cx="4597400" cy="55568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66595">
              <a:lnSpc>
                <a:spcPct val="1513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8.7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Running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Simulation </a:t>
            </a:r>
            <a:r>
              <a:rPr sz="1600" dirty="0">
                <a:latin typeface="Calibri"/>
                <a:cs typeface="Calibri"/>
              </a:rPr>
              <a:t>env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HospitalEnvironment()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600" spc="-10" dirty="0">
                <a:latin typeface="Calibri"/>
                <a:cs typeface="Calibri"/>
              </a:rPr>
              <a:t>allocator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UtilityBasedBedAllocator()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5"/>
              </a:spcBef>
            </a:pP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for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_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range(20):</a:t>
            </a:r>
            <a:endParaRPr sz="1600" dirty="0">
              <a:latin typeface="Calibri"/>
              <a:cs typeface="Calibri"/>
            </a:endParaRPr>
          </a:p>
          <a:p>
            <a:pPr marL="195580" marR="1090930">
              <a:lnSpc>
                <a:spcPct val="151300"/>
              </a:lnSpc>
              <a:spcBef>
                <a:spcPts val="15"/>
              </a:spcBef>
            </a:pPr>
            <a:r>
              <a:rPr sz="1600" spc="-10" dirty="0">
                <a:latin typeface="Calibri"/>
                <a:cs typeface="Calibri"/>
              </a:rPr>
              <a:t>allocations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sim_step(env,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allocator) draw_hospital(env)</a:t>
            </a:r>
            <a:endParaRPr sz="1600" dirty="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  <a:spcBef>
                <a:spcPts val="980"/>
              </a:spcBef>
            </a:pPr>
            <a:r>
              <a:rPr sz="1600" dirty="0">
                <a:latin typeface="Calibri"/>
                <a:cs typeface="Calibri"/>
              </a:rPr>
              <a:t>if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allocations:</a:t>
            </a:r>
            <a:endParaRPr sz="1600" dirty="0">
              <a:latin typeface="Calibri"/>
              <a:cs typeface="Calibri"/>
            </a:endParaRPr>
          </a:p>
          <a:p>
            <a:pPr marL="378460" marR="1502410">
              <a:lnSpc>
                <a:spcPts val="2920"/>
              </a:lnSpc>
              <a:spcBef>
                <a:spcPts val="250"/>
              </a:spcBef>
            </a:pPr>
            <a:r>
              <a:rPr sz="1600" spc="-10" dirty="0">
                <a:latin typeface="Calibri"/>
                <a:cs typeface="Calibri"/>
              </a:rPr>
              <a:t>print("Allocations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step:")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pid,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bid,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util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allocations:</a:t>
            </a:r>
            <a:endParaRPr sz="1600" dirty="0">
              <a:latin typeface="Calibri"/>
              <a:cs typeface="Calibri"/>
            </a:endParaRPr>
          </a:p>
          <a:p>
            <a:pPr marL="562610">
              <a:lnSpc>
                <a:spcPct val="100000"/>
              </a:lnSpc>
              <a:spcBef>
                <a:spcPts val="720"/>
              </a:spcBef>
            </a:pPr>
            <a:r>
              <a:rPr sz="1600" dirty="0">
                <a:latin typeface="Calibri"/>
                <a:cs typeface="Calibri"/>
              </a:rPr>
              <a:t>print(f"P{pid}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→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Bed{bid}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|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Utility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{util:.1f}")</a:t>
            </a:r>
            <a:endParaRPr sz="1600" dirty="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  <a:spcBef>
                <a:spcPts val="980"/>
              </a:spcBef>
            </a:pPr>
            <a:r>
              <a:rPr sz="1600" spc="-10" dirty="0">
                <a:latin typeface="Calibri"/>
                <a:cs typeface="Calibri"/>
              </a:rPr>
              <a:t>time.sleep(0.5)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1600" b="1" dirty="0">
              <a:latin typeface="Calibri"/>
              <a:cs typeface="Calibri"/>
            </a:endParaRPr>
          </a:p>
          <a:p>
            <a:pPr marL="12700" marR="2259965">
              <a:lnSpc>
                <a:spcPct val="151200"/>
              </a:lnSpc>
            </a:pPr>
            <a:r>
              <a:rPr sz="1600" b="1" dirty="0">
                <a:latin typeface="Calibri"/>
                <a:cs typeface="Calibri"/>
              </a:rPr>
              <a:t>9.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Results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and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Discussion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results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show: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767232"/>
            <a:ext cx="7533005" cy="2242185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58750" indent="-146050">
              <a:lnSpc>
                <a:spcPct val="100000"/>
              </a:lnSpc>
              <a:spcBef>
                <a:spcPts val="1085"/>
              </a:spcBef>
              <a:buChar char="•"/>
              <a:tabLst>
                <a:tab pos="158750" algn="l"/>
              </a:tabLst>
            </a:pPr>
            <a:r>
              <a:rPr sz="1600" spc="-10" dirty="0">
                <a:latin typeface="Calibri"/>
                <a:cs typeface="Calibri"/>
              </a:rPr>
              <a:t>High-</a:t>
            </a:r>
            <a:r>
              <a:rPr sz="1600" dirty="0">
                <a:latin typeface="Calibri"/>
                <a:cs typeface="Calibri"/>
              </a:rPr>
              <a:t>severity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patients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given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priority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because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their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severity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contributes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more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utility.</a:t>
            </a:r>
            <a:endParaRPr sz="160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980"/>
              </a:spcBef>
              <a:buChar char="•"/>
              <a:tabLst>
                <a:tab pos="158750" algn="l"/>
              </a:tabLst>
            </a:pPr>
            <a:r>
              <a:rPr sz="1600" spc="-10" dirty="0">
                <a:latin typeface="Calibri"/>
                <a:cs typeface="Calibri"/>
              </a:rPr>
              <a:t>Patients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waiting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longer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get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allocated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sooner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due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wait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penalty.</a:t>
            </a:r>
            <a:endParaRPr sz="160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1000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Beds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closer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triage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(0,0)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preferred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because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distance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cost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lower.</a:t>
            </a:r>
            <a:endParaRPr sz="160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980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waiting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queue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decreases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when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utility-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allocation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finds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good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matches.</a:t>
            </a:r>
            <a:endParaRPr sz="1600">
              <a:latin typeface="Calibri"/>
              <a:cs typeface="Calibri"/>
            </a:endParaRPr>
          </a:p>
          <a:p>
            <a:pPr marL="12700" marR="1797050" indent="146050">
              <a:lnSpc>
                <a:spcPts val="2920"/>
              </a:lnSpc>
              <a:spcBef>
                <a:spcPts val="8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Visual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simulation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clearly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displays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occupancy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changes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over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time.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sample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result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table: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82650" y="3172460"/>
          <a:ext cx="4215128" cy="939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3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37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1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48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31750">
                        <a:lnSpc>
                          <a:spcPts val="1515"/>
                        </a:lnSpc>
                      </a:pPr>
                      <a:r>
                        <a:rPr sz="1600" spc="-20" dirty="0">
                          <a:latin typeface="Calibri"/>
                          <a:cs typeface="Calibri"/>
                        </a:rPr>
                        <a:t>Step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515"/>
                        </a:lnSpc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Patient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ts val="1515"/>
                        </a:lnSpc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Severity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515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Bed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Assigned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ts val="1515"/>
                        </a:lnSpc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Utility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latin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50"/>
                        </a:spcBef>
                        <a:tabLst>
                          <a:tab pos="502920" algn="l"/>
                        </a:tabLst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P1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Bed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20" dirty="0">
                          <a:latin typeface="Calibri"/>
                          <a:cs typeface="Calibri"/>
                        </a:rPr>
                        <a:t>84.5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latin typeface="Calibri"/>
                          <a:cs typeface="Calibri"/>
                        </a:rPr>
                        <a:t>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900"/>
                        </a:lnSpc>
                        <a:spcBef>
                          <a:spcPts val="250"/>
                        </a:spcBef>
                        <a:tabLst>
                          <a:tab pos="502920" algn="l"/>
                        </a:tabLst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P2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ts val="1900"/>
                        </a:lnSpc>
                        <a:spcBef>
                          <a:spcPts val="25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Bed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900"/>
                        </a:lnSpc>
                        <a:spcBef>
                          <a:spcPts val="250"/>
                        </a:spcBef>
                      </a:pPr>
                      <a:r>
                        <a:rPr sz="1600" spc="-20" dirty="0">
                          <a:latin typeface="Calibri"/>
                          <a:cs typeface="Calibri"/>
                        </a:rPr>
                        <a:t>62.0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914400" y="4462172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01700" y="4460519"/>
            <a:ext cx="8542020" cy="183515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1600" b="1" dirty="0">
                <a:latin typeface="Calibri"/>
                <a:cs typeface="Calibri"/>
              </a:rPr>
              <a:t>10.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Conclusion</a:t>
            </a:r>
            <a:endParaRPr sz="1600" b="1" dirty="0">
              <a:latin typeface="Calibri"/>
              <a:cs typeface="Calibri"/>
            </a:endParaRPr>
          </a:p>
          <a:p>
            <a:pPr marL="12700" marR="5080">
              <a:lnSpc>
                <a:spcPct val="110100"/>
              </a:lnSpc>
              <a:spcBef>
                <a:spcPts val="790"/>
              </a:spcBef>
            </a:pPr>
            <a:r>
              <a:rPr sz="1600" dirty="0">
                <a:latin typeface="Calibri"/>
                <a:cs typeface="Calibri"/>
              </a:rPr>
              <a:t>In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project,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successfully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implemented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Utility-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hospital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emergency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allocation system.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utility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function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choose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best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each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patient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balancing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severity, </a:t>
            </a:r>
            <a:r>
              <a:rPr sz="1600" dirty="0">
                <a:latin typeface="Calibri"/>
                <a:cs typeface="Calibri"/>
              </a:rPr>
              <a:t>distance,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waiting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time.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project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illustrates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how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utility-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decision-</a:t>
            </a:r>
            <a:r>
              <a:rPr sz="1600" dirty="0">
                <a:latin typeface="Calibri"/>
                <a:cs typeface="Calibri"/>
              </a:rPr>
              <a:t>making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useful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for</a:t>
            </a:r>
            <a:endParaRPr sz="1600" dirty="0">
              <a:latin typeface="Calibri"/>
              <a:cs typeface="Calibri"/>
            </a:endParaRPr>
          </a:p>
          <a:p>
            <a:pPr marL="12700" marR="121920">
              <a:lnSpc>
                <a:spcPts val="2110"/>
              </a:lnSpc>
              <a:spcBef>
                <a:spcPts val="90"/>
              </a:spcBef>
            </a:pPr>
            <a:r>
              <a:rPr sz="1600" spc="-10" dirty="0">
                <a:latin typeface="Calibri"/>
                <a:cs typeface="Calibri"/>
              </a:rPr>
              <a:t>emergency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resource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allocation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real-</a:t>
            </a:r>
            <a:r>
              <a:rPr sz="1600" dirty="0">
                <a:latin typeface="Calibri"/>
                <a:cs typeface="Calibri"/>
              </a:rPr>
              <a:t>world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healthcare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settings.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visual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simulation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provides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clear understanding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allocation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behavior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over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time.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1137693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1700" y="1134516"/>
            <a:ext cx="6866890" cy="3332772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13690" indent="-300990">
              <a:lnSpc>
                <a:spcPct val="100000"/>
              </a:lnSpc>
              <a:spcBef>
                <a:spcPts val="1095"/>
              </a:spcBef>
              <a:buAutoNum type="arabicPeriod" startAt="11"/>
              <a:tabLst>
                <a:tab pos="313690" algn="l"/>
              </a:tabLst>
            </a:pPr>
            <a:r>
              <a:rPr sz="1600" b="1" dirty="0">
                <a:latin typeface="Calibri"/>
                <a:cs typeface="Calibri"/>
              </a:rPr>
              <a:t>Future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Scope</a:t>
            </a:r>
            <a:endParaRPr sz="1600" b="1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94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Add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specialized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beds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(ICU,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General,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Pediatric).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spc="-10" dirty="0">
                <a:latin typeface="Calibri"/>
                <a:cs typeface="Calibri"/>
              </a:rPr>
              <a:t>Incorporate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triage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categories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(A,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B,</a:t>
            </a:r>
            <a:r>
              <a:rPr sz="1600" spc="-25" dirty="0">
                <a:latin typeface="Calibri"/>
                <a:cs typeface="Calibri"/>
              </a:rPr>
              <a:t> C).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spc="-10" dirty="0">
                <a:latin typeface="Calibri"/>
                <a:cs typeface="Calibri"/>
              </a:rPr>
              <a:t>Introduce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multi-</a:t>
            </a:r>
            <a:r>
              <a:rPr sz="1600" dirty="0">
                <a:latin typeface="Calibri"/>
                <a:cs typeface="Calibri"/>
              </a:rPr>
              <a:t>step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planning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predicted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arrivals.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1000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Use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optimization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algorithms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(Hungarian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Algorithm).</a:t>
            </a:r>
            <a:endParaRPr sz="1600" dirty="0">
              <a:latin typeface="Calibri"/>
              <a:cs typeface="Calibri"/>
            </a:endParaRPr>
          </a:p>
          <a:p>
            <a:pPr marL="12700" marR="5080" lvl="1" indent="146050">
              <a:lnSpc>
                <a:spcPct val="151200"/>
              </a:lnSpc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Connect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real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hospital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IoT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sensors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real-</a:t>
            </a:r>
            <a:r>
              <a:rPr sz="1600" dirty="0">
                <a:latin typeface="Calibri"/>
                <a:cs typeface="Calibri"/>
              </a:rPr>
              <a:t>time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data.</a:t>
            </a:r>
            <a:endParaRPr lang="en-IN" sz="1600" dirty="0">
              <a:latin typeface="Calibri"/>
              <a:cs typeface="Calibri"/>
            </a:endParaRPr>
          </a:p>
          <a:p>
            <a:pPr marL="12700" marR="5080" lvl="1" indent="146050">
              <a:lnSpc>
                <a:spcPct val="151200"/>
              </a:lnSpc>
              <a:buChar char="•"/>
              <a:tabLst>
                <a:tab pos="158750" algn="l"/>
              </a:tabLst>
            </a:pPr>
            <a:endParaRPr lang="en-IN" sz="1600" dirty="0">
              <a:latin typeface="Calibri"/>
              <a:cs typeface="Calibri"/>
            </a:endParaRPr>
          </a:p>
          <a:p>
            <a:pPr marL="12700" marR="5080" lvl="1">
              <a:lnSpc>
                <a:spcPct val="151200"/>
              </a:lnSpc>
              <a:tabLst>
                <a:tab pos="158750" algn="l"/>
              </a:tabLst>
            </a:pPr>
            <a:r>
              <a:rPr sz="1600" b="1" dirty="0">
                <a:latin typeface="Calibri"/>
                <a:cs typeface="Calibri"/>
              </a:rPr>
              <a:t>Model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5: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Learning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Agen</a:t>
            </a:r>
            <a:r>
              <a:rPr lang="en-IN" sz="1600" b="1" spc="-10" dirty="0">
                <a:latin typeface="Calibri"/>
                <a:cs typeface="Calibri"/>
              </a:rPr>
              <a:t>t</a:t>
            </a:r>
            <a:r>
              <a:rPr sz="1600" b="1" spc="-1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Application:</a:t>
            </a:r>
            <a:r>
              <a:rPr sz="1600" b="1" spc="-50" dirty="0">
                <a:latin typeface="Calibri"/>
                <a:cs typeface="Calibri"/>
              </a:rPr>
              <a:t> </a:t>
            </a:r>
            <a:endParaRPr lang="en-IN" sz="1600" b="1" spc="-50" dirty="0">
              <a:latin typeface="Calibri"/>
              <a:cs typeface="Calibri"/>
            </a:endParaRPr>
          </a:p>
          <a:p>
            <a:pPr marL="12700" marR="5080" lvl="1">
              <a:lnSpc>
                <a:spcPct val="151200"/>
              </a:lnSpc>
              <a:tabLst>
                <a:tab pos="158750" algn="l"/>
              </a:tabLst>
            </a:pPr>
            <a:r>
              <a:rPr sz="1600" b="1" dirty="0">
                <a:latin typeface="Calibri"/>
                <a:cs typeface="Calibri"/>
              </a:rPr>
              <a:t>Disease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Diagnosis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Learning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Agent</a:t>
            </a:r>
            <a:endParaRPr sz="1600" b="1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4462172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01700" y="4460519"/>
            <a:ext cx="8732520" cy="183515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1600" b="1" dirty="0">
                <a:latin typeface="Calibri"/>
                <a:cs typeface="Calibri"/>
              </a:rPr>
              <a:t>2.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Abstract</a:t>
            </a:r>
            <a:endParaRPr sz="1600" b="1" dirty="0">
              <a:latin typeface="Calibri"/>
              <a:cs typeface="Calibri"/>
            </a:endParaRPr>
          </a:p>
          <a:p>
            <a:pPr marL="12700" marR="5080">
              <a:lnSpc>
                <a:spcPct val="110000"/>
              </a:lnSpc>
              <a:spcBef>
                <a:spcPts val="790"/>
              </a:spcBef>
            </a:pPr>
            <a:r>
              <a:rPr sz="1600" dirty="0">
                <a:latin typeface="Calibri"/>
                <a:cs typeface="Calibri"/>
              </a:rPr>
              <a:t>In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project,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implemented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Learning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diagnoses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diseases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symptoms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improves </a:t>
            </a:r>
            <a:r>
              <a:rPr sz="1600" dirty="0">
                <a:latin typeface="Calibri"/>
                <a:cs typeface="Calibri"/>
              </a:rPr>
              <a:t>its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accuracy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over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time.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begins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prior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knowledge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gradually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updates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probability</a:t>
            </a:r>
            <a:endParaRPr sz="1600" dirty="0">
              <a:latin typeface="Calibri"/>
              <a:cs typeface="Calibri"/>
            </a:endParaRPr>
          </a:p>
          <a:p>
            <a:pPr marL="12700" marR="22860">
              <a:lnSpc>
                <a:spcPct val="109700"/>
              </a:lnSpc>
              <a:spcBef>
                <a:spcPts val="10"/>
              </a:spcBef>
            </a:pPr>
            <a:r>
              <a:rPr sz="1600" dirty="0">
                <a:latin typeface="Calibri"/>
                <a:cs typeface="Calibri"/>
              </a:rPr>
              <a:t>model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new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patient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added.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simple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incremental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Naive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Bayes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learning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approach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used,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where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learns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symptom–disease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correlations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updates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them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automatically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after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each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diagnosis.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 </a:t>
            </a:r>
            <a:r>
              <a:rPr sz="1600" spc="-10" dirty="0">
                <a:latin typeface="Calibri"/>
                <a:cs typeface="Calibri"/>
              </a:rPr>
              <a:t>system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implemented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Python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Jupyter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Notebook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includes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simple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visualization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learning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1774725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14400" y="5227220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01700" y="867816"/>
            <a:ext cx="8837295" cy="549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44500">
              <a:lnSpc>
                <a:spcPct val="110000"/>
              </a:lnSpc>
              <a:spcBef>
                <a:spcPts val="100"/>
              </a:spcBef>
            </a:pPr>
            <a:r>
              <a:rPr sz="1600" spc="-10" dirty="0">
                <a:latin typeface="Calibri"/>
                <a:cs typeface="Calibri"/>
              </a:rPr>
              <a:t>progress.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project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demonstrates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how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Learning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improve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performance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experience, </a:t>
            </a:r>
            <a:r>
              <a:rPr sz="1600" dirty="0">
                <a:latin typeface="Calibri"/>
                <a:cs typeface="Calibri"/>
              </a:rPr>
              <a:t>making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applicable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real-</a:t>
            </a:r>
            <a:r>
              <a:rPr sz="1600" dirty="0">
                <a:latin typeface="Calibri"/>
                <a:cs typeface="Calibri"/>
              </a:rPr>
              <a:t>world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medical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decision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support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systems.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5"/>
              </a:spcBef>
            </a:pPr>
            <a:endParaRPr sz="1600" dirty="0">
              <a:latin typeface="Calibri"/>
              <a:cs typeface="Calibri"/>
            </a:endParaRPr>
          </a:p>
          <a:p>
            <a:pPr marL="211454" indent="-198755">
              <a:lnSpc>
                <a:spcPct val="100000"/>
              </a:lnSpc>
              <a:buAutoNum type="arabicPeriod" startAt="3"/>
              <a:tabLst>
                <a:tab pos="211454" algn="l"/>
              </a:tabLst>
            </a:pPr>
            <a:r>
              <a:rPr sz="1600" b="1" spc="-10" dirty="0">
                <a:latin typeface="Calibri"/>
                <a:cs typeface="Calibri"/>
              </a:rPr>
              <a:t>Introduction</a:t>
            </a:r>
            <a:endParaRPr sz="16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600" dirty="0">
                <a:latin typeface="Calibri"/>
                <a:cs typeface="Calibri"/>
              </a:rPr>
              <a:t>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Learning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most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advanced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type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intelligent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Artificial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Intelligence.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Unlike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other</a:t>
            </a:r>
            <a:endParaRPr sz="1600" dirty="0">
              <a:latin typeface="Calibri"/>
              <a:cs typeface="Calibri"/>
            </a:endParaRPr>
          </a:p>
          <a:p>
            <a:pPr marL="12700" marR="179705">
              <a:lnSpc>
                <a:spcPts val="2110"/>
              </a:lnSpc>
              <a:spcBef>
                <a:spcPts val="90"/>
              </a:spcBef>
            </a:pPr>
            <a:r>
              <a:rPr sz="1600" dirty="0">
                <a:latin typeface="Calibri"/>
                <a:cs typeface="Calibri"/>
              </a:rPr>
              <a:t>agents,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which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rely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predefined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rules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goals,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Learning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improves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continuously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learning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from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experience.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600" dirty="0">
                <a:latin typeface="Calibri"/>
                <a:cs typeface="Calibri"/>
              </a:rPr>
              <a:t>Healthcare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diagnosis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domain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where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learning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crucial.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Diseases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change,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symptom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patterns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vary,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and</a:t>
            </a:r>
            <a:endParaRPr sz="1600" dirty="0">
              <a:latin typeface="Calibri"/>
              <a:cs typeface="Calibri"/>
            </a:endParaRPr>
          </a:p>
          <a:p>
            <a:pPr marL="12700" marR="5080">
              <a:lnSpc>
                <a:spcPct val="109400"/>
              </a:lnSpc>
              <a:spcBef>
                <a:spcPts val="10"/>
              </a:spcBef>
            </a:pPr>
            <a:r>
              <a:rPr sz="1600" dirty="0">
                <a:latin typeface="Calibri"/>
                <a:cs typeface="Calibri"/>
              </a:rPr>
              <a:t>more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leads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better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predictions.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AI-based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diagnostic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(such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IBM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Watson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Health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Google Med-PaLM)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learning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algorithms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enhance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their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understanding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medical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patterns.</a:t>
            </a:r>
            <a:endParaRPr sz="1600" dirty="0">
              <a:latin typeface="Calibri"/>
              <a:cs typeface="Calibri"/>
            </a:endParaRPr>
          </a:p>
          <a:p>
            <a:pPr marL="12700" marR="233679" algn="just">
              <a:lnSpc>
                <a:spcPct val="109700"/>
              </a:lnSpc>
              <a:spcBef>
                <a:spcPts val="810"/>
              </a:spcBef>
            </a:pPr>
            <a:r>
              <a:rPr sz="1600" dirty="0">
                <a:latin typeface="Calibri"/>
                <a:cs typeface="Calibri"/>
              </a:rPr>
              <a:t>In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project,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simple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learning-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disease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diagnosis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designed.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receives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symptom </a:t>
            </a:r>
            <a:r>
              <a:rPr sz="1600" dirty="0">
                <a:latin typeface="Calibri"/>
                <a:cs typeface="Calibri"/>
              </a:rPr>
              <a:t>inputs,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predicts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disease,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compares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predictions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actual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outcomes,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updates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knowledge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base. </a:t>
            </a:r>
            <a:r>
              <a:rPr sz="1600" dirty="0">
                <a:latin typeface="Calibri"/>
                <a:cs typeface="Calibri"/>
              </a:rPr>
              <a:t>Over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becomes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more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accurate.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  <a:p>
            <a:pPr marL="211454" indent="-198755">
              <a:lnSpc>
                <a:spcPct val="100000"/>
              </a:lnSpc>
              <a:buAutoNum type="arabicPeriod" startAt="4"/>
              <a:tabLst>
                <a:tab pos="211454" algn="l"/>
              </a:tabLst>
            </a:pPr>
            <a:r>
              <a:rPr sz="1600" b="1" dirty="0">
                <a:latin typeface="Calibri"/>
                <a:cs typeface="Calibri"/>
              </a:rPr>
              <a:t>Problem</a:t>
            </a:r>
            <a:r>
              <a:rPr sz="1600" b="1" spc="-8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Statement</a:t>
            </a:r>
            <a:endParaRPr sz="16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00" spc="-75" dirty="0">
                <a:latin typeface="Calibri"/>
                <a:cs typeface="Calibri"/>
              </a:rPr>
              <a:t>To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design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implement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Learning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that: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80"/>
              </a:spcBef>
              <a:buChar char="•"/>
              <a:tabLst>
                <a:tab pos="158750" algn="l"/>
              </a:tabLst>
            </a:pPr>
            <a:r>
              <a:rPr sz="1600" spc="-10" dirty="0">
                <a:latin typeface="Calibri"/>
                <a:cs typeface="Calibri"/>
              </a:rPr>
              <a:t>Receives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symptoms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patient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2245641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14400" y="4830980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01700" y="767232"/>
            <a:ext cx="6035040" cy="556514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58750" indent="-146050">
              <a:lnSpc>
                <a:spcPct val="100000"/>
              </a:lnSpc>
              <a:spcBef>
                <a:spcPts val="108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Predicts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disease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learned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probabilities</a:t>
            </a:r>
            <a:endParaRPr sz="1600" dirty="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980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Learns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feedback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updating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diagnostic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model</a:t>
            </a:r>
            <a:endParaRPr sz="1600" dirty="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1000"/>
              </a:spcBef>
              <a:buChar char="•"/>
              <a:tabLst>
                <a:tab pos="158750" algn="l"/>
              </a:tabLst>
            </a:pPr>
            <a:r>
              <a:rPr sz="1600" spc="-10" dirty="0">
                <a:latin typeface="Calibri"/>
                <a:cs typeface="Calibri"/>
              </a:rPr>
              <a:t>Improves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accuracy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more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becomes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available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5"/>
              </a:spcBef>
            </a:pPr>
            <a:endParaRPr sz="1600" dirty="0">
              <a:latin typeface="Calibri"/>
              <a:cs typeface="Calibri"/>
            </a:endParaRPr>
          </a:p>
          <a:p>
            <a:pPr marL="211454" indent="-198755">
              <a:lnSpc>
                <a:spcPct val="100000"/>
              </a:lnSpc>
              <a:buAutoNum type="arabicPeriod" startAt="5"/>
              <a:tabLst>
                <a:tab pos="211454" algn="l"/>
              </a:tabLst>
            </a:pPr>
            <a:r>
              <a:rPr sz="1600" spc="-10" dirty="0">
                <a:latin typeface="Calibri"/>
                <a:cs typeface="Calibri"/>
              </a:rPr>
              <a:t>Objectives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94"/>
              </a:spcBef>
              <a:buChar char="•"/>
              <a:tabLst>
                <a:tab pos="158750" algn="l"/>
              </a:tabLst>
            </a:pPr>
            <a:r>
              <a:rPr sz="1600" spc="-80" dirty="0">
                <a:latin typeface="Calibri"/>
                <a:cs typeface="Calibri"/>
              </a:rPr>
              <a:t>To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understand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structure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working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Learning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Agent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spc="-80" dirty="0">
                <a:latin typeface="Calibri"/>
                <a:cs typeface="Calibri"/>
              </a:rPr>
              <a:t>To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implement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Naive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Bayes–style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incremental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learning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algorithm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spc="-80" dirty="0">
                <a:latin typeface="Calibri"/>
                <a:cs typeface="Calibri"/>
              </a:rPr>
              <a:t>To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build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disease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diagnosis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capable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improving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predictions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spc="-80" dirty="0">
                <a:latin typeface="Calibri"/>
                <a:cs typeface="Calibri"/>
              </a:rPr>
              <a:t>To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simulate</a:t>
            </a:r>
            <a:r>
              <a:rPr sz="1600" spc="-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patient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cases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visualize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accuracy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improvement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94"/>
              </a:spcBef>
              <a:buChar char="•"/>
              <a:tabLst>
                <a:tab pos="158750" algn="l"/>
              </a:tabLst>
            </a:pPr>
            <a:r>
              <a:rPr sz="1600" spc="-80" dirty="0">
                <a:latin typeface="Calibri"/>
                <a:cs typeface="Calibri"/>
              </a:rPr>
              <a:t>To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demonstrate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real-</a:t>
            </a:r>
            <a:r>
              <a:rPr sz="1600" dirty="0">
                <a:latin typeface="Calibri"/>
                <a:cs typeface="Calibri"/>
              </a:rPr>
              <a:t>world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applicability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medical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AI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systems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5"/>
              </a:spcBef>
            </a:pPr>
            <a:endParaRPr sz="1600" b="1" dirty="0">
              <a:latin typeface="Calibri"/>
              <a:cs typeface="Calibri"/>
            </a:endParaRPr>
          </a:p>
          <a:p>
            <a:pPr marL="211454" indent="-198755">
              <a:lnSpc>
                <a:spcPct val="100000"/>
              </a:lnSpc>
              <a:buAutoNum type="arabicPeriod" startAt="6"/>
              <a:tabLst>
                <a:tab pos="211454" algn="l"/>
              </a:tabLst>
            </a:pPr>
            <a:r>
              <a:rPr sz="1600" b="1" spc="-10" dirty="0">
                <a:latin typeface="Calibri"/>
                <a:cs typeface="Calibri"/>
              </a:rPr>
              <a:t>Literature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/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Theory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Background</a:t>
            </a:r>
            <a:endParaRPr sz="1600" b="1" dirty="0">
              <a:latin typeface="Calibri"/>
              <a:cs typeface="Calibri"/>
            </a:endParaRPr>
          </a:p>
          <a:p>
            <a:pPr marL="313055" lvl="1" indent="-300355">
              <a:lnSpc>
                <a:spcPct val="100000"/>
              </a:lnSpc>
              <a:spcBef>
                <a:spcPts val="1000"/>
              </a:spcBef>
              <a:buAutoNum type="arabicPeriod"/>
              <a:tabLst>
                <a:tab pos="313055" algn="l"/>
              </a:tabLst>
            </a:pPr>
            <a:r>
              <a:rPr sz="1600" b="1" dirty="0">
                <a:latin typeface="Calibri"/>
                <a:cs typeface="Calibri"/>
              </a:rPr>
              <a:t>Learning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Agent</a:t>
            </a:r>
            <a:endParaRPr sz="16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alibri"/>
                <a:cs typeface="Calibri"/>
              </a:rPr>
              <a:t>A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Learning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consists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four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components: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  <a:tabLst>
                <a:tab pos="469900" algn="l"/>
              </a:tabLst>
            </a:pPr>
            <a:r>
              <a:rPr sz="1600" spc="-25" dirty="0">
                <a:latin typeface="Calibri"/>
                <a:cs typeface="Calibri"/>
              </a:rPr>
              <a:t>1.</a:t>
            </a:r>
            <a:r>
              <a:rPr sz="1600" dirty="0">
                <a:latin typeface="Calibri"/>
                <a:cs typeface="Calibri"/>
              </a:rPr>
              <a:t>	Learning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Element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–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improves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agent's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knowledge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767232"/>
            <a:ext cx="7138670" cy="562782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85"/>
              </a:spcBef>
              <a:buAutoNum type="arabicPeriod" startAt="2"/>
              <a:tabLst>
                <a:tab pos="469900" algn="l"/>
              </a:tabLst>
            </a:pPr>
            <a:r>
              <a:rPr sz="1600" spc="-10" dirty="0">
                <a:latin typeface="Calibri"/>
                <a:cs typeface="Calibri"/>
              </a:rPr>
              <a:t>Performance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Element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–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decides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actions</a:t>
            </a:r>
            <a:endParaRPr sz="16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980"/>
              </a:spcBef>
              <a:buAutoNum type="arabicPeriod" startAt="2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Critic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–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evaluates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performance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(feedback)</a:t>
            </a:r>
            <a:endParaRPr sz="16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1000"/>
              </a:spcBef>
              <a:buAutoNum type="arabicPeriod" startAt="2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Problem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Generator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–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suggests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exploratory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actions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600" dirty="0">
                <a:latin typeface="Calibri"/>
                <a:cs typeface="Calibri"/>
              </a:rPr>
              <a:t>6.2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Naive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Bayes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Learning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1600" dirty="0">
                <a:latin typeface="Calibri"/>
                <a:cs typeface="Calibri"/>
              </a:rPr>
              <a:t>A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Naive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Bayes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classifier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calculates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probabilities: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600" spc="-50" dirty="0">
                <a:latin typeface="Calibri"/>
                <a:cs typeface="Calibri"/>
              </a:rPr>
              <a:t>[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alibri"/>
                <a:cs typeface="Calibri"/>
              </a:rPr>
              <a:t>P(Disease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|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Symptoms)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\propto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P(Disease)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\times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\prod_i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P(Symptom_i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|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Disease)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00" spc="-50" dirty="0">
                <a:latin typeface="Calibri"/>
                <a:cs typeface="Calibri"/>
              </a:rPr>
              <a:t>]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updates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these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probabilities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incrementally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new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patient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records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added.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600" b="1" dirty="0">
                <a:latin typeface="Calibri"/>
                <a:cs typeface="Calibri"/>
              </a:rPr>
              <a:t>6.3</a:t>
            </a:r>
            <a:r>
              <a:rPr sz="1600" b="1" spc="-20" dirty="0">
                <a:latin typeface="Calibri"/>
                <a:cs typeface="Calibri"/>
              </a:rPr>
              <a:t> Real-</a:t>
            </a:r>
            <a:r>
              <a:rPr sz="1600" b="1" spc="-10" dirty="0">
                <a:latin typeface="Calibri"/>
                <a:cs typeface="Calibri"/>
              </a:rPr>
              <a:t>World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Usage</a:t>
            </a:r>
            <a:endParaRPr sz="16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alibri"/>
                <a:cs typeface="Calibri"/>
              </a:rPr>
              <a:t>This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inspired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real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like:</a:t>
            </a:r>
            <a:endParaRPr sz="16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985"/>
              </a:spcBef>
              <a:buChar char="•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IBM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Watson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Oncology</a:t>
            </a:r>
            <a:endParaRPr sz="16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994"/>
              </a:spcBef>
              <a:buChar char="•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Google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Med-PaLM</a:t>
            </a:r>
            <a:endParaRPr sz="16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985"/>
              </a:spcBef>
              <a:buChar char="•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Clinical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decision-</a:t>
            </a:r>
            <a:r>
              <a:rPr sz="1600" dirty="0">
                <a:latin typeface="Calibri"/>
                <a:cs typeface="Calibri"/>
              </a:rPr>
              <a:t>support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(CDSS)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alibri"/>
                <a:cs typeface="Calibri"/>
              </a:rPr>
              <a:t>All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data-</a:t>
            </a:r>
            <a:r>
              <a:rPr sz="1600" dirty="0">
                <a:latin typeface="Calibri"/>
                <a:cs typeface="Calibri"/>
              </a:rPr>
              <a:t>driven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learning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diagnosis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recommendation.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1137693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1700" y="1134516"/>
            <a:ext cx="5409565" cy="4880182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211454" indent="-198755">
              <a:lnSpc>
                <a:spcPct val="100000"/>
              </a:lnSpc>
              <a:spcBef>
                <a:spcPts val="1095"/>
              </a:spcBef>
              <a:buAutoNum type="arabicPeriod" startAt="7"/>
              <a:tabLst>
                <a:tab pos="211454" algn="l"/>
              </a:tabLst>
            </a:pPr>
            <a:r>
              <a:rPr sz="1600" spc="-10" dirty="0">
                <a:latin typeface="Calibri"/>
                <a:cs typeface="Calibri"/>
              </a:rPr>
              <a:t>System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Design</a:t>
            </a:r>
            <a:endParaRPr sz="1600" dirty="0">
              <a:latin typeface="Calibri"/>
              <a:cs typeface="Calibri"/>
            </a:endParaRPr>
          </a:p>
          <a:p>
            <a:pPr marL="313055" lvl="1" indent="-300355">
              <a:lnSpc>
                <a:spcPct val="100000"/>
              </a:lnSpc>
              <a:spcBef>
                <a:spcPts val="994"/>
              </a:spcBef>
              <a:buAutoNum type="arabicPeriod"/>
              <a:tabLst>
                <a:tab pos="313055" algn="l"/>
              </a:tabLst>
            </a:pPr>
            <a:r>
              <a:rPr sz="1600" spc="-10" dirty="0">
                <a:latin typeface="Calibri"/>
                <a:cs typeface="Calibri"/>
              </a:rPr>
              <a:t>Environment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environment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consists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of:</a:t>
            </a:r>
            <a:endParaRPr sz="1600" dirty="0">
              <a:latin typeface="Calibri"/>
              <a:cs typeface="Calibri"/>
            </a:endParaRPr>
          </a:p>
          <a:p>
            <a:pPr marL="158750" lvl="2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spc="-10" dirty="0">
                <a:latin typeface="Calibri"/>
                <a:cs typeface="Calibri"/>
              </a:rPr>
              <a:t>Symptom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inputs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(e.g.,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35" dirty="0">
                <a:latin typeface="Calibri"/>
                <a:cs typeface="Calibri"/>
              </a:rPr>
              <a:t>fever,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cough,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fatigue,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pain)</a:t>
            </a:r>
            <a:endParaRPr sz="1600" dirty="0">
              <a:latin typeface="Calibri"/>
              <a:cs typeface="Calibri"/>
            </a:endParaRPr>
          </a:p>
          <a:p>
            <a:pPr marL="158750" lvl="2" indent="-146050">
              <a:lnSpc>
                <a:spcPct val="100000"/>
              </a:lnSpc>
              <a:spcBef>
                <a:spcPts val="1000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Disease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labels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(e.g.,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Flu,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COVID-</a:t>
            </a:r>
            <a:r>
              <a:rPr sz="1600" dirty="0">
                <a:latin typeface="Calibri"/>
                <a:cs typeface="Calibri"/>
              </a:rPr>
              <a:t>19,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Dengue,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Common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Cold)</a:t>
            </a:r>
            <a:endParaRPr sz="1600" dirty="0">
              <a:latin typeface="Calibri"/>
              <a:cs typeface="Calibri"/>
            </a:endParaRPr>
          </a:p>
          <a:p>
            <a:pPr marL="158750" lvl="2" indent="-146050">
              <a:lnSpc>
                <a:spcPct val="100000"/>
              </a:lnSpc>
              <a:spcBef>
                <a:spcPts val="980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dataset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patient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records</a:t>
            </a:r>
            <a:endParaRPr sz="1600" dirty="0">
              <a:latin typeface="Calibri"/>
              <a:cs typeface="Calibri"/>
            </a:endParaRPr>
          </a:p>
          <a:p>
            <a:pPr marL="158750" lvl="2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feedback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mechanism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(correct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/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incorrect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diagnosis)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00" b="1" dirty="0">
                <a:latin typeface="Calibri"/>
                <a:cs typeface="Calibri"/>
              </a:rPr>
              <a:t>7.2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Agent</a:t>
            </a:r>
            <a:endParaRPr sz="1600" b="1" dirty="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1000"/>
              </a:spcBef>
              <a:buChar char="•"/>
              <a:tabLst>
                <a:tab pos="158750" algn="l"/>
              </a:tabLst>
            </a:pPr>
            <a:r>
              <a:rPr sz="1600" spc="-10" dirty="0">
                <a:latin typeface="Calibri"/>
                <a:cs typeface="Calibri"/>
              </a:rPr>
              <a:t>Percepts: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Symptoms</a:t>
            </a:r>
            <a:endParaRPr sz="1600" dirty="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980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Action: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Predict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disease</a:t>
            </a:r>
            <a:endParaRPr sz="1600" dirty="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spc="-10" dirty="0">
                <a:latin typeface="Calibri"/>
                <a:cs typeface="Calibri"/>
              </a:rPr>
              <a:t>Performance: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Accuracy</a:t>
            </a:r>
            <a:endParaRPr sz="1600" dirty="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994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Learning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Element: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Updates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symptom–disease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probability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tables</a:t>
            </a:r>
            <a:endParaRPr sz="1600" dirty="0">
              <a:latin typeface="Calibri"/>
              <a:cs typeface="Calibri"/>
            </a:endParaRPr>
          </a:p>
          <a:p>
            <a:pPr marL="158750" indent="-146050">
              <a:lnSpc>
                <a:spcPct val="100000"/>
              </a:lnSpc>
              <a:spcBef>
                <a:spcPts val="990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Critic: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Gives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feedback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prediction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correctness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3722778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01700" y="767232"/>
            <a:ext cx="5294630" cy="3109184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5"/>
              </a:spcBef>
            </a:pPr>
            <a:endParaRPr sz="1600" dirty="0">
              <a:latin typeface="Calibri"/>
              <a:cs typeface="Calibri"/>
            </a:endParaRPr>
          </a:p>
          <a:p>
            <a:pPr marL="211454" indent="-198755">
              <a:lnSpc>
                <a:spcPct val="100000"/>
              </a:lnSpc>
              <a:buAutoNum type="arabicPeriod" startAt="8"/>
              <a:tabLst>
                <a:tab pos="211454" algn="l"/>
              </a:tabLst>
            </a:pPr>
            <a:r>
              <a:rPr sz="1600" b="1" spc="-10" dirty="0">
                <a:latin typeface="Calibri"/>
                <a:cs typeface="Calibri"/>
              </a:rPr>
              <a:t>Implementation</a:t>
            </a:r>
            <a:endParaRPr sz="1600" b="1" dirty="0">
              <a:latin typeface="Calibri"/>
              <a:cs typeface="Calibri"/>
            </a:endParaRPr>
          </a:p>
          <a:p>
            <a:pPr marL="313055" lvl="1" indent="-300355">
              <a:lnSpc>
                <a:spcPct val="100000"/>
              </a:lnSpc>
              <a:spcBef>
                <a:spcPts val="994"/>
              </a:spcBef>
              <a:buAutoNum type="arabicPeriod"/>
              <a:tabLst>
                <a:tab pos="313055" algn="l"/>
              </a:tabLst>
            </a:pPr>
            <a:r>
              <a:rPr sz="1600" spc="-25" dirty="0">
                <a:latin typeface="Calibri"/>
                <a:cs typeface="Calibri"/>
              </a:rPr>
              <a:t>Tools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Technologies</a:t>
            </a:r>
            <a:endParaRPr sz="1600" dirty="0">
              <a:latin typeface="Calibri"/>
              <a:cs typeface="Calibri"/>
            </a:endParaRPr>
          </a:p>
          <a:p>
            <a:pPr marL="158750" lvl="2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spc="-10" dirty="0">
                <a:latin typeface="Calibri"/>
                <a:cs typeface="Calibri"/>
              </a:rPr>
              <a:t>Python</a:t>
            </a:r>
            <a:endParaRPr sz="1600" dirty="0">
              <a:latin typeface="Calibri"/>
              <a:cs typeface="Calibri"/>
            </a:endParaRPr>
          </a:p>
          <a:p>
            <a:pPr marL="158750" lvl="2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Jupyter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Notebook</a:t>
            </a:r>
            <a:endParaRPr sz="1600" dirty="0">
              <a:latin typeface="Calibri"/>
              <a:cs typeface="Calibri"/>
            </a:endParaRPr>
          </a:p>
          <a:p>
            <a:pPr marL="158750" lvl="2" indent="-146050">
              <a:lnSpc>
                <a:spcPct val="100000"/>
              </a:lnSpc>
              <a:spcBef>
                <a:spcPts val="994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Matplotlib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(accuracy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graph)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9"/>
              </a:spcBef>
            </a:pP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2614830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1700" y="767232"/>
            <a:ext cx="4902200" cy="63132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590165">
              <a:lnSpc>
                <a:spcPct val="151300"/>
              </a:lnSpc>
              <a:spcBef>
                <a:spcPts val="100"/>
              </a:spcBef>
            </a:pPr>
            <a:r>
              <a:rPr lang="en-IN" sz="1600" b="1" dirty="0">
                <a:latin typeface="Calibri"/>
                <a:cs typeface="Calibri"/>
              </a:rPr>
              <a:t>8.2</a:t>
            </a:r>
            <a:r>
              <a:rPr lang="en-IN" sz="1600" b="1" spc="-50" dirty="0">
                <a:latin typeface="Calibri"/>
                <a:cs typeface="Calibri"/>
              </a:rPr>
              <a:t> </a:t>
            </a:r>
            <a:r>
              <a:rPr lang="en-IN" sz="1600" b="1" dirty="0">
                <a:latin typeface="Calibri"/>
                <a:cs typeface="Calibri"/>
              </a:rPr>
              <a:t>Learning</a:t>
            </a:r>
            <a:r>
              <a:rPr lang="en-IN" sz="1600" b="1" spc="-40" dirty="0">
                <a:latin typeface="Calibri"/>
                <a:cs typeface="Calibri"/>
              </a:rPr>
              <a:t> </a:t>
            </a:r>
            <a:r>
              <a:rPr lang="en-IN" sz="1600" b="1" dirty="0">
                <a:latin typeface="Calibri"/>
                <a:cs typeface="Calibri"/>
              </a:rPr>
              <a:t>Agent</a:t>
            </a:r>
            <a:r>
              <a:rPr lang="en-IN" sz="1600" b="1" spc="-35" dirty="0">
                <a:latin typeface="Calibri"/>
                <a:cs typeface="Calibri"/>
              </a:rPr>
              <a:t> </a:t>
            </a:r>
            <a:r>
              <a:rPr lang="en-IN" sz="1600" b="1" spc="-20" dirty="0">
                <a:latin typeface="Calibri"/>
                <a:cs typeface="Calibri"/>
              </a:rPr>
              <a:t>Code</a:t>
            </a:r>
            <a:endParaRPr lang="en-IN" sz="1600" b="1" dirty="0">
              <a:latin typeface="Calibri"/>
              <a:cs typeface="Calibri"/>
            </a:endParaRPr>
          </a:p>
          <a:p>
            <a:pPr marL="12700" marR="2590165">
              <a:lnSpc>
                <a:spcPct val="151300"/>
              </a:lnSpc>
              <a:spcBef>
                <a:spcPts val="100"/>
              </a:spcBef>
            </a:pPr>
            <a:endParaRPr lang="en-IN" sz="1600" dirty="0">
              <a:latin typeface="Calibri"/>
              <a:cs typeface="Calibri"/>
            </a:endParaRPr>
          </a:p>
          <a:p>
            <a:pPr marL="12700" marR="2590165">
              <a:lnSpc>
                <a:spcPct val="1513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Cell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—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Imports </a:t>
            </a:r>
            <a:r>
              <a:rPr sz="1600" dirty="0">
                <a:latin typeface="Calibri"/>
                <a:cs typeface="Calibri"/>
              </a:rPr>
              <a:t>import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random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600" dirty="0">
                <a:latin typeface="Calibri"/>
                <a:cs typeface="Calibri"/>
              </a:rPr>
              <a:t>import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matplotlib.pyplot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plt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alibri"/>
                <a:cs typeface="Calibri"/>
              </a:rPr>
              <a:t>from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IPython.display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import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clear_output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45"/>
              </a:spcBef>
            </a:pP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Calibri"/>
                <a:cs typeface="Calibri"/>
              </a:rPr>
              <a:t>Cell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—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Learning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class</a:t>
            </a:r>
            <a:endParaRPr sz="1600" dirty="0">
              <a:latin typeface="Calibri"/>
              <a:cs typeface="Calibri"/>
            </a:endParaRPr>
          </a:p>
          <a:p>
            <a:pPr marL="12700" marR="742950">
              <a:lnSpc>
                <a:spcPct val="151200"/>
              </a:lnSpc>
            </a:pPr>
            <a:r>
              <a:rPr sz="1600" dirty="0">
                <a:latin typeface="Calibri"/>
                <a:cs typeface="Calibri"/>
              </a:rPr>
              <a:t>Naive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Bayes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style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incremental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learning. </a:t>
            </a:r>
            <a:r>
              <a:rPr sz="1600" dirty="0">
                <a:latin typeface="Calibri"/>
                <a:cs typeface="Calibri"/>
              </a:rPr>
              <a:t>class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LearningDiagnosisAgent:</a:t>
            </a:r>
            <a:endParaRPr sz="1600" dirty="0">
              <a:latin typeface="Calibri"/>
              <a:cs typeface="Calibri"/>
            </a:endParaRPr>
          </a:p>
          <a:p>
            <a:pPr marL="378460" marR="603885" indent="-182880">
              <a:lnSpc>
                <a:spcPts val="2920"/>
              </a:lnSpc>
              <a:spcBef>
                <a:spcPts val="250"/>
              </a:spcBef>
              <a:tabLst>
                <a:tab pos="710565" algn="l"/>
                <a:tab pos="1182370" algn="l"/>
              </a:tabLst>
            </a:pPr>
            <a:r>
              <a:rPr sz="1600" dirty="0">
                <a:latin typeface="Calibri"/>
                <a:cs typeface="Calibri"/>
              </a:rPr>
              <a:t>def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600" spc="-20" dirty="0">
                <a:latin typeface="Calibri"/>
                <a:cs typeface="Calibri"/>
              </a:rPr>
              <a:t>init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600" spc="-10" dirty="0">
                <a:latin typeface="Calibri"/>
                <a:cs typeface="Calibri"/>
              </a:rPr>
              <a:t>(self,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diseases,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symptoms): self.diseases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diseases</a:t>
            </a:r>
            <a:endParaRPr sz="1600" dirty="0">
              <a:latin typeface="Calibri"/>
              <a:cs typeface="Calibri"/>
            </a:endParaRPr>
          </a:p>
          <a:p>
            <a:pPr marL="378460">
              <a:lnSpc>
                <a:spcPct val="100000"/>
              </a:lnSpc>
              <a:spcBef>
                <a:spcPts val="715"/>
              </a:spcBef>
            </a:pPr>
            <a:r>
              <a:rPr sz="1600" spc="-20" dirty="0">
                <a:latin typeface="Calibri"/>
                <a:cs typeface="Calibri"/>
              </a:rPr>
              <a:t>self.symptoms</a:t>
            </a:r>
            <a:r>
              <a:rPr sz="1600" dirty="0">
                <a:latin typeface="Calibri"/>
                <a:cs typeface="Calibri"/>
              </a:rPr>
              <a:t> =</a:t>
            </a:r>
            <a:r>
              <a:rPr sz="1600" spc="-10" dirty="0">
                <a:latin typeface="Calibri"/>
                <a:cs typeface="Calibri"/>
              </a:rPr>
              <a:t> symptoms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45"/>
              </a:spcBef>
            </a:pPr>
            <a:endParaRPr sz="1600" dirty="0">
              <a:latin typeface="Calibri"/>
              <a:cs typeface="Calibri"/>
            </a:endParaRPr>
          </a:p>
          <a:p>
            <a:pPr marL="37973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#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Count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tables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learning</a:t>
            </a:r>
            <a:endParaRPr sz="1600" dirty="0">
              <a:latin typeface="Calibri"/>
              <a:cs typeface="Calibri"/>
            </a:endParaRPr>
          </a:p>
          <a:p>
            <a:pPr marL="378460" marR="5080">
              <a:lnSpc>
                <a:spcPct val="151200"/>
              </a:lnSpc>
              <a:spcBef>
                <a:spcPts val="5"/>
              </a:spcBef>
            </a:pPr>
            <a:r>
              <a:rPr sz="1600" spc="-20" dirty="0">
                <a:latin typeface="Calibri"/>
                <a:cs typeface="Calibri"/>
              </a:rPr>
              <a:t>self.disease_counts</a:t>
            </a:r>
            <a:r>
              <a:rPr sz="1600" dirty="0">
                <a:latin typeface="Calibri"/>
                <a:cs typeface="Calibri"/>
              </a:rPr>
              <a:t> = {d: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 </a:t>
            </a:r>
            <a:r>
              <a:rPr sz="1600" spc="-10" dirty="0">
                <a:latin typeface="Calibri"/>
                <a:cs typeface="Calibri"/>
              </a:rPr>
              <a:t>diseases} self.symptom_given_disease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{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884" y="767232"/>
            <a:ext cx="4280535" cy="556514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379730">
              <a:lnSpc>
                <a:spcPct val="100000"/>
              </a:lnSpc>
              <a:spcBef>
                <a:spcPts val="1085"/>
              </a:spcBef>
            </a:pPr>
            <a:r>
              <a:rPr sz="1600" dirty="0">
                <a:latin typeface="Calibri"/>
                <a:cs typeface="Calibri"/>
              </a:rPr>
              <a:t>d: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{s: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symptoms}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diseases</a:t>
            </a:r>
            <a:endParaRPr sz="160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  <a:spcBef>
                <a:spcPts val="980"/>
              </a:spcBef>
            </a:pPr>
            <a:r>
              <a:rPr sz="1600" spc="-50" dirty="0">
                <a:latin typeface="Calibri"/>
                <a:cs typeface="Calibri"/>
              </a:rPr>
              <a:t>}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1600">
              <a:latin typeface="Calibri"/>
              <a:cs typeface="Calibri"/>
            </a:endParaRPr>
          </a:p>
          <a:p>
            <a:pPr marL="194945" marR="1269365" indent="-182880">
              <a:lnSpc>
                <a:spcPct val="151400"/>
              </a:lnSpc>
            </a:pPr>
            <a:r>
              <a:rPr sz="1600" dirty="0">
                <a:latin typeface="Calibri"/>
                <a:cs typeface="Calibri"/>
              </a:rPr>
              <a:t>def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predict(self,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patient_symptoms): </a:t>
            </a:r>
            <a:r>
              <a:rPr sz="1600" dirty="0">
                <a:latin typeface="Calibri"/>
                <a:cs typeface="Calibri"/>
              </a:rPr>
              <a:t>scores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{}</a:t>
            </a:r>
            <a:endParaRPr sz="160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  <a:spcBef>
                <a:spcPts val="1000"/>
              </a:spcBef>
            </a:pPr>
            <a:r>
              <a:rPr sz="1600" dirty="0">
                <a:latin typeface="Calibri"/>
                <a:cs typeface="Calibri"/>
              </a:rPr>
              <a:t>for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self.diseases:</a:t>
            </a:r>
            <a:endParaRPr sz="1600">
              <a:latin typeface="Calibri"/>
              <a:cs typeface="Calibri"/>
            </a:endParaRPr>
          </a:p>
          <a:p>
            <a:pPr marL="379730" marR="1437005">
              <a:lnSpc>
                <a:spcPct val="151200"/>
              </a:lnSpc>
            </a:pPr>
            <a:r>
              <a:rPr sz="1600" dirty="0">
                <a:latin typeface="Calibri"/>
                <a:cs typeface="Calibri"/>
              </a:rPr>
              <a:t>score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self.disease_counts[d]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self.symptoms:</a:t>
            </a:r>
            <a:endParaRPr sz="1600">
              <a:latin typeface="Calibri"/>
              <a:cs typeface="Calibri"/>
            </a:endParaRPr>
          </a:p>
          <a:p>
            <a:pPr marL="56261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alibri"/>
                <a:cs typeface="Calibri"/>
              </a:rPr>
              <a:t>if </a:t>
            </a:r>
            <a:r>
              <a:rPr sz="1600" spc="-10" dirty="0">
                <a:latin typeface="Calibri"/>
                <a:cs typeface="Calibri"/>
              </a:rPr>
              <a:t>patient_symptoms[s]</a:t>
            </a:r>
            <a:r>
              <a:rPr sz="1600" dirty="0">
                <a:latin typeface="Calibri"/>
                <a:cs typeface="Calibri"/>
              </a:rPr>
              <a:t> == </a:t>
            </a:r>
            <a:r>
              <a:rPr sz="1600" spc="-25" dirty="0">
                <a:latin typeface="Calibri"/>
                <a:cs typeface="Calibri"/>
              </a:rPr>
              <a:t>1:</a:t>
            </a:r>
            <a:endParaRPr sz="1600">
              <a:latin typeface="Calibri"/>
              <a:cs typeface="Calibri"/>
            </a:endParaRPr>
          </a:p>
          <a:p>
            <a:pPr marL="379730" marR="5080" indent="367030">
              <a:lnSpc>
                <a:spcPct val="151200"/>
              </a:lnSpc>
              <a:spcBef>
                <a:spcPts val="15"/>
              </a:spcBef>
            </a:pPr>
            <a:r>
              <a:rPr sz="1600" dirty="0">
                <a:latin typeface="Calibri"/>
                <a:cs typeface="Calibri"/>
              </a:rPr>
              <a:t>score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*=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self.symptom_given_disease[d][s] scores[d]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score</a:t>
            </a:r>
            <a:endParaRPr sz="160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  <a:spcBef>
                <a:spcPts val="980"/>
              </a:spcBef>
            </a:pPr>
            <a:r>
              <a:rPr sz="1600" dirty="0">
                <a:latin typeface="Calibri"/>
                <a:cs typeface="Calibri"/>
              </a:rPr>
              <a:t>return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max(scores,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key=scores.get)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1600">
              <a:latin typeface="Calibri"/>
              <a:cs typeface="Calibri"/>
            </a:endParaRPr>
          </a:p>
          <a:p>
            <a:pPr marL="194945" marR="121920" indent="-182880">
              <a:lnSpc>
                <a:spcPct val="151200"/>
              </a:lnSpc>
            </a:pPr>
            <a:r>
              <a:rPr sz="1600" dirty="0">
                <a:latin typeface="Calibri"/>
                <a:cs typeface="Calibri"/>
              </a:rPr>
              <a:t>def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learn(self,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patient_symptoms,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actual_disease): self.disease_counts[actual_disease]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+=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2245641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1700" y="767232"/>
            <a:ext cx="5476875" cy="556514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378460">
              <a:lnSpc>
                <a:spcPct val="100000"/>
              </a:lnSpc>
              <a:spcBef>
                <a:spcPts val="1085"/>
              </a:spcBef>
            </a:pPr>
            <a:r>
              <a:rPr sz="1600" dirty="0">
                <a:latin typeface="Calibri"/>
                <a:cs typeface="Calibri"/>
              </a:rPr>
              <a:t>for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self.symptoms:</a:t>
            </a:r>
            <a:endParaRPr sz="1600" dirty="0">
              <a:latin typeface="Calibri"/>
              <a:cs typeface="Calibri"/>
            </a:endParaRPr>
          </a:p>
          <a:p>
            <a:pPr marL="562610">
              <a:lnSpc>
                <a:spcPct val="100000"/>
              </a:lnSpc>
              <a:spcBef>
                <a:spcPts val="980"/>
              </a:spcBef>
            </a:pPr>
            <a:r>
              <a:rPr sz="1600" dirty="0">
                <a:latin typeface="Calibri"/>
                <a:cs typeface="Calibri"/>
              </a:rPr>
              <a:t>if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patient_symptoms[s] </a:t>
            </a:r>
            <a:r>
              <a:rPr sz="1600" dirty="0">
                <a:latin typeface="Calibri"/>
                <a:cs typeface="Calibri"/>
              </a:rPr>
              <a:t>==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1:</a:t>
            </a:r>
            <a:endParaRPr sz="1600" dirty="0">
              <a:latin typeface="Calibri"/>
              <a:cs typeface="Calibri"/>
            </a:endParaRPr>
          </a:p>
          <a:p>
            <a:pPr marL="308610" algn="ctr">
              <a:lnSpc>
                <a:spcPct val="100000"/>
              </a:lnSpc>
              <a:spcBef>
                <a:spcPts val="1000"/>
              </a:spcBef>
            </a:pPr>
            <a:r>
              <a:rPr sz="1600" spc="-10" dirty="0">
                <a:latin typeface="Calibri"/>
                <a:cs typeface="Calibri"/>
              </a:rPr>
              <a:t>self.symptom_given_disease[actual_disease][s]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+=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1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5"/>
              </a:spcBef>
            </a:pPr>
            <a:endParaRPr sz="16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Calibri"/>
                <a:cs typeface="Calibri"/>
              </a:rPr>
              <a:t>Cell</a:t>
            </a:r>
            <a:r>
              <a:rPr sz="1600" b="1" spc="-1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3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—</a:t>
            </a:r>
            <a:r>
              <a:rPr sz="1600" b="1" spc="-1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Simulation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environment</a:t>
            </a:r>
            <a:endParaRPr sz="1600" b="1" dirty="0">
              <a:latin typeface="Calibri"/>
              <a:cs typeface="Calibri"/>
            </a:endParaRPr>
          </a:p>
          <a:p>
            <a:pPr marL="12700" marR="1221740">
              <a:lnSpc>
                <a:spcPct val="151300"/>
              </a:lnSpc>
              <a:spcBef>
                <a:spcPts val="10"/>
              </a:spcBef>
            </a:pPr>
            <a:r>
              <a:rPr sz="1600" dirty="0">
                <a:latin typeface="Calibri"/>
                <a:cs typeface="Calibri"/>
              </a:rPr>
              <a:t>#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Simulation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environment: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generating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patient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cases </a:t>
            </a:r>
            <a:r>
              <a:rPr sz="1600" dirty="0">
                <a:latin typeface="Calibri"/>
                <a:cs typeface="Calibri"/>
              </a:rPr>
              <a:t>def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generate_patient_case():</a:t>
            </a:r>
            <a:endParaRPr sz="1600" dirty="0">
              <a:latin typeface="Calibri"/>
              <a:cs typeface="Calibri"/>
            </a:endParaRPr>
          </a:p>
          <a:p>
            <a:pPr marL="195580" marR="1973580">
              <a:lnSpc>
                <a:spcPts val="2910"/>
              </a:lnSpc>
              <a:spcBef>
                <a:spcPts val="259"/>
              </a:spcBef>
            </a:pPr>
            <a:r>
              <a:rPr sz="1600" dirty="0">
                <a:latin typeface="Calibri"/>
                <a:cs typeface="Calibri"/>
              </a:rPr>
              <a:t>diseases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["Flu",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"COVID",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"Dengue"] </a:t>
            </a:r>
            <a:r>
              <a:rPr sz="1600" dirty="0">
                <a:latin typeface="Calibri"/>
                <a:cs typeface="Calibri"/>
              </a:rPr>
              <a:t>true_disease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random.choice(diseases)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1600" dirty="0">
              <a:latin typeface="Calibri"/>
              <a:cs typeface="Calibri"/>
            </a:endParaRPr>
          </a:p>
          <a:p>
            <a:pPr marL="195580" marR="2722245">
              <a:lnSpc>
                <a:spcPct val="151200"/>
              </a:lnSpc>
            </a:pPr>
            <a:r>
              <a:rPr sz="1600" dirty="0">
                <a:latin typeface="Calibri"/>
                <a:cs typeface="Calibri"/>
              </a:rPr>
              <a:t>#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symptoms: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35" dirty="0">
                <a:latin typeface="Calibri"/>
                <a:cs typeface="Calibri"/>
              </a:rPr>
              <a:t>fever,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cough,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pain </a:t>
            </a:r>
            <a:r>
              <a:rPr sz="1600" spc="-10" dirty="0">
                <a:latin typeface="Calibri"/>
                <a:cs typeface="Calibri"/>
              </a:rPr>
              <a:t>symptoms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{</a:t>
            </a:r>
            <a:endParaRPr sz="1600" dirty="0">
              <a:latin typeface="Calibri"/>
              <a:cs typeface="Calibri"/>
            </a:endParaRPr>
          </a:p>
          <a:p>
            <a:pPr marL="379730" marR="5080">
              <a:lnSpc>
                <a:spcPct val="151400"/>
              </a:lnSpc>
              <a:spcBef>
                <a:spcPts val="10"/>
              </a:spcBef>
            </a:pPr>
            <a:r>
              <a:rPr sz="1600" spc="-10" dirty="0">
                <a:latin typeface="Calibri"/>
                <a:cs typeface="Calibri"/>
              </a:rPr>
              <a:t>"fever":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if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true_disease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["Flu",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"COVID",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"Dengue"]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else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0, </a:t>
            </a:r>
            <a:r>
              <a:rPr sz="1600" dirty="0">
                <a:latin typeface="Calibri"/>
                <a:cs typeface="Calibri"/>
              </a:rPr>
              <a:t>"cough":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if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true_disease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["Flu",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"COVID"]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else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0,</a:t>
            </a:r>
            <a:endParaRPr sz="1600" dirty="0">
              <a:latin typeface="Calibri"/>
              <a:cs typeface="Calibri"/>
            </a:endParaRPr>
          </a:p>
          <a:p>
            <a:pPr marL="37973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alibri"/>
                <a:cs typeface="Calibri"/>
              </a:rPr>
              <a:t>"pain":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true_disease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["Dengue"]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else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0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1876833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1700" y="767232"/>
            <a:ext cx="4521200" cy="5617051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95580">
              <a:lnSpc>
                <a:spcPct val="100000"/>
              </a:lnSpc>
              <a:spcBef>
                <a:spcPts val="1085"/>
              </a:spcBef>
            </a:pPr>
            <a:r>
              <a:rPr sz="1600" spc="-50" dirty="0">
                <a:latin typeface="Calibri"/>
                <a:cs typeface="Calibri"/>
              </a:rPr>
              <a:t>}</a:t>
            </a:r>
            <a:endParaRPr sz="1600" dirty="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  <a:spcBef>
                <a:spcPts val="980"/>
              </a:spcBef>
            </a:pPr>
            <a:r>
              <a:rPr sz="1600" spc="-10" dirty="0">
                <a:latin typeface="Calibri"/>
                <a:cs typeface="Calibri"/>
              </a:rPr>
              <a:t>return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symptoms,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true_disease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1600" dirty="0">
              <a:latin typeface="Calibri"/>
              <a:cs typeface="Calibri"/>
            </a:endParaRPr>
          </a:p>
          <a:p>
            <a:pPr marL="12700" marR="828040">
              <a:lnSpc>
                <a:spcPct val="151400"/>
              </a:lnSpc>
            </a:pPr>
            <a:r>
              <a:rPr sz="1600" b="1" dirty="0">
                <a:latin typeface="Calibri"/>
                <a:cs typeface="Calibri"/>
              </a:rPr>
              <a:t>Cell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4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—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Running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the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learning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simulation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LearningDiagnosisAgent(</a:t>
            </a:r>
            <a:endParaRPr sz="1600" dirty="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  <a:spcBef>
                <a:spcPts val="1000"/>
              </a:spcBef>
            </a:pPr>
            <a:r>
              <a:rPr sz="1600" spc="-10" dirty="0">
                <a:latin typeface="Calibri"/>
                <a:cs typeface="Calibri"/>
              </a:rPr>
              <a:t>diseases=["Flu", </a:t>
            </a:r>
            <a:r>
              <a:rPr sz="1600" dirty="0">
                <a:latin typeface="Calibri"/>
                <a:cs typeface="Calibri"/>
              </a:rPr>
              <a:t>"COVID",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"Dengue"],</a:t>
            </a:r>
            <a:endParaRPr sz="1600" dirty="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  <a:spcBef>
                <a:spcPts val="980"/>
              </a:spcBef>
            </a:pPr>
            <a:r>
              <a:rPr sz="1600" spc="-10" dirty="0">
                <a:latin typeface="Calibri"/>
                <a:cs typeface="Calibri"/>
              </a:rPr>
              <a:t>symptoms=["fever",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"cough",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"pain"]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00" spc="-50" dirty="0">
                <a:latin typeface="Calibri"/>
                <a:cs typeface="Calibri"/>
              </a:rPr>
              <a:t>)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600" dirty="0">
              <a:latin typeface="Calibri"/>
              <a:cs typeface="Calibri"/>
            </a:endParaRPr>
          </a:p>
          <a:p>
            <a:pPr marL="12700" marR="2808605">
              <a:lnSpc>
                <a:spcPct val="151200"/>
              </a:lnSpc>
            </a:pPr>
            <a:r>
              <a:rPr sz="1600" spc="-10" dirty="0">
                <a:latin typeface="Calibri"/>
                <a:cs typeface="Calibri"/>
              </a:rPr>
              <a:t>accuracy_list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[] </a:t>
            </a:r>
            <a:r>
              <a:rPr sz="1600" dirty="0">
                <a:latin typeface="Calibri"/>
                <a:cs typeface="Calibri"/>
              </a:rPr>
              <a:t>total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0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00" spc="-10" dirty="0">
                <a:latin typeface="Calibri"/>
                <a:cs typeface="Calibri"/>
              </a:rPr>
              <a:t>correct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0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50"/>
              </a:spcBef>
            </a:pP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for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step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range(1,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101):</a:t>
            </a:r>
            <a:endParaRPr sz="1600" dirty="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  <a:spcBef>
                <a:spcPts val="985"/>
              </a:spcBef>
            </a:pPr>
            <a:r>
              <a:rPr sz="1600" spc="-10" dirty="0">
                <a:latin typeface="Calibri"/>
                <a:cs typeface="Calibri"/>
              </a:rPr>
              <a:t>symptoms,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true_label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generate_patient_case()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92810"/>
            <a:ext cx="4988560" cy="5439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558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prediction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agent.predict(symptoms)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1600">
              <a:latin typeface="Calibri"/>
              <a:cs typeface="Calibri"/>
            </a:endParaRPr>
          </a:p>
          <a:p>
            <a:pPr marL="378460" marR="2593975" indent="-182880">
              <a:lnSpc>
                <a:spcPct val="151200"/>
              </a:lnSpc>
              <a:spcBef>
                <a:spcPts val="5"/>
              </a:spcBef>
            </a:pPr>
            <a:r>
              <a:rPr sz="1600" dirty="0">
                <a:latin typeface="Calibri"/>
                <a:cs typeface="Calibri"/>
              </a:rPr>
              <a:t>if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prediction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==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true_label: </a:t>
            </a:r>
            <a:r>
              <a:rPr sz="1600" dirty="0">
                <a:latin typeface="Calibri"/>
                <a:cs typeface="Calibri"/>
              </a:rPr>
              <a:t>correct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+=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45"/>
              </a:spcBef>
            </a:pPr>
            <a:endParaRPr sz="160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Calibri"/>
                <a:cs typeface="Calibri"/>
              </a:rPr>
              <a:t>total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+=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60" dirty="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  <a:p>
            <a:pPr marL="12700" marR="1879600" indent="182880">
              <a:lnSpc>
                <a:spcPct val="151200"/>
              </a:lnSpc>
            </a:pPr>
            <a:r>
              <a:rPr sz="1600" spc="-10" dirty="0">
                <a:latin typeface="Calibri"/>
                <a:cs typeface="Calibri"/>
              </a:rPr>
              <a:t>accuracy_list.append(correct/total) agent.learn(symptoms,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true_label)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45"/>
              </a:spcBef>
            </a:pPr>
            <a:endParaRPr sz="160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Calibri"/>
                <a:cs typeface="Calibri"/>
              </a:rPr>
              <a:t>if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step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%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20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==</a:t>
            </a:r>
            <a:r>
              <a:rPr sz="1600" spc="-25" dirty="0">
                <a:latin typeface="Calibri"/>
                <a:cs typeface="Calibri"/>
              </a:rPr>
              <a:t> 0:</a:t>
            </a:r>
            <a:endParaRPr sz="1600">
              <a:latin typeface="Calibri"/>
              <a:cs typeface="Calibri"/>
            </a:endParaRPr>
          </a:p>
          <a:p>
            <a:pPr marL="378460" marR="2589530" indent="1270">
              <a:lnSpc>
                <a:spcPct val="151200"/>
              </a:lnSpc>
            </a:pPr>
            <a:r>
              <a:rPr sz="1600" spc="-10" dirty="0">
                <a:latin typeface="Calibri"/>
                <a:cs typeface="Calibri"/>
              </a:rPr>
              <a:t>clear_output(wait=True) plt.plot(accuracy_list)</a:t>
            </a:r>
            <a:endParaRPr sz="1600">
              <a:latin typeface="Calibri"/>
              <a:cs typeface="Calibri"/>
            </a:endParaRPr>
          </a:p>
          <a:p>
            <a:pPr marL="378460" marR="2642870">
              <a:lnSpc>
                <a:spcPct val="151400"/>
              </a:lnSpc>
              <a:spcBef>
                <a:spcPts val="10"/>
              </a:spcBef>
            </a:pPr>
            <a:r>
              <a:rPr sz="1600" dirty="0">
                <a:latin typeface="Calibri"/>
                <a:cs typeface="Calibri"/>
              </a:rPr>
              <a:t>plt.xlabel("Cases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Seen") plt.ylabel("Accuracy")</a:t>
            </a:r>
            <a:endParaRPr sz="1600">
              <a:latin typeface="Calibri"/>
              <a:cs typeface="Calibri"/>
            </a:endParaRPr>
          </a:p>
          <a:p>
            <a:pPr marL="378460">
              <a:lnSpc>
                <a:spcPct val="100000"/>
              </a:lnSpc>
              <a:spcBef>
                <a:spcPts val="980"/>
              </a:spcBef>
            </a:pPr>
            <a:r>
              <a:rPr sz="1600" spc="-10" dirty="0">
                <a:latin typeface="Calibri"/>
                <a:cs typeface="Calibri"/>
              </a:rPr>
              <a:t>plt.title("Learning Progress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Disease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Diagnosis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Agent")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1506501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14400" y="5265320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01700" y="892810"/>
            <a:ext cx="8786495" cy="5671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846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plt.show()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45"/>
              </a:spcBef>
            </a:pPr>
            <a:endParaRPr sz="1600" dirty="0">
              <a:latin typeface="Calibri"/>
              <a:cs typeface="Calibri"/>
            </a:endParaRPr>
          </a:p>
          <a:p>
            <a:pPr marL="211454" indent="-198755">
              <a:lnSpc>
                <a:spcPct val="100000"/>
              </a:lnSpc>
              <a:buAutoNum type="arabicPeriod" startAt="9"/>
              <a:tabLst>
                <a:tab pos="211454" algn="l"/>
              </a:tabLst>
            </a:pPr>
            <a:r>
              <a:rPr sz="1600" b="1" dirty="0">
                <a:latin typeface="Calibri"/>
                <a:cs typeface="Calibri"/>
              </a:rPr>
              <a:t>Results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and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Discussion</a:t>
            </a:r>
            <a:endParaRPr sz="1600" b="1" dirty="0">
              <a:latin typeface="Calibri"/>
              <a:cs typeface="Calibri"/>
            </a:endParaRPr>
          </a:p>
          <a:p>
            <a:pPr marL="12700" marR="5080">
              <a:lnSpc>
                <a:spcPct val="109800"/>
              </a:lnSpc>
              <a:spcBef>
                <a:spcPts val="795"/>
              </a:spcBef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Learning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improves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accuracy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more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patient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processed.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beginning,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predictions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are </a:t>
            </a:r>
            <a:r>
              <a:rPr sz="1600" dirty="0">
                <a:latin typeface="Calibri"/>
                <a:cs typeface="Calibri"/>
              </a:rPr>
              <a:t>nearly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random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because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very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little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experience.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accumulates,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Naive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Bayes–style </a:t>
            </a:r>
            <a:r>
              <a:rPr sz="1600" dirty="0">
                <a:latin typeface="Calibri"/>
                <a:cs typeface="Calibri"/>
              </a:rPr>
              <a:t>learning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mechanism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strengthens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correlations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between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symptoms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diseases.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600" spc="-10" dirty="0">
                <a:latin typeface="Calibri"/>
                <a:cs typeface="Calibri"/>
              </a:rPr>
              <a:t>Observed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results: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80"/>
              </a:spcBef>
              <a:buChar char="•"/>
              <a:tabLst>
                <a:tab pos="158750" algn="l"/>
              </a:tabLst>
            </a:pPr>
            <a:r>
              <a:rPr sz="1600" spc="-10" dirty="0">
                <a:latin typeface="Calibri"/>
                <a:cs typeface="Calibri"/>
              </a:rPr>
              <a:t>Accuracy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starts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around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30–40%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Rises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70–85%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after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100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cases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accuracy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graph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shows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steady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upward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trend</a:t>
            </a:r>
            <a:endParaRPr sz="1600" dirty="0">
              <a:latin typeface="Calibri"/>
              <a:cs typeface="Calibri"/>
            </a:endParaRPr>
          </a:p>
          <a:p>
            <a:pPr marL="12700" marR="127635">
              <a:lnSpc>
                <a:spcPct val="109400"/>
              </a:lnSpc>
              <a:spcBef>
                <a:spcPts val="820"/>
              </a:spcBef>
            </a:pPr>
            <a:r>
              <a:rPr sz="1600" dirty="0">
                <a:latin typeface="Calibri"/>
                <a:cs typeface="Calibri"/>
              </a:rPr>
              <a:t>This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demonstrates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successfully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learns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experience,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expected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Learning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Agent model.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45"/>
              </a:spcBef>
            </a:pP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latin typeface="Calibri"/>
                <a:cs typeface="Calibri"/>
              </a:rPr>
              <a:t>10.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Conclusion</a:t>
            </a:r>
            <a:endParaRPr sz="1600" b="1" dirty="0">
              <a:latin typeface="Calibri"/>
              <a:cs typeface="Calibri"/>
            </a:endParaRPr>
          </a:p>
          <a:p>
            <a:pPr marL="12700" marR="92710">
              <a:lnSpc>
                <a:spcPct val="110000"/>
              </a:lnSpc>
              <a:spcBef>
                <a:spcPts val="790"/>
              </a:spcBef>
            </a:pPr>
            <a:r>
              <a:rPr sz="1600" dirty="0">
                <a:latin typeface="Calibri"/>
                <a:cs typeface="Calibri"/>
              </a:rPr>
              <a:t>In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project,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implemented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Learning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capable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diagnosing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diseases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symptoms.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 </a:t>
            </a:r>
            <a:r>
              <a:rPr sz="1600" dirty="0">
                <a:latin typeface="Calibri"/>
                <a:cs typeface="Calibri"/>
              </a:rPr>
              <a:t>agent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incremental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learning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approach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update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probability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tables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after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each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diagnosis.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Over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time,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agent’s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accuracy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improves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significantly,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demonstrating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effectiveness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learning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AI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systems.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This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1774725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>
                <a:moveTo>
                  <a:pt x="0" y="0"/>
                </a:moveTo>
                <a:lnTo>
                  <a:pt x="4043502" y="0"/>
                </a:lnTo>
              </a:path>
            </a:pathLst>
          </a:custGeom>
          <a:ln w="13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1700" y="867816"/>
            <a:ext cx="8461375" cy="2407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project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clearly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shows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how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data-</a:t>
            </a:r>
            <a:r>
              <a:rPr sz="1600" dirty="0">
                <a:latin typeface="Calibri"/>
                <a:cs typeface="Calibri"/>
              </a:rPr>
              <a:t>driven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methods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improve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healthcare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decision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support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learning </a:t>
            </a:r>
            <a:r>
              <a:rPr sz="1600" dirty="0">
                <a:latin typeface="Calibri"/>
                <a:cs typeface="Calibri"/>
              </a:rPr>
              <a:t>agents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essential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real-</a:t>
            </a:r>
            <a:r>
              <a:rPr sz="1600" dirty="0">
                <a:latin typeface="Calibri"/>
                <a:cs typeface="Calibri"/>
              </a:rPr>
              <a:t>world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AI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applications.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5"/>
              </a:spcBef>
            </a:pPr>
            <a:endParaRPr sz="1600" dirty="0">
              <a:latin typeface="Calibri"/>
              <a:cs typeface="Calibri"/>
            </a:endParaRPr>
          </a:p>
          <a:p>
            <a:pPr marL="313690" indent="-300990">
              <a:lnSpc>
                <a:spcPct val="100000"/>
              </a:lnSpc>
              <a:buAutoNum type="arabicPeriod" startAt="11"/>
              <a:tabLst>
                <a:tab pos="313690" algn="l"/>
              </a:tabLst>
            </a:pPr>
            <a:r>
              <a:rPr sz="1600" b="1" dirty="0">
                <a:latin typeface="Calibri"/>
                <a:cs typeface="Calibri"/>
              </a:rPr>
              <a:t>Future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Scope</a:t>
            </a:r>
            <a:endParaRPr sz="1600" b="1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1000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Add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more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diseases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symptoms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80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Use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real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medical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datasets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(e.g.,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UCI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repository)</a:t>
            </a:r>
            <a:endParaRPr sz="1600" dirty="0">
              <a:latin typeface="Calibri"/>
              <a:cs typeface="Calibri"/>
            </a:endParaRPr>
          </a:p>
          <a:p>
            <a:pPr marL="158750" lvl="1" indent="-146050">
              <a:lnSpc>
                <a:spcPct val="100000"/>
              </a:lnSpc>
              <a:spcBef>
                <a:spcPts val="98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Apply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advanced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ML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models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(Decision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Trees,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SVM,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Neural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Networks)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3251479"/>
            <a:ext cx="6756400" cy="1030605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58750" indent="-146050">
              <a:lnSpc>
                <a:spcPct val="100000"/>
              </a:lnSpc>
              <a:spcBef>
                <a:spcPts val="1085"/>
              </a:spcBef>
              <a:buChar char="•"/>
              <a:tabLst>
                <a:tab pos="158750" algn="l"/>
              </a:tabLst>
            </a:pPr>
            <a:r>
              <a:rPr sz="1600" dirty="0">
                <a:latin typeface="Calibri"/>
                <a:cs typeface="Calibri"/>
              </a:rPr>
              <a:t>Learn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conditional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symptom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dependencies</a:t>
            </a:r>
            <a:endParaRPr sz="1600">
              <a:latin typeface="Calibri"/>
              <a:cs typeface="Calibri"/>
            </a:endParaRPr>
          </a:p>
          <a:p>
            <a:pPr marL="12700" marR="5080" indent="146050">
              <a:lnSpc>
                <a:spcPct val="109400"/>
              </a:lnSpc>
              <a:spcBef>
                <a:spcPts val="805"/>
              </a:spcBef>
              <a:buChar char="•"/>
              <a:tabLst>
                <a:tab pos="158750" algn="l"/>
                <a:tab pos="1567815" algn="l"/>
              </a:tabLst>
            </a:pPr>
            <a:r>
              <a:rPr sz="1600" dirty="0">
                <a:latin typeface="Calibri"/>
                <a:cs typeface="Calibri"/>
              </a:rPr>
              <a:t>Deploy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web-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diagnostic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assistant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,dont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miss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information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this </a:t>
            </a:r>
            <a:r>
              <a:rPr sz="1600" dirty="0">
                <a:latin typeface="Calibri"/>
                <a:cs typeface="Calibri"/>
              </a:rPr>
              <a:t>submit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work</a:t>
            </a:r>
            <a:r>
              <a:rPr sz="1600" dirty="0">
                <a:latin typeface="Calibri"/>
                <a:cs typeface="Calibri"/>
              </a:rPr>
              <a:t>	start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make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landsape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formate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give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me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70023" y="3746373"/>
            <a:ext cx="180911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i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want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make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report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26</TotalTime>
  <Words>8140</Words>
  <Application>Microsoft Office PowerPoint</Application>
  <PresentationFormat>Custom</PresentationFormat>
  <Paragraphs>874</Paragraphs>
  <Slides>74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80" baseType="lpstr">
      <vt:lpstr>Arial</vt:lpstr>
      <vt:lpstr>Calibri</vt:lpstr>
      <vt:lpstr>Calibri Light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Abhi T A</dc:creator>
  <cp:lastModifiedBy>Abhi T A</cp:lastModifiedBy>
  <cp:revision>2</cp:revision>
  <dcterms:created xsi:type="dcterms:W3CDTF">2025-11-30T23:09:39Z</dcterms:created>
  <dcterms:modified xsi:type="dcterms:W3CDTF">2025-12-01T07:23:09Z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2025-12-01T00:00:00Z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2025-11-30T00:00:00Z</vt:filetime>
  </property>
  <property fmtid="{D5CDD505-2E9C-101B-9397-08002B2CF9AE}" pid="5" name="Producer">
    <vt:lpwstr>Microsoft® Word 2021</vt:lpwstr>
  </property>
</Properties>
</file>